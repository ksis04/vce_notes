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9" r:id="rId7"/>
    <p:sldId id="260" r:id="rId8"/>
    <p:sldId id="261" r:id="rId9"/>
    <p:sldId id="262" r:id="rId10"/>
    <p:sldId id="263" r:id="rId11"/>
    <p:sldId id="265" r:id="rId12"/>
    <p:sldId id="266" r:id="rId13"/>
    <p:sldId id="267" r:id="rId14"/>
    <p:sldId id="268" r:id="rId15"/>
    <p:sldId id="269" r:id="rId16"/>
    <p:sldId id="270" r:id="rId17"/>
    <p:sldId id="272" r:id="rId18"/>
    <p:sldId id="271"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0" r:id="rId35"/>
    <p:sldId id="288" r:id="rId36"/>
    <p:sldId id="289" r:id="rId37"/>
    <p:sldId id="291" r:id="rId38"/>
    <p:sldId id="292" r:id="rId39"/>
    <p:sldId id="344" r:id="rId40"/>
    <p:sldId id="293" r:id="rId41"/>
    <p:sldId id="294" r:id="rId42"/>
    <p:sldId id="295" r:id="rId43"/>
    <p:sldId id="296" r:id="rId44"/>
    <p:sldId id="297" r:id="rId45"/>
    <p:sldId id="298" r:id="rId46"/>
    <p:sldId id="299" r:id="rId47"/>
    <p:sldId id="300" r:id="rId48"/>
    <p:sldId id="345" r:id="rId49"/>
    <p:sldId id="301" r:id="rId50"/>
    <p:sldId id="346" r:id="rId51"/>
    <p:sldId id="302" r:id="rId52"/>
    <p:sldId id="303" r:id="rId53"/>
    <p:sldId id="304" r:id="rId54"/>
    <p:sldId id="305" r:id="rId55"/>
    <p:sldId id="306" r:id="rId56"/>
    <p:sldId id="307" r:id="rId57"/>
    <p:sldId id="347" r:id="rId58"/>
    <p:sldId id="308" r:id="rId59"/>
    <p:sldId id="309" r:id="rId60"/>
    <p:sldId id="310" r:id="rId61"/>
    <p:sldId id="311" r:id="rId62"/>
    <p:sldId id="312" r:id="rId63"/>
    <p:sldId id="348" r:id="rId64"/>
    <p:sldId id="313" r:id="rId65"/>
    <p:sldId id="314" r:id="rId66"/>
    <p:sldId id="315" r:id="rId67"/>
    <p:sldId id="316" r:id="rId68"/>
    <p:sldId id="317" r:id="rId69"/>
    <p:sldId id="318" r:id="rId70"/>
    <p:sldId id="319" r:id="rId71"/>
    <p:sldId id="349" r:id="rId72"/>
    <p:sldId id="320" r:id="rId73"/>
    <p:sldId id="321" r:id="rId74"/>
    <p:sldId id="322" r:id="rId75"/>
    <p:sldId id="324" r:id="rId76"/>
    <p:sldId id="323" r:id="rId77"/>
    <p:sldId id="350" r:id="rId78"/>
    <p:sldId id="325" r:id="rId79"/>
    <p:sldId id="351" r:id="rId80"/>
    <p:sldId id="326" r:id="rId81"/>
    <p:sldId id="328" r:id="rId82"/>
    <p:sldId id="329" r:id="rId83"/>
    <p:sldId id="330" r:id="rId84"/>
    <p:sldId id="331" r:id="rId85"/>
    <p:sldId id="332" r:id="rId86"/>
    <p:sldId id="333" r:id="rId87"/>
    <p:sldId id="352" r:id="rId88"/>
    <p:sldId id="334" r:id="rId89"/>
    <p:sldId id="335" r:id="rId90"/>
    <p:sldId id="353" r:id="rId91"/>
    <p:sldId id="336" r:id="rId92"/>
    <p:sldId id="337" r:id="rId93"/>
    <p:sldId id="338" r:id="rId94"/>
    <p:sldId id="339" r:id="rId95"/>
    <p:sldId id="340" r:id="rId96"/>
    <p:sldId id="341" r:id="rId97"/>
    <p:sldId id="342" r:id="rId98"/>
    <p:sldId id="343"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975556-F018-4A1D-BEAD-650AB5360B19}" v="2339" dt="2025-02-22T06:58:12.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snapToGrid="0">
      <p:cViewPr varScale="1">
        <p:scale>
          <a:sx n="92" d="100"/>
          <a:sy n="92" d="100"/>
        </p:scale>
        <p:origin x="86" y="9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heme" Target="theme/theme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17146-CC13-4AF4-B0BA-EFD1E287D3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AEE9C6-FB9D-4A29-8C47-C61096CCC9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31D454-CC91-4EC2-A7E2-6120EF0C71C5}"/>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5" name="Footer Placeholder 4">
            <a:extLst>
              <a:ext uri="{FF2B5EF4-FFF2-40B4-BE49-F238E27FC236}">
                <a16:creationId xmlns:a16="http://schemas.microsoft.com/office/drawing/2014/main" id="{5022AB60-5767-4F49-868E-1D253B5835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C179B5-9661-4341-A126-8B1C7FD55331}"/>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3514096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DBA6-2009-4F7C-BA0A-F7E99A0569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338FDE-F1F8-4218-9A18-624C6090108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DF7EBF-E60C-45EF-833D-EBBA39A1BD36}"/>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5" name="Footer Placeholder 4">
            <a:extLst>
              <a:ext uri="{FF2B5EF4-FFF2-40B4-BE49-F238E27FC236}">
                <a16:creationId xmlns:a16="http://schemas.microsoft.com/office/drawing/2014/main" id="{C45F9C92-EA81-4DC5-A824-E41DA95CA3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7B5752-A77C-4ACA-9AE2-3353A062EDAA}"/>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229432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CEFD-52F2-4539-A306-33A2D32009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996F85A-42A5-4D78-834B-0058979E37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9A91C20-BF9A-487C-B6D9-9AD64D664328}"/>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5" name="Footer Placeholder 4">
            <a:extLst>
              <a:ext uri="{FF2B5EF4-FFF2-40B4-BE49-F238E27FC236}">
                <a16:creationId xmlns:a16="http://schemas.microsoft.com/office/drawing/2014/main" id="{186FF929-FBF3-48D1-89ED-0FB701A4EA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1F70CE-6A85-4408-895C-CDD2E5596A69}"/>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676940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44B4A-45AA-4238-B820-34FE1A7B2D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8E71F4-4AE7-4A66-93D8-A4A62D64A30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27A0828-CCAD-4686-B3AE-C0E5813966A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8003D2-0C22-4318-BC7C-1B5DE1E63376}"/>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6" name="Footer Placeholder 5">
            <a:extLst>
              <a:ext uri="{FF2B5EF4-FFF2-40B4-BE49-F238E27FC236}">
                <a16:creationId xmlns:a16="http://schemas.microsoft.com/office/drawing/2014/main" id="{BD552DF4-C089-4631-8662-AE8894391F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62C545-EA75-4D6C-AF0A-F7BE2F8133D6}"/>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3013472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30F1B-B2D0-4F19-A53C-D720F649EA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AE18EC-2FD3-4399-A999-06050A7BC2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2E19F35-CF5C-4898-B507-44E21789B89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5F5DE4-A13D-4958-A1A6-A2D13EB9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EEED103-7A1D-48DA-8D44-AEF3EE3B988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E4ECD4-E74E-4183-8D44-AF79A5B557A9}"/>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8" name="Footer Placeholder 7">
            <a:extLst>
              <a:ext uri="{FF2B5EF4-FFF2-40B4-BE49-F238E27FC236}">
                <a16:creationId xmlns:a16="http://schemas.microsoft.com/office/drawing/2014/main" id="{623C5765-5FE3-4EDD-A3EC-4D908751C7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6C7A3F2-1AC0-4224-945E-5C6C9639283F}"/>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330002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39CE6-9F56-4FD8-A193-E9A7E7AFAFD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3602FC-2FBC-4879-89D1-334FD0478506}"/>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4" name="Footer Placeholder 3">
            <a:extLst>
              <a:ext uri="{FF2B5EF4-FFF2-40B4-BE49-F238E27FC236}">
                <a16:creationId xmlns:a16="http://schemas.microsoft.com/office/drawing/2014/main" id="{A609BEE8-1DE1-4A9F-823A-22261FCF6C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FBF1F0F-1108-4336-A9CB-E7E9B878800C}"/>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2063886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002152-2BEE-4A69-8DBE-D1FD002BA13C}"/>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3" name="Footer Placeholder 2">
            <a:extLst>
              <a:ext uri="{FF2B5EF4-FFF2-40B4-BE49-F238E27FC236}">
                <a16:creationId xmlns:a16="http://schemas.microsoft.com/office/drawing/2014/main" id="{54E9296C-7FAF-4D7A-B6B1-7799A965E09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FD3E04-D25F-43A6-949C-0987E4D6C7B9}"/>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2035212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E2E47-8372-4871-B2BC-A39F6AEBB9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1C898D-1E06-4E17-B9C0-C328FBF8C3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89FA683-868D-44DF-8223-5DB5547AF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5B98C1E-2D6C-4E10-BE9D-A9CBF13AFDD9}"/>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6" name="Footer Placeholder 5">
            <a:extLst>
              <a:ext uri="{FF2B5EF4-FFF2-40B4-BE49-F238E27FC236}">
                <a16:creationId xmlns:a16="http://schemas.microsoft.com/office/drawing/2014/main" id="{C71A5EBC-593A-4A73-A9A2-46281C354B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059E89-0BB3-4311-AAE4-BEB7A3F186D3}"/>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198126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CDB86-10B5-4890-A22B-A9C71CEB75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0A739A-1A90-490C-A572-E1C77E21B4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6E8D61-CAF6-4697-9E04-B66360CFE7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52BD122-E83D-4D9C-A09D-3A7B3ECA99C6}"/>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6" name="Footer Placeholder 5">
            <a:extLst>
              <a:ext uri="{FF2B5EF4-FFF2-40B4-BE49-F238E27FC236}">
                <a16:creationId xmlns:a16="http://schemas.microsoft.com/office/drawing/2014/main" id="{CE934FFC-59FB-46B2-852D-60A57678A6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3F0C8A-BBBD-4A12-A361-4B90DE97036F}"/>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1263992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CC62A-48FC-4DEB-86AC-D5C1EA6109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C2B614-E034-492C-9090-51AE5B55ED2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037034-ED86-41BA-B45B-95EA26A1A32E}"/>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5" name="Footer Placeholder 4">
            <a:extLst>
              <a:ext uri="{FF2B5EF4-FFF2-40B4-BE49-F238E27FC236}">
                <a16:creationId xmlns:a16="http://schemas.microsoft.com/office/drawing/2014/main" id="{4AEF0FB4-3B47-4228-8B27-A0875A6126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19D55C-5846-48B5-AB99-42EF65B79FB0}"/>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2480767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80546B-3855-49A2-87A8-18D6751C06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550D82-64A8-41E7-B241-380218C972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D6D2A2-D0D0-450C-B40B-AA910AA4841C}"/>
              </a:ext>
            </a:extLst>
          </p:cNvPr>
          <p:cNvSpPr>
            <a:spLocks noGrp="1"/>
          </p:cNvSpPr>
          <p:nvPr>
            <p:ph type="dt" sz="half" idx="10"/>
          </p:nvPr>
        </p:nvSpPr>
        <p:spPr/>
        <p:txBody>
          <a:bodyPr/>
          <a:lstStyle/>
          <a:p>
            <a:fld id="{9525EFF8-054C-4850-80BE-5D871CBDAFD1}" type="datetimeFigureOut">
              <a:rPr lang="en-IN" smtClean="0"/>
              <a:t>22-02-2025</a:t>
            </a:fld>
            <a:endParaRPr lang="en-IN"/>
          </a:p>
        </p:txBody>
      </p:sp>
      <p:sp>
        <p:nvSpPr>
          <p:cNvPr id="5" name="Footer Placeholder 4">
            <a:extLst>
              <a:ext uri="{FF2B5EF4-FFF2-40B4-BE49-F238E27FC236}">
                <a16:creationId xmlns:a16="http://schemas.microsoft.com/office/drawing/2014/main" id="{3888E23E-8F77-484C-A3D9-87D39920C2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6E4635-D234-48DE-92F9-6031603B9DA9}"/>
              </a:ext>
            </a:extLst>
          </p:cNvPr>
          <p:cNvSpPr>
            <a:spLocks noGrp="1"/>
          </p:cNvSpPr>
          <p:nvPr>
            <p:ph type="sldNum" sz="quarter" idx="12"/>
          </p:nvPr>
        </p:nvSpPr>
        <p:spPr/>
        <p:txBody>
          <a:bodyPr/>
          <a:lstStyle/>
          <a:p>
            <a:fld id="{73A5BB41-73AE-4B1E-998C-D51AC01EB11C}" type="slidenum">
              <a:rPr lang="en-IN" smtClean="0"/>
              <a:t>‹#›</a:t>
            </a:fld>
            <a:endParaRPr lang="en-IN"/>
          </a:p>
        </p:txBody>
      </p:sp>
    </p:spTree>
    <p:extLst>
      <p:ext uri="{BB962C8B-B14F-4D97-AF65-F5344CB8AC3E}">
        <p14:creationId xmlns:p14="http://schemas.microsoft.com/office/powerpoint/2010/main" val="3463210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ACBA79-72F4-4625-B5CE-4FA547622C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124F18-EAAD-4985-8340-BB78EF30DC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D0AE5E-B724-46A3-8892-8078A7DBB7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25EFF8-054C-4850-80BE-5D871CBDAFD1}" type="datetimeFigureOut">
              <a:rPr lang="en-IN" smtClean="0"/>
              <a:t>22-02-2025</a:t>
            </a:fld>
            <a:endParaRPr lang="en-IN"/>
          </a:p>
        </p:txBody>
      </p:sp>
      <p:sp>
        <p:nvSpPr>
          <p:cNvPr id="5" name="Footer Placeholder 4">
            <a:extLst>
              <a:ext uri="{FF2B5EF4-FFF2-40B4-BE49-F238E27FC236}">
                <a16:creationId xmlns:a16="http://schemas.microsoft.com/office/drawing/2014/main" id="{1A2EC9E7-79CE-40C4-A238-984D34C8CB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BC874A-B4F1-433F-8CBB-207601D284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A5BB41-73AE-4B1E-998C-D51AC01EB11C}" type="slidenum">
              <a:rPr lang="en-IN" smtClean="0"/>
              <a:t>‹#›</a:t>
            </a:fld>
            <a:endParaRPr lang="en-IN"/>
          </a:p>
        </p:txBody>
      </p:sp>
    </p:spTree>
    <p:extLst>
      <p:ext uri="{BB962C8B-B14F-4D97-AF65-F5344CB8AC3E}">
        <p14:creationId xmlns:p14="http://schemas.microsoft.com/office/powerpoint/2010/main" val="2991044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04237-F520-4D29-8B7A-E648E6F7B121}"/>
              </a:ext>
            </a:extLst>
          </p:cNvPr>
          <p:cNvSpPr>
            <a:spLocks noGrp="1"/>
          </p:cNvSpPr>
          <p:nvPr>
            <p:ph type="ctrTitle"/>
          </p:nvPr>
        </p:nvSpPr>
        <p:spPr>
          <a:xfrm>
            <a:off x="1405033" y="1994759"/>
            <a:ext cx="9144000" cy="2387600"/>
          </a:xfrm>
        </p:spPr>
        <p:txBody>
          <a:bodyPr>
            <a:normAutofit/>
          </a:bodyPr>
          <a:lstStyle/>
          <a:p>
            <a:r>
              <a:rPr lang="en-IN" sz="5400" b="1" dirty="0"/>
              <a:t>Broadcasting, Multicasting and Geo-casting </a:t>
            </a:r>
          </a:p>
        </p:txBody>
      </p:sp>
    </p:spTree>
    <p:extLst>
      <p:ext uri="{BB962C8B-B14F-4D97-AF65-F5344CB8AC3E}">
        <p14:creationId xmlns:p14="http://schemas.microsoft.com/office/powerpoint/2010/main" val="1208323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674D73-A7C4-40B3-8817-32AB9B1641A9}"/>
              </a:ext>
            </a:extLst>
          </p:cNvPr>
          <p:cNvSpPr/>
          <p:nvPr/>
        </p:nvSpPr>
        <p:spPr>
          <a:xfrm>
            <a:off x="2371098" y="1330692"/>
            <a:ext cx="6816738" cy="1015663"/>
          </a:xfrm>
          <a:prstGeom prst="rect">
            <a:avLst/>
          </a:prstGeom>
        </p:spPr>
        <p:txBody>
          <a:bodyPr wrap="none">
            <a:spAutoFit/>
          </a:bodyPr>
          <a:lstStyle/>
          <a:p>
            <a:r>
              <a:rPr lang="en-IN" sz="6000" b="1" dirty="0"/>
              <a:t>The Broadcast Storm</a:t>
            </a:r>
          </a:p>
        </p:txBody>
      </p:sp>
      <p:sp>
        <p:nvSpPr>
          <p:cNvPr id="3" name="Rectangle 2">
            <a:extLst>
              <a:ext uri="{FF2B5EF4-FFF2-40B4-BE49-F238E27FC236}">
                <a16:creationId xmlns:a16="http://schemas.microsoft.com/office/drawing/2014/main" id="{D36F28D1-6F13-4CE5-BC2D-9029B81C3F3C}"/>
              </a:ext>
            </a:extLst>
          </p:cNvPr>
          <p:cNvSpPr/>
          <p:nvPr/>
        </p:nvSpPr>
        <p:spPr>
          <a:xfrm>
            <a:off x="0" y="2346355"/>
            <a:ext cx="11972040" cy="2308324"/>
          </a:xfrm>
          <a:prstGeom prst="rect">
            <a:avLst/>
          </a:prstGeom>
        </p:spPr>
        <p:txBody>
          <a:bodyPr wrap="square">
            <a:spAutoFit/>
          </a:bodyPr>
          <a:lstStyle/>
          <a:p>
            <a:pPr marL="457200" indent="-457200" algn="just">
              <a:buFont typeface="Arial" panose="020B0604020202020204" pitchFamily="34" charset="0"/>
              <a:buChar char="•"/>
            </a:pPr>
            <a:r>
              <a:rPr lang="en-US" sz="2400" dirty="0"/>
              <a:t>Doing network-wide broadcasting in ad hoc networks requires one device to broadcast the information to all its neighbors. </a:t>
            </a:r>
          </a:p>
          <a:p>
            <a:pPr marL="457200" indent="-457200" algn="just">
              <a:buFont typeface="Arial" panose="020B0604020202020204" pitchFamily="34" charset="0"/>
              <a:buChar char="•"/>
            </a:pPr>
            <a:r>
              <a:rPr lang="en-US" sz="2400" dirty="0"/>
              <a:t>For far-away devices, the message is rebroadcasted which could cause collision if multiple device broadcasts the same time and are in the neighborhood. </a:t>
            </a:r>
          </a:p>
          <a:p>
            <a:pPr marL="457200" indent="-457200" algn="just">
              <a:buFont typeface="Arial" panose="020B0604020202020204" pitchFamily="34" charset="0"/>
              <a:buChar char="•"/>
            </a:pPr>
            <a:r>
              <a:rPr lang="en-US" sz="2400" dirty="0"/>
              <a:t>This is also known as the broadcasting storm problem [Nil999] and in this section we discuss ways to perform efficient rebroadcasting of messages.</a:t>
            </a:r>
            <a:endParaRPr lang="en-IN" sz="2400" dirty="0"/>
          </a:p>
        </p:txBody>
      </p:sp>
      <p:sp>
        <p:nvSpPr>
          <p:cNvPr id="4" name="Rectangle 3">
            <a:extLst>
              <a:ext uri="{FF2B5EF4-FFF2-40B4-BE49-F238E27FC236}">
                <a16:creationId xmlns:a16="http://schemas.microsoft.com/office/drawing/2014/main" id="{1C5E37E5-AB7A-4956-B161-BD81C9E5704A}"/>
              </a:ext>
            </a:extLst>
          </p:cNvPr>
          <p:cNvSpPr/>
          <p:nvPr/>
        </p:nvSpPr>
        <p:spPr>
          <a:xfrm>
            <a:off x="3862590" y="291236"/>
            <a:ext cx="5325246" cy="923330"/>
          </a:xfrm>
          <a:prstGeom prst="rect">
            <a:avLst/>
          </a:prstGeom>
        </p:spPr>
        <p:txBody>
          <a:bodyPr wrap="square">
            <a:spAutoFit/>
          </a:bodyPr>
          <a:lstStyle/>
          <a:p>
            <a:r>
              <a:rPr lang="en-IN" sz="5400" b="1" dirty="0"/>
              <a:t>Introduction</a:t>
            </a:r>
          </a:p>
        </p:txBody>
      </p:sp>
    </p:spTree>
    <p:extLst>
      <p:ext uri="{BB962C8B-B14F-4D97-AF65-F5344CB8AC3E}">
        <p14:creationId xmlns:p14="http://schemas.microsoft.com/office/powerpoint/2010/main" val="1693165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100F49-98F6-461C-AFD1-C61D203F3E7E}"/>
              </a:ext>
            </a:extLst>
          </p:cNvPr>
          <p:cNvSpPr/>
          <p:nvPr/>
        </p:nvSpPr>
        <p:spPr>
          <a:xfrm>
            <a:off x="95839" y="1178351"/>
            <a:ext cx="11792932" cy="3785652"/>
          </a:xfrm>
          <a:prstGeom prst="rect">
            <a:avLst/>
          </a:prstGeom>
        </p:spPr>
        <p:txBody>
          <a:bodyPr wrap="square">
            <a:spAutoFit/>
          </a:bodyPr>
          <a:lstStyle/>
          <a:p>
            <a:pPr marL="457200" indent="-457200">
              <a:buFont typeface="Arial" panose="020B0604020202020204" pitchFamily="34" charset="0"/>
              <a:buChar char="•"/>
            </a:pPr>
            <a:r>
              <a:rPr lang="en-US" sz="2400" dirty="0"/>
              <a:t>For the purpose of our discussion here, we assume that MHs in the MANET share a single common channel with carrier sense multiple access (CSMA) [Agrawal2002], but no collision detection (CD) capability. </a:t>
            </a:r>
          </a:p>
          <a:p>
            <a:pPr marL="457200" indent="-457200">
              <a:buFont typeface="Arial" panose="020B0604020202020204" pitchFamily="34" charset="0"/>
              <a:buChar char="•"/>
            </a:pPr>
            <a:r>
              <a:rPr lang="en-US" sz="2400" dirty="0"/>
              <a:t>Synchronization in such a network with mobility is unlikely, and global network topology information is unavailable to facilitate the scheduling of a broadcast. </a:t>
            </a:r>
          </a:p>
          <a:p>
            <a:pPr marL="457200" indent="-457200">
              <a:buFont typeface="Arial" panose="020B0604020202020204" pitchFamily="34" charset="0"/>
              <a:buChar char="•"/>
            </a:pPr>
            <a:r>
              <a:rPr lang="en-US" sz="2400" dirty="0"/>
              <a:t>Thus, one straightforward and obvious solution is to achieve broadcasting by flooding (for example, as it is done by mostly all MANET routing algorithms). </a:t>
            </a:r>
          </a:p>
          <a:p>
            <a:pPr marL="457200" indent="-457200">
              <a:buFont typeface="Arial" panose="020B0604020202020204" pitchFamily="34" charset="0"/>
              <a:buChar char="•"/>
            </a:pPr>
            <a:r>
              <a:rPr lang="en-US" sz="2400" dirty="0"/>
              <a:t>Unfortunately, as we will see later, it is observed that redundancy, contention, and collision could exist if flooding is done blindly. Several problems arise in these situations including: </a:t>
            </a:r>
            <a:endParaRPr lang="en-IN" sz="2400" dirty="0"/>
          </a:p>
        </p:txBody>
      </p:sp>
    </p:spTree>
    <p:extLst>
      <p:ext uri="{BB962C8B-B14F-4D97-AF65-F5344CB8AC3E}">
        <p14:creationId xmlns:p14="http://schemas.microsoft.com/office/powerpoint/2010/main" val="1606309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E9DDA1-AC89-49E2-8E4E-F7BD4E5BB134}"/>
              </a:ext>
            </a:extLst>
          </p:cNvPr>
          <p:cNvSpPr/>
          <p:nvPr/>
        </p:nvSpPr>
        <p:spPr>
          <a:xfrm>
            <a:off x="190107" y="766549"/>
            <a:ext cx="11811785" cy="2431435"/>
          </a:xfrm>
          <a:prstGeom prst="rect">
            <a:avLst/>
          </a:prstGeom>
        </p:spPr>
        <p:txBody>
          <a:bodyPr wrap="square">
            <a:spAutoFit/>
          </a:bodyPr>
          <a:lstStyle/>
          <a:p>
            <a:pPr algn="just"/>
            <a:r>
              <a:rPr lang="en-US" sz="2400" dirty="0"/>
              <a:t>•</a:t>
            </a:r>
            <a:r>
              <a:rPr lang="en-US" sz="3200" dirty="0"/>
              <a:t> </a:t>
            </a:r>
            <a:r>
              <a:rPr lang="en-US" sz="2400" dirty="0"/>
              <a:t>As the radio propagation is omnidirectional and a physical location may be covered by the transmission ranges of several hosts, many rebroadcasts are considered to be redundant; </a:t>
            </a:r>
          </a:p>
          <a:p>
            <a:pPr algn="just"/>
            <a:r>
              <a:rPr lang="en-US" sz="2400" dirty="0"/>
              <a:t>• Heavy contention could exist because rebroadcasting hosts are probably close to each other; and </a:t>
            </a:r>
          </a:p>
          <a:p>
            <a:pPr algn="just"/>
            <a:r>
              <a:rPr lang="en-US" sz="2400" dirty="0"/>
              <a:t>• As the RTS/CTS handshake is inapplicable for broadcast transmissions, collisions are more likely to occur as the timing of rebroadcasts is highly correlated.</a:t>
            </a:r>
            <a:endParaRPr lang="en-IN" sz="2400" dirty="0"/>
          </a:p>
        </p:txBody>
      </p:sp>
    </p:spTree>
    <p:extLst>
      <p:ext uri="{BB962C8B-B14F-4D97-AF65-F5344CB8AC3E}">
        <p14:creationId xmlns:p14="http://schemas.microsoft.com/office/powerpoint/2010/main" val="310020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FFEB70-CC8E-4CF9-9E7A-A1CA40CE357C}"/>
              </a:ext>
            </a:extLst>
          </p:cNvPr>
          <p:cNvSpPr/>
          <p:nvPr/>
        </p:nvSpPr>
        <p:spPr>
          <a:xfrm>
            <a:off x="3005380" y="76928"/>
            <a:ext cx="6615529" cy="830997"/>
          </a:xfrm>
          <a:prstGeom prst="rect">
            <a:avLst/>
          </a:prstGeom>
        </p:spPr>
        <p:txBody>
          <a:bodyPr wrap="none">
            <a:spAutoFit/>
          </a:bodyPr>
          <a:lstStyle/>
          <a:p>
            <a:r>
              <a:rPr lang="en-IN" sz="4800" b="1" dirty="0"/>
              <a:t>Broadcasting in a MANET</a:t>
            </a:r>
          </a:p>
        </p:txBody>
      </p:sp>
      <p:sp>
        <p:nvSpPr>
          <p:cNvPr id="3" name="Rectangle 2">
            <a:extLst>
              <a:ext uri="{FF2B5EF4-FFF2-40B4-BE49-F238E27FC236}">
                <a16:creationId xmlns:a16="http://schemas.microsoft.com/office/drawing/2014/main" id="{ECE6C3F9-ED8F-455A-AFEE-968FF9A4494E}"/>
              </a:ext>
            </a:extLst>
          </p:cNvPr>
          <p:cNvSpPr/>
          <p:nvPr/>
        </p:nvSpPr>
        <p:spPr>
          <a:xfrm>
            <a:off x="180680" y="1720840"/>
            <a:ext cx="11830639" cy="3416320"/>
          </a:xfrm>
          <a:prstGeom prst="rect">
            <a:avLst/>
          </a:prstGeom>
        </p:spPr>
        <p:txBody>
          <a:bodyPr wrap="square">
            <a:spAutoFit/>
          </a:bodyPr>
          <a:lstStyle/>
          <a:p>
            <a:pPr marL="457200" indent="-457200" algn="just">
              <a:buFont typeface="Arial" panose="020B0604020202020204" pitchFamily="34" charset="0"/>
              <a:buChar char="•"/>
            </a:pPr>
            <a:r>
              <a:rPr lang="en-US" sz="2400" dirty="0"/>
              <a:t>A MANET consists of a set of MHs that may communicate with one another from time to time, and where no base stations are present. </a:t>
            </a:r>
          </a:p>
          <a:p>
            <a:pPr marL="457200" indent="-457200" algn="just">
              <a:buFont typeface="Arial" panose="020B0604020202020204" pitchFamily="34" charset="0"/>
              <a:buChar char="•"/>
            </a:pPr>
            <a:r>
              <a:rPr lang="en-US" sz="2400" dirty="0"/>
              <a:t>Each host is equipped with a CSMA/CA (carrier sense multiple access with collision avoidance) [Agrawal2002] transceiver. </a:t>
            </a:r>
          </a:p>
          <a:p>
            <a:pPr marL="457200" indent="-457200" algn="just">
              <a:buFont typeface="Arial" panose="020B0604020202020204" pitchFamily="34" charset="0"/>
              <a:buChar char="•"/>
            </a:pPr>
            <a:r>
              <a:rPr lang="en-US" sz="2400" dirty="0"/>
              <a:t>In such an environment, a MH may communicate with each other directly or indirectly. </a:t>
            </a:r>
          </a:p>
          <a:p>
            <a:pPr marL="457200" indent="-457200" algn="just">
              <a:buFont typeface="Arial" panose="020B0604020202020204" pitchFamily="34" charset="0"/>
              <a:buChar char="•"/>
            </a:pPr>
            <a:r>
              <a:rPr lang="en-US" sz="2400" dirty="0"/>
              <a:t>In the latter case, a multi-hop scenario occurs, where the packets originated from the source host are relayed by several intermediate MHs before reaching the destination. </a:t>
            </a:r>
          </a:p>
          <a:p>
            <a:pPr marL="457200" indent="-457200" algn="just">
              <a:buFont typeface="Arial" panose="020B0604020202020204" pitchFamily="34" charset="0"/>
              <a:buChar char="•"/>
            </a:pPr>
            <a:r>
              <a:rPr lang="en-US" sz="2400" dirty="0"/>
              <a:t>The broadcast problem refers to the transmission of a message to all other MHs in the network. The problem we consider has the following characteristics. </a:t>
            </a:r>
            <a:endParaRPr lang="en-IN" sz="2400" dirty="0"/>
          </a:p>
        </p:txBody>
      </p:sp>
    </p:spTree>
    <p:extLst>
      <p:ext uri="{BB962C8B-B14F-4D97-AF65-F5344CB8AC3E}">
        <p14:creationId xmlns:p14="http://schemas.microsoft.com/office/powerpoint/2010/main" val="4033936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CE41355-DE04-4887-B762-6E75D2D56177}"/>
              </a:ext>
            </a:extLst>
          </p:cNvPr>
          <p:cNvSpPr/>
          <p:nvPr/>
        </p:nvSpPr>
        <p:spPr>
          <a:xfrm>
            <a:off x="216817" y="511307"/>
            <a:ext cx="11425286" cy="6001643"/>
          </a:xfrm>
          <a:prstGeom prst="rect">
            <a:avLst/>
          </a:prstGeom>
        </p:spPr>
        <p:txBody>
          <a:bodyPr wrap="square">
            <a:spAutoFit/>
          </a:bodyPr>
          <a:lstStyle/>
          <a:p>
            <a:pPr algn="just"/>
            <a:r>
              <a:rPr lang="en-US" sz="2400" dirty="0"/>
              <a:t>• The broadcast is spontaneous: Any MH can issue a broadcast operation at any time. For reasons such as the MH mobility and the lack of synchronization, preparing any kind of global topology knowledge is prohibitive (in fact, this is at least as hard as the broadcast problem). Little or no local information may be collected in advance. </a:t>
            </a:r>
          </a:p>
          <a:p>
            <a:pPr algn="just"/>
            <a:r>
              <a:rPr lang="en-US" sz="2400" dirty="0"/>
              <a:t>• The broadcast is frequently unreliable: Acknowledgement mechanism is rarely used. However, attempt should be made to distribute a broadcast message to as many MHs as possible without putting too much effort.</a:t>
            </a:r>
          </a:p>
          <a:p>
            <a:r>
              <a:rPr lang="en-US" sz="2400" dirty="0"/>
              <a:t>The motivations for such an assumption are:</a:t>
            </a:r>
          </a:p>
          <a:p>
            <a:r>
              <a:rPr lang="en-US" sz="2400" dirty="0"/>
              <a:t> </a:t>
            </a:r>
          </a:p>
          <a:p>
            <a:pPr marL="514350" indent="-514350">
              <a:buFont typeface="+mj-lt"/>
              <a:buAutoNum type="arabicPeriod"/>
            </a:pPr>
            <a:r>
              <a:rPr lang="en-US" sz="2400" dirty="0"/>
              <a:t>A MH may miss a broadcast message because it is off-line, it is temporarily isolated from the network, or it experiences repetitive collisions; </a:t>
            </a:r>
          </a:p>
          <a:p>
            <a:pPr marL="514350" indent="-514350">
              <a:buFont typeface="+mj-lt"/>
              <a:buAutoNum type="arabicPeriod"/>
            </a:pPr>
            <a:r>
              <a:rPr lang="en-US" sz="2400" dirty="0"/>
              <a:t>Acknowledgements may cause serious medium contention (and thus another "storm") surrounding the sender; and </a:t>
            </a:r>
          </a:p>
          <a:p>
            <a:pPr marL="514350" indent="-514350">
              <a:buFont typeface="+mj-lt"/>
              <a:buAutoNum type="arabicPeriod"/>
            </a:pPr>
            <a:r>
              <a:rPr lang="en-US" sz="2400" dirty="0"/>
              <a:t>In many applications (e.g., route discovery in ad hoc routing protocols), a 100% reliable broadcast is unnecessary.  </a:t>
            </a:r>
          </a:p>
          <a:p>
            <a:pPr algn="just"/>
            <a:endParaRPr lang="en-IN" sz="2400" dirty="0"/>
          </a:p>
        </p:txBody>
      </p:sp>
    </p:spTree>
    <p:extLst>
      <p:ext uri="{BB962C8B-B14F-4D97-AF65-F5344CB8AC3E}">
        <p14:creationId xmlns:p14="http://schemas.microsoft.com/office/powerpoint/2010/main" val="4136218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EB5945-E8AB-4089-BF75-4A6731463DE5}"/>
              </a:ext>
            </a:extLst>
          </p:cNvPr>
          <p:cNvSpPr/>
          <p:nvPr/>
        </p:nvSpPr>
        <p:spPr>
          <a:xfrm>
            <a:off x="216816" y="641024"/>
            <a:ext cx="11519555" cy="4154984"/>
          </a:xfrm>
          <a:prstGeom prst="rect">
            <a:avLst/>
          </a:prstGeom>
        </p:spPr>
        <p:txBody>
          <a:bodyPr wrap="square">
            <a:spAutoFit/>
          </a:bodyPr>
          <a:lstStyle/>
          <a:p>
            <a:pPr marL="514350" indent="-514350">
              <a:buFont typeface="+mj-lt"/>
              <a:buAutoNum type="arabicPeriod"/>
            </a:pPr>
            <a:endParaRPr lang="en-US" sz="2400" dirty="0"/>
          </a:p>
          <a:p>
            <a:pPr marL="342900" indent="-342900" algn="just">
              <a:buFont typeface="Arial" panose="020B0604020202020204" pitchFamily="34" charset="0"/>
              <a:buChar char="•"/>
            </a:pPr>
            <a:r>
              <a:rPr lang="en-US" sz="2400" dirty="0"/>
              <a:t>In addition, we assume that a MH can detect duplicate broadcast messages, as this is essential to prevent endless flooding of a message. </a:t>
            </a:r>
          </a:p>
          <a:p>
            <a:pPr marL="342900" indent="-342900" algn="just">
              <a:buFont typeface="Arial" panose="020B0604020202020204" pitchFamily="34" charset="0"/>
              <a:buChar char="•"/>
            </a:pPr>
            <a:r>
              <a:rPr lang="en-US" sz="2400" dirty="0"/>
              <a:t>One way to do so is to associate a tuple (source ID, sequence number) with each broadcast message as in the case of DSR and AODV. </a:t>
            </a:r>
          </a:p>
          <a:p>
            <a:pPr marL="342900" indent="-342900" algn="just">
              <a:buFont typeface="Arial" panose="020B0604020202020204" pitchFamily="34" charset="0"/>
              <a:buChar char="•"/>
            </a:pPr>
            <a:r>
              <a:rPr lang="en-US" sz="2400" dirty="0"/>
              <a:t>we focus on the flooding behavior in a MANET - the phenomenon where the transmission of a packet will trigger other surrounding MHs to transmit the same (or modified) packet. </a:t>
            </a:r>
          </a:p>
          <a:p>
            <a:pPr marL="342900" indent="-342900" algn="just">
              <a:buFont typeface="Arial" panose="020B0604020202020204" pitchFamily="34" charset="0"/>
              <a:buChar char="•"/>
            </a:pPr>
            <a:r>
              <a:rPr lang="en-US" sz="2400" dirty="0"/>
              <a:t>We shall show that if flooding is used blindly, many redundant messages will be sent and serious contention/collision will be incurred.</a:t>
            </a:r>
            <a:endParaRPr lang="en-IN" sz="2400" dirty="0"/>
          </a:p>
          <a:p>
            <a:pPr algn="just"/>
            <a:endParaRPr lang="en-IN" sz="2400" dirty="0"/>
          </a:p>
        </p:txBody>
      </p:sp>
    </p:spTree>
    <p:extLst>
      <p:ext uri="{BB962C8B-B14F-4D97-AF65-F5344CB8AC3E}">
        <p14:creationId xmlns:p14="http://schemas.microsoft.com/office/powerpoint/2010/main" val="1434722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54A3AE-FF10-43A3-842F-2FE2E55EE728}"/>
              </a:ext>
            </a:extLst>
          </p:cNvPr>
          <p:cNvSpPr/>
          <p:nvPr/>
        </p:nvSpPr>
        <p:spPr>
          <a:xfrm>
            <a:off x="1017487" y="256037"/>
            <a:ext cx="8800358" cy="769441"/>
          </a:xfrm>
          <a:prstGeom prst="rect">
            <a:avLst/>
          </a:prstGeom>
        </p:spPr>
        <p:txBody>
          <a:bodyPr wrap="none">
            <a:spAutoFit/>
          </a:bodyPr>
          <a:lstStyle/>
          <a:p>
            <a:r>
              <a:rPr lang="en-IN" sz="4400" dirty="0"/>
              <a:t>Flooding-Generated Broadcast Storm </a:t>
            </a:r>
          </a:p>
        </p:txBody>
      </p:sp>
      <p:sp>
        <p:nvSpPr>
          <p:cNvPr id="3" name="Rectangle 2">
            <a:extLst>
              <a:ext uri="{FF2B5EF4-FFF2-40B4-BE49-F238E27FC236}">
                <a16:creationId xmlns:a16="http://schemas.microsoft.com/office/drawing/2014/main" id="{D6077765-DBF9-4339-91BB-D26F0D6F438E}"/>
              </a:ext>
            </a:extLst>
          </p:cNvPr>
          <p:cNvSpPr/>
          <p:nvPr/>
        </p:nvSpPr>
        <p:spPr>
          <a:xfrm>
            <a:off x="282804" y="1762812"/>
            <a:ext cx="11302738" cy="4524315"/>
          </a:xfrm>
          <a:prstGeom prst="rect">
            <a:avLst/>
          </a:prstGeom>
        </p:spPr>
        <p:txBody>
          <a:bodyPr wrap="square">
            <a:spAutoFit/>
          </a:bodyPr>
          <a:lstStyle/>
          <a:p>
            <a:pPr algn="just"/>
            <a:r>
              <a:rPr lang="en-US" sz="2400" dirty="0"/>
              <a:t>A straightforward approach to perform broadcast is by flooding. A MH, on receiving a broadcast message for the first time, has the obligation to rebroadcast the message. Clearly, this costs n transmissions in a network of n MHs. In a CSMA/CA network, drawbacks of flooding include: </a:t>
            </a:r>
          </a:p>
          <a:p>
            <a:pPr algn="just"/>
            <a:r>
              <a:rPr lang="en-US" sz="2400" dirty="0"/>
              <a:t>•Redundant rebroadcasts: When a MH decides to rebroadcast a broadcast message to its neighbors, all its neighbors already have the message;</a:t>
            </a:r>
          </a:p>
          <a:p>
            <a:pPr algn="just"/>
            <a:r>
              <a:rPr lang="en-US" sz="2400" dirty="0"/>
              <a:t>•Contention: After a MH broadcasts a message, if many of its neighbors decide to rebroadcast the message, these transmissions (which are all from nearby MHs) may severely contend with each other; </a:t>
            </a:r>
          </a:p>
          <a:p>
            <a:pPr algn="just"/>
            <a:r>
              <a:rPr lang="en-US" sz="2400" dirty="0"/>
              <a:t>• Collision: Because of the deficiency of </a:t>
            </a:r>
            <a:r>
              <a:rPr lang="en-US" sz="2400" dirty="0" err="1"/>
              <a:t>backoff</a:t>
            </a:r>
            <a:r>
              <a:rPr lang="en-US" sz="2400" dirty="0"/>
              <a:t> mechanism, the lack of RTS/CTS handshake in broadcasts, and the absence of collision detection (CD), collisions are more likely to occur and cause more damage.</a:t>
            </a:r>
            <a:endParaRPr lang="en-IN" sz="2400" dirty="0"/>
          </a:p>
        </p:txBody>
      </p:sp>
    </p:spTree>
    <p:extLst>
      <p:ext uri="{BB962C8B-B14F-4D97-AF65-F5344CB8AC3E}">
        <p14:creationId xmlns:p14="http://schemas.microsoft.com/office/powerpoint/2010/main" val="3101747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2B20B6F-316F-4A76-8B82-3F80D32C4BA9}"/>
              </a:ext>
            </a:extLst>
          </p:cNvPr>
          <p:cNvPicPr>
            <a:picLocks noChangeAspect="1"/>
          </p:cNvPicPr>
          <p:nvPr/>
        </p:nvPicPr>
        <p:blipFill>
          <a:blip r:embed="rId2"/>
          <a:stretch>
            <a:fillRect/>
          </a:stretch>
        </p:blipFill>
        <p:spPr>
          <a:xfrm>
            <a:off x="5542960" y="952107"/>
            <a:ext cx="6649039" cy="4674987"/>
          </a:xfrm>
          <a:prstGeom prst="rect">
            <a:avLst/>
          </a:prstGeom>
        </p:spPr>
      </p:pic>
      <p:sp>
        <p:nvSpPr>
          <p:cNvPr id="3" name="Rectangle 2">
            <a:extLst>
              <a:ext uri="{FF2B5EF4-FFF2-40B4-BE49-F238E27FC236}">
                <a16:creationId xmlns:a16="http://schemas.microsoft.com/office/drawing/2014/main" id="{31C1298F-6275-4B5D-9747-59BDE2391119}"/>
              </a:ext>
            </a:extLst>
          </p:cNvPr>
          <p:cNvSpPr/>
          <p:nvPr/>
        </p:nvSpPr>
        <p:spPr>
          <a:xfrm>
            <a:off x="122548" y="1230906"/>
            <a:ext cx="5825765" cy="4401205"/>
          </a:xfrm>
          <a:prstGeom prst="rect">
            <a:avLst/>
          </a:prstGeom>
        </p:spPr>
        <p:txBody>
          <a:bodyPr wrap="square">
            <a:spAutoFit/>
          </a:bodyPr>
          <a:lstStyle/>
          <a:p>
            <a:pPr marL="342900" indent="-342900">
              <a:buFont typeface="Arial" panose="020B0604020202020204" pitchFamily="34" charset="0"/>
              <a:buChar char="•"/>
            </a:pPr>
            <a:r>
              <a:rPr lang="en-US" sz="2000" dirty="0"/>
              <a:t>As we have mentioned before, the collection of these drawbacks is referred to as the broadcast storm problem. </a:t>
            </a:r>
          </a:p>
          <a:p>
            <a:pPr marL="342900" indent="-342900">
              <a:buFont typeface="Arial" panose="020B0604020202020204" pitchFamily="34" charset="0"/>
              <a:buChar char="•"/>
            </a:pPr>
            <a:r>
              <a:rPr lang="en-US" sz="2000" dirty="0"/>
              <a:t>Figure 3.1 exemplifies the broadcast storm problem, where node S initiates a route request to node D through a flooding. </a:t>
            </a:r>
          </a:p>
          <a:p>
            <a:pPr marL="342900" indent="-342900">
              <a:buFont typeface="Arial" panose="020B0604020202020204" pitchFamily="34" charset="0"/>
              <a:buChar char="•"/>
            </a:pPr>
            <a:r>
              <a:rPr lang="en-US" sz="2000" dirty="0"/>
              <a:t>As we can see, flooding is highly redundant. Each node receives the route request degree times, and the route request propagates far beyond node D.</a:t>
            </a:r>
          </a:p>
          <a:p>
            <a:pPr marL="342900" indent="-342900">
              <a:buFont typeface="Arial" panose="020B0604020202020204" pitchFamily="34" charset="0"/>
              <a:buChar char="•"/>
            </a:pPr>
            <a:r>
              <a:rPr lang="en-US" sz="2000" dirty="0"/>
              <a:t>Because nearby nodes will receive and rebroadcast the route request at nearly the same time, contention (when senders can hear each other) and collision (when senders cannot hear each other) will be common. </a:t>
            </a:r>
            <a:endParaRPr lang="en-IN" sz="2000" dirty="0"/>
          </a:p>
        </p:txBody>
      </p:sp>
    </p:spTree>
    <p:extLst>
      <p:ext uri="{BB962C8B-B14F-4D97-AF65-F5344CB8AC3E}">
        <p14:creationId xmlns:p14="http://schemas.microsoft.com/office/powerpoint/2010/main" val="3225937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6674B2A-382F-4C52-AEA9-CDAE795A0259}"/>
              </a:ext>
            </a:extLst>
          </p:cNvPr>
          <p:cNvSpPr/>
          <p:nvPr/>
        </p:nvSpPr>
        <p:spPr>
          <a:xfrm>
            <a:off x="2459440" y="169682"/>
            <a:ext cx="5111528" cy="769441"/>
          </a:xfrm>
          <a:prstGeom prst="rect">
            <a:avLst/>
          </a:prstGeom>
        </p:spPr>
        <p:txBody>
          <a:bodyPr wrap="none">
            <a:spAutoFit/>
          </a:bodyPr>
          <a:lstStyle/>
          <a:p>
            <a:r>
              <a:rPr lang="en-IN" sz="4400" dirty="0"/>
              <a:t>Redundancy Analysis </a:t>
            </a:r>
          </a:p>
        </p:txBody>
      </p:sp>
      <p:sp>
        <p:nvSpPr>
          <p:cNvPr id="4" name="Rectangle 3">
            <a:extLst>
              <a:ext uri="{FF2B5EF4-FFF2-40B4-BE49-F238E27FC236}">
                <a16:creationId xmlns:a16="http://schemas.microsoft.com/office/drawing/2014/main" id="{2BC27855-E847-427E-9FD4-1D23943F0288}"/>
              </a:ext>
            </a:extLst>
          </p:cNvPr>
          <p:cNvSpPr/>
          <p:nvPr/>
        </p:nvSpPr>
        <p:spPr>
          <a:xfrm>
            <a:off x="358218" y="1536569"/>
            <a:ext cx="10642862" cy="4154984"/>
          </a:xfrm>
          <a:prstGeom prst="rect">
            <a:avLst/>
          </a:prstGeom>
        </p:spPr>
        <p:txBody>
          <a:bodyPr wrap="square">
            <a:spAutoFit/>
          </a:bodyPr>
          <a:lstStyle/>
          <a:p>
            <a:pPr marL="342900" indent="-342900" algn="just">
              <a:buFont typeface="Arial" panose="020B0604020202020204" pitchFamily="34" charset="0"/>
              <a:buChar char="•"/>
            </a:pPr>
            <a:r>
              <a:rPr lang="en-US" sz="2400" dirty="0"/>
              <a:t>The main reason for redundancy is that radio signals from different transceivers may negatively overlap with each other. </a:t>
            </a:r>
          </a:p>
          <a:p>
            <a:pPr marL="342900" indent="-342900" algn="just">
              <a:buFont typeface="Arial" panose="020B0604020202020204" pitchFamily="34" charset="0"/>
              <a:buChar char="•"/>
            </a:pPr>
            <a:r>
              <a:rPr lang="en-US" sz="2400" dirty="0"/>
              <a:t>Let us consider two examples to illustrate the effects of redundancy, where we denote node S is the source of the broadcast and node D as the "last" node to receive the broadcast. </a:t>
            </a:r>
          </a:p>
          <a:p>
            <a:pPr marL="342900" indent="-342900" algn="just">
              <a:buFont typeface="Arial" panose="020B0604020202020204" pitchFamily="34" charset="0"/>
              <a:buChar char="•"/>
            </a:pPr>
            <a:r>
              <a:rPr lang="en-US" sz="2400" dirty="0"/>
              <a:t>In Figure 3.2(a), it only takes two transmissions for node D to broadcast a message whereas four transmissions will be carried out if no attempt is made to reduce this redundancy. </a:t>
            </a:r>
          </a:p>
          <a:p>
            <a:pPr marL="342900" indent="-342900" algn="just">
              <a:buFont typeface="Arial" panose="020B0604020202020204" pitchFamily="34" charset="0"/>
              <a:buChar char="•"/>
            </a:pPr>
            <a:r>
              <a:rPr lang="en-US" sz="2400" dirty="0"/>
              <a:t>Figure 3.2(b) presents a more serious scenario where only two transmissions are sufficient to complete a broadcast as opposed to a total of seven transmissions generated if flooding is blindly used. </a:t>
            </a:r>
            <a:endParaRPr lang="en-IN" sz="2400" dirty="0"/>
          </a:p>
        </p:txBody>
      </p:sp>
    </p:spTree>
    <p:extLst>
      <p:ext uri="{BB962C8B-B14F-4D97-AF65-F5344CB8AC3E}">
        <p14:creationId xmlns:p14="http://schemas.microsoft.com/office/powerpoint/2010/main" val="1279332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36E86-2F60-490C-B40F-4246261DD1FE}"/>
              </a:ext>
            </a:extLst>
          </p:cNvPr>
          <p:cNvPicPr>
            <a:picLocks noChangeAspect="1"/>
          </p:cNvPicPr>
          <p:nvPr/>
        </p:nvPicPr>
        <p:blipFill>
          <a:blip r:embed="rId2"/>
          <a:stretch>
            <a:fillRect/>
          </a:stretch>
        </p:blipFill>
        <p:spPr>
          <a:xfrm>
            <a:off x="1847654" y="829559"/>
            <a:ext cx="7626284" cy="4996205"/>
          </a:xfrm>
          <a:prstGeom prst="rect">
            <a:avLst/>
          </a:prstGeom>
        </p:spPr>
      </p:pic>
    </p:spTree>
    <p:extLst>
      <p:ext uri="{BB962C8B-B14F-4D97-AF65-F5344CB8AC3E}">
        <p14:creationId xmlns:p14="http://schemas.microsoft.com/office/powerpoint/2010/main" val="934761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CA4ABF-3FAD-4D8C-B122-8C794593898F}"/>
              </a:ext>
            </a:extLst>
          </p:cNvPr>
          <p:cNvPicPr>
            <a:picLocks noChangeAspect="1"/>
          </p:cNvPicPr>
          <p:nvPr/>
        </p:nvPicPr>
        <p:blipFill>
          <a:blip r:embed="rId2"/>
          <a:stretch>
            <a:fillRect/>
          </a:stretch>
        </p:blipFill>
        <p:spPr>
          <a:xfrm>
            <a:off x="3886987" y="2248293"/>
            <a:ext cx="7645137" cy="4609707"/>
          </a:xfrm>
          <a:prstGeom prst="rect">
            <a:avLst/>
          </a:prstGeom>
        </p:spPr>
      </p:pic>
      <p:sp>
        <p:nvSpPr>
          <p:cNvPr id="3" name="Rectangle 2">
            <a:extLst>
              <a:ext uri="{FF2B5EF4-FFF2-40B4-BE49-F238E27FC236}">
                <a16:creationId xmlns:a16="http://schemas.microsoft.com/office/drawing/2014/main" id="{C07192CD-9C1B-4935-98AF-9660FDFAB5D3}"/>
              </a:ext>
            </a:extLst>
          </p:cNvPr>
          <p:cNvSpPr/>
          <p:nvPr/>
        </p:nvSpPr>
        <p:spPr>
          <a:xfrm>
            <a:off x="527901" y="289404"/>
            <a:ext cx="10350631" cy="1938992"/>
          </a:xfrm>
          <a:prstGeom prst="rect">
            <a:avLst/>
          </a:prstGeom>
        </p:spPr>
        <p:txBody>
          <a:bodyPr wrap="square">
            <a:spAutoFit/>
          </a:bodyPr>
          <a:lstStyle/>
          <a:p>
            <a:pPr marL="342900" indent="-342900">
              <a:buFont typeface="Arial" panose="020B0604020202020204" pitchFamily="34" charset="0"/>
              <a:buChar char="•"/>
            </a:pPr>
            <a:r>
              <a:rPr lang="en-US" sz="2000" dirty="0"/>
              <a:t>Let EAC(k) denote the expected additional coverage provided by a host's rebroadcast after the host has heard the same broadcast packet k times. </a:t>
            </a:r>
          </a:p>
          <a:p>
            <a:pPr marL="342900" indent="-342900">
              <a:buFont typeface="Arial" panose="020B0604020202020204" pitchFamily="34" charset="0"/>
              <a:buChar char="•"/>
            </a:pPr>
            <a:r>
              <a:rPr lang="en-US" sz="2000" dirty="0"/>
              <a:t>Figure 3.3 shows the simulation results obtained from [Nil999] where we can observe that for values of k greater than 3, the expected additional coverage is below 5%. Therefore, ways to control rebroadcasts are of paramount importance, and we provide an overview of the main ones in the following sections. </a:t>
            </a:r>
            <a:endParaRPr lang="en-IN" sz="2000" dirty="0"/>
          </a:p>
        </p:txBody>
      </p:sp>
    </p:spTree>
    <p:extLst>
      <p:ext uri="{BB962C8B-B14F-4D97-AF65-F5344CB8AC3E}">
        <p14:creationId xmlns:p14="http://schemas.microsoft.com/office/powerpoint/2010/main" val="2395598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6CC3D0-6789-4973-A426-147284FF5535}"/>
              </a:ext>
            </a:extLst>
          </p:cNvPr>
          <p:cNvSpPr/>
          <p:nvPr/>
        </p:nvSpPr>
        <p:spPr>
          <a:xfrm>
            <a:off x="1692858" y="329938"/>
            <a:ext cx="7819608" cy="769441"/>
          </a:xfrm>
          <a:prstGeom prst="rect">
            <a:avLst/>
          </a:prstGeom>
        </p:spPr>
        <p:txBody>
          <a:bodyPr wrap="square">
            <a:spAutoFit/>
          </a:bodyPr>
          <a:lstStyle/>
          <a:p>
            <a:r>
              <a:rPr lang="en-IN" sz="4400" dirty="0"/>
              <a:t>Rebroadcasting Schemes </a:t>
            </a:r>
          </a:p>
        </p:txBody>
      </p:sp>
      <p:sp>
        <p:nvSpPr>
          <p:cNvPr id="3" name="Rectangle 2">
            <a:extLst>
              <a:ext uri="{FF2B5EF4-FFF2-40B4-BE49-F238E27FC236}">
                <a16:creationId xmlns:a16="http://schemas.microsoft.com/office/drawing/2014/main" id="{DAA1CB02-3A96-4946-B86B-18070D111931}"/>
              </a:ext>
            </a:extLst>
          </p:cNvPr>
          <p:cNvSpPr/>
          <p:nvPr/>
        </p:nvSpPr>
        <p:spPr>
          <a:xfrm>
            <a:off x="838986" y="1602556"/>
            <a:ext cx="9596486" cy="2862322"/>
          </a:xfrm>
          <a:prstGeom prst="rect">
            <a:avLst/>
          </a:prstGeom>
        </p:spPr>
        <p:txBody>
          <a:bodyPr wrap="square">
            <a:spAutoFit/>
          </a:bodyPr>
          <a:lstStyle/>
          <a:p>
            <a:r>
              <a:rPr lang="en-US" sz="2000" dirty="0"/>
              <a:t>Recently, there have been many proposals to address the broadcast storm problem.</a:t>
            </a:r>
          </a:p>
          <a:p>
            <a:pPr marL="342900" indent="-342900">
              <a:buFont typeface="Arial" panose="020B0604020202020204" pitchFamily="34" charset="0"/>
              <a:buChar char="•"/>
            </a:pPr>
            <a:r>
              <a:rPr lang="en-US" sz="2000" dirty="0"/>
              <a:t>Typically, these techniques aim at minimizing the number of retransmissions of a broadcast message while, at the same time, attempting to ensure that a broadcast packet is delivered to each and every node in the network. </a:t>
            </a:r>
          </a:p>
          <a:p>
            <a:pPr marL="342900" indent="-342900">
              <a:buFont typeface="Arial" panose="020B0604020202020204" pitchFamily="34" charset="0"/>
              <a:buChar char="•"/>
            </a:pPr>
            <a:r>
              <a:rPr lang="en-US" sz="2000" dirty="0"/>
              <a:t>Before delving into the proposed solutions, it is important however to introduce common attributes of mostly all broadcast protocols considered here. </a:t>
            </a:r>
          </a:p>
          <a:p>
            <a:pPr marL="342900" indent="-342900">
              <a:buFont typeface="Arial" panose="020B0604020202020204" pitchFamily="34" charset="0"/>
              <a:buChar char="•"/>
            </a:pPr>
            <a:r>
              <a:rPr lang="en-US" sz="2000" dirty="0"/>
              <a:t>We also note that many (or even all) of the protocols proposed to date usually assume the IEEE standard 802.11 as the MAC layer. Therefore, we confine our discussion to the broadcasting schemes only.</a:t>
            </a:r>
            <a:endParaRPr lang="en-IN" sz="2000" dirty="0"/>
          </a:p>
        </p:txBody>
      </p:sp>
    </p:spTree>
    <p:extLst>
      <p:ext uri="{BB962C8B-B14F-4D97-AF65-F5344CB8AC3E}">
        <p14:creationId xmlns:p14="http://schemas.microsoft.com/office/powerpoint/2010/main" val="1397864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ABA0B7-B740-4DA9-99F0-9C318658F247}"/>
              </a:ext>
            </a:extLst>
          </p:cNvPr>
          <p:cNvSpPr/>
          <p:nvPr/>
        </p:nvSpPr>
        <p:spPr>
          <a:xfrm>
            <a:off x="1160886" y="1134212"/>
            <a:ext cx="8061694" cy="707886"/>
          </a:xfrm>
          <a:prstGeom prst="rect">
            <a:avLst/>
          </a:prstGeom>
        </p:spPr>
        <p:txBody>
          <a:bodyPr wrap="none">
            <a:spAutoFit/>
          </a:bodyPr>
          <a:lstStyle/>
          <a:p>
            <a:r>
              <a:rPr lang="en-US" sz="4000" dirty="0"/>
              <a:t>Design Considerations: Jitter and RDT </a:t>
            </a:r>
            <a:endParaRPr lang="en-IN" sz="4000" dirty="0"/>
          </a:p>
        </p:txBody>
      </p:sp>
      <p:sp>
        <p:nvSpPr>
          <p:cNvPr id="3" name="Rectangle 2">
            <a:extLst>
              <a:ext uri="{FF2B5EF4-FFF2-40B4-BE49-F238E27FC236}">
                <a16:creationId xmlns:a16="http://schemas.microsoft.com/office/drawing/2014/main" id="{14A630D8-E953-4C5C-B263-0031C2249976}"/>
              </a:ext>
            </a:extLst>
          </p:cNvPr>
          <p:cNvSpPr/>
          <p:nvPr/>
        </p:nvSpPr>
        <p:spPr>
          <a:xfrm>
            <a:off x="1810758" y="274891"/>
            <a:ext cx="8880050" cy="830997"/>
          </a:xfrm>
          <a:prstGeom prst="rect">
            <a:avLst/>
          </a:prstGeom>
        </p:spPr>
        <p:txBody>
          <a:bodyPr wrap="square">
            <a:spAutoFit/>
          </a:bodyPr>
          <a:lstStyle/>
          <a:p>
            <a:r>
              <a:rPr lang="en-IN" sz="4800" b="1" dirty="0"/>
              <a:t>Common Characteristics </a:t>
            </a:r>
          </a:p>
        </p:txBody>
      </p:sp>
      <p:sp>
        <p:nvSpPr>
          <p:cNvPr id="4" name="Rectangle 3">
            <a:extLst>
              <a:ext uri="{FF2B5EF4-FFF2-40B4-BE49-F238E27FC236}">
                <a16:creationId xmlns:a16="http://schemas.microsoft.com/office/drawing/2014/main" id="{F42EFFE1-3B88-4845-BE68-F3D62A68A81F}"/>
              </a:ext>
            </a:extLst>
          </p:cNvPr>
          <p:cNvSpPr/>
          <p:nvPr/>
        </p:nvSpPr>
        <p:spPr>
          <a:xfrm>
            <a:off x="350544" y="1992061"/>
            <a:ext cx="11338693" cy="4708981"/>
          </a:xfrm>
          <a:prstGeom prst="rect">
            <a:avLst/>
          </a:prstGeom>
        </p:spPr>
        <p:txBody>
          <a:bodyPr wrap="square">
            <a:spAutoFit/>
          </a:bodyPr>
          <a:lstStyle/>
          <a:p>
            <a:pPr marL="342900" indent="-342900">
              <a:buFont typeface="Arial" panose="020B0604020202020204" pitchFamily="34" charset="0"/>
              <a:buChar char="•"/>
            </a:pPr>
            <a:r>
              <a:rPr lang="en-US" sz="2000" dirty="0"/>
              <a:t>As we know, radio waves propagate at the speed of light. Therefore, if we assume that a source node transmits a broadcast packet, all of the source's neighbors will receive the transmission nearly at the same time. If we further assume that all nodes possess similar hardware and system loads, the neighbors will process the packet and rebroadcast it approximately at the same time, thereby causing packet collisions.</a:t>
            </a:r>
          </a:p>
          <a:p>
            <a:pPr marL="342900" indent="-342900">
              <a:buFont typeface="Arial" panose="020B0604020202020204" pitchFamily="34" charset="0"/>
              <a:buChar char="•"/>
            </a:pPr>
            <a:r>
              <a:rPr lang="en-US" sz="2000" dirty="0"/>
              <a:t>To address this problem, broadcast protocols jitter the scheduling of broadcast packets from the network layer down to the MAC layer by some random amount of time. </a:t>
            </a:r>
          </a:p>
          <a:p>
            <a:pPr marL="342900" indent="-342900">
              <a:buFont typeface="Arial" panose="020B0604020202020204" pitchFamily="34" charset="0"/>
              <a:buChar char="•"/>
            </a:pPr>
            <a:r>
              <a:rPr lang="en-US" sz="2000" dirty="0"/>
              <a:t>This jitter allows one neighbor to acquire the channel first, while other neighbors detect that the channel is busy. </a:t>
            </a:r>
          </a:p>
          <a:p>
            <a:pPr marL="342900" indent="-342900">
              <a:buFont typeface="Arial" panose="020B0604020202020204" pitchFamily="34" charset="0"/>
              <a:buChar char="•"/>
            </a:pPr>
            <a:r>
              <a:rPr lang="en-US" sz="2000" dirty="0"/>
              <a:t>Many of the broadcasting protocols require a node to keep track of redundant packets received over a short time interval in order to determine whether or not to rebroadcast. This time interval, which is called as Random Delay Timer (RDT), is randomly chosen from a uniform distribution and accomplishes two things. </a:t>
            </a:r>
          </a:p>
          <a:p>
            <a:pPr marL="342900" indent="-342900">
              <a:buFont typeface="Arial" panose="020B0604020202020204" pitchFamily="34" charset="0"/>
              <a:buChar char="•"/>
            </a:pPr>
            <a:r>
              <a:rPr lang="en-US" sz="2000" dirty="0"/>
              <a:t>First, it allows nodes sufficient time to receive redundant packets and conduct an evaluation. Second, the randomized scheduling mitigates packet collisions as discussed earlier. </a:t>
            </a:r>
            <a:endParaRPr lang="en-IN" sz="2000" dirty="0"/>
          </a:p>
        </p:txBody>
      </p:sp>
    </p:spTree>
    <p:extLst>
      <p:ext uri="{BB962C8B-B14F-4D97-AF65-F5344CB8AC3E}">
        <p14:creationId xmlns:p14="http://schemas.microsoft.com/office/powerpoint/2010/main" val="43895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55E3D6E-2C68-4A8C-8CA6-E4A25343DAE3}"/>
              </a:ext>
            </a:extLst>
          </p:cNvPr>
          <p:cNvSpPr/>
          <p:nvPr/>
        </p:nvSpPr>
        <p:spPr>
          <a:xfrm>
            <a:off x="414779" y="946406"/>
            <a:ext cx="10850252" cy="4401205"/>
          </a:xfrm>
          <a:prstGeom prst="rect">
            <a:avLst/>
          </a:prstGeom>
        </p:spPr>
        <p:txBody>
          <a:bodyPr wrap="square">
            <a:spAutoFit/>
          </a:bodyPr>
          <a:lstStyle/>
          <a:p>
            <a:pPr marL="342900" indent="-342900">
              <a:buFont typeface="Arial" panose="020B0604020202020204" pitchFamily="34" charset="0"/>
              <a:buChar char="•"/>
            </a:pPr>
            <a:r>
              <a:rPr lang="en-US" sz="2000" dirty="0"/>
              <a:t> An important design consideration in any broadcast protocol is the implementation of the random assessment delay. </a:t>
            </a:r>
          </a:p>
          <a:p>
            <a:pPr marL="342900" indent="-342900">
              <a:buFont typeface="Arial" panose="020B0604020202020204" pitchFamily="34" charset="0"/>
              <a:buChar char="•"/>
            </a:pPr>
            <a:r>
              <a:rPr lang="en-US" sz="2000" dirty="0"/>
              <a:t>One approach is to send broadcast packets to the MAC layer after a short random time similar to the jitter. In this case, packets remain in the interface queue until the channel becomes clear for broadcast. </a:t>
            </a:r>
          </a:p>
          <a:p>
            <a:pPr marL="342900" indent="-342900">
              <a:buFont typeface="Arial" panose="020B0604020202020204" pitchFamily="34" charset="0"/>
              <a:buChar char="•"/>
            </a:pPr>
            <a:r>
              <a:rPr lang="en-US" sz="2000" dirty="0"/>
              <a:t>While the packet is in the interface queue, redundant packets may be received, allowing the network layer to determine if rebroadcasting is still required. If the network layer protocol decides the packet should not be rebroadcast, it informs the MAC layer to discard the corresponding packet.</a:t>
            </a:r>
          </a:p>
          <a:p>
            <a:pPr marL="342900" indent="-342900">
              <a:buFont typeface="Arial" panose="020B0604020202020204" pitchFamily="34" charset="0"/>
              <a:buChar char="•"/>
            </a:pPr>
            <a:r>
              <a:rPr lang="en-US" sz="2000" dirty="0"/>
              <a:t>A second approach is to implement the random assessment delay as a longer time period and keep the packet at the network layer until the RDT expires. </a:t>
            </a:r>
          </a:p>
          <a:p>
            <a:pPr marL="342900" indent="-342900">
              <a:buFont typeface="Arial" panose="020B0604020202020204" pitchFamily="34" charset="0"/>
              <a:buChar char="•"/>
            </a:pPr>
            <a:r>
              <a:rPr lang="en-US" sz="2000" dirty="0"/>
              <a:t>Retransmission assessment is done considering all redundant packets during the RDT. After RDT expiration, the packet is either sent to the MAC layer or dropped. </a:t>
            </a:r>
          </a:p>
          <a:p>
            <a:pPr marL="342900" indent="-342900">
              <a:buFont typeface="Arial" panose="020B0604020202020204" pitchFamily="34" charset="0"/>
              <a:buChar char="•"/>
            </a:pPr>
            <a:r>
              <a:rPr lang="en-US" sz="2000" dirty="0"/>
              <a:t>In this scheme, no attempts are made by the network layer to remove the packet after sending it to the MAC layer. </a:t>
            </a:r>
            <a:endParaRPr lang="en-IN" sz="2000" dirty="0"/>
          </a:p>
        </p:txBody>
      </p:sp>
    </p:spTree>
    <p:extLst>
      <p:ext uri="{BB962C8B-B14F-4D97-AF65-F5344CB8AC3E}">
        <p14:creationId xmlns:p14="http://schemas.microsoft.com/office/powerpoint/2010/main" val="2964635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9F86C3-7F8F-4FE6-8242-187FAC60E934}"/>
              </a:ext>
            </a:extLst>
          </p:cNvPr>
          <p:cNvSpPr/>
          <p:nvPr/>
        </p:nvSpPr>
        <p:spPr>
          <a:xfrm>
            <a:off x="3182071" y="386499"/>
            <a:ext cx="4065408" cy="769441"/>
          </a:xfrm>
          <a:prstGeom prst="rect">
            <a:avLst/>
          </a:prstGeom>
        </p:spPr>
        <p:txBody>
          <a:bodyPr wrap="none">
            <a:spAutoFit/>
          </a:bodyPr>
          <a:lstStyle/>
          <a:p>
            <a:r>
              <a:rPr lang="en-IN" sz="4400" dirty="0"/>
              <a:t>Loop Prevention </a:t>
            </a:r>
          </a:p>
        </p:txBody>
      </p:sp>
      <p:sp>
        <p:nvSpPr>
          <p:cNvPr id="3" name="Rectangle 2">
            <a:extLst>
              <a:ext uri="{FF2B5EF4-FFF2-40B4-BE49-F238E27FC236}">
                <a16:creationId xmlns:a16="http://schemas.microsoft.com/office/drawing/2014/main" id="{945A006D-E8A7-422E-8F37-36931AACCF21}"/>
              </a:ext>
            </a:extLst>
          </p:cNvPr>
          <p:cNvSpPr/>
          <p:nvPr/>
        </p:nvSpPr>
        <p:spPr>
          <a:xfrm>
            <a:off x="1319753" y="1913718"/>
            <a:ext cx="6985262" cy="2246769"/>
          </a:xfrm>
          <a:prstGeom prst="rect">
            <a:avLst/>
          </a:prstGeom>
        </p:spPr>
        <p:txBody>
          <a:bodyPr wrap="square">
            <a:spAutoFit/>
          </a:bodyPr>
          <a:lstStyle/>
          <a:p>
            <a:pPr marL="342900" indent="-342900">
              <a:buFont typeface="Arial" panose="020B0604020202020204" pitchFamily="34" charset="0"/>
              <a:buChar char="•"/>
            </a:pPr>
            <a:r>
              <a:rPr lang="en-US" sz="2000" dirty="0"/>
              <a:t>None of the protocols discussed here require that a node rebroadcast a given packet more than one time.</a:t>
            </a:r>
          </a:p>
          <a:p>
            <a:pPr marL="342900" indent="-342900">
              <a:buFont typeface="Arial" panose="020B0604020202020204" pitchFamily="34" charset="0"/>
              <a:buChar char="•"/>
            </a:pPr>
            <a:r>
              <a:rPr lang="en-US" sz="2000" dirty="0"/>
              <a:t>Thus, each broadcast protocol requires that nodes cache the original source node ID of the packet and the packet ID. </a:t>
            </a:r>
          </a:p>
          <a:p>
            <a:pPr marL="342900" indent="-342900">
              <a:buFont typeface="Arial" panose="020B0604020202020204" pitchFamily="34" charset="0"/>
              <a:buChar char="•"/>
            </a:pPr>
            <a:r>
              <a:rPr lang="en-US" sz="2000" dirty="0"/>
              <a:t>This allows the protocol to uniquely identify each broadcast packet and assign appropriate behavior upon reception of another broadcast packet.</a:t>
            </a:r>
            <a:endParaRPr lang="en-IN" sz="2000" dirty="0"/>
          </a:p>
        </p:txBody>
      </p:sp>
    </p:spTree>
    <p:extLst>
      <p:ext uri="{BB962C8B-B14F-4D97-AF65-F5344CB8AC3E}">
        <p14:creationId xmlns:p14="http://schemas.microsoft.com/office/powerpoint/2010/main" val="2336412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33BE8D-3945-4DB3-8D4B-A4E6F81B88C9}"/>
              </a:ext>
            </a:extLst>
          </p:cNvPr>
          <p:cNvSpPr/>
          <p:nvPr/>
        </p:nvSpPr>
        <p:spPr>
          <a:xfrm>
            <a:off x="1731286" y="339364"/>
            <a:ext cx="5868081" cy="769441"/>
          </a:xfrm>
          <a:prstGeom prst="rect">
            <a:avLst/>
          </a:prstGeom>
        </p:spPr>
        <p:txBody>
          <a:bodyPr wrap="none">
            <a:spAutoFit/>
          </a:bodyPr>
          <a:lstStyle/>
          <a:p>
            <a:r>
              <a:rPr lang="en-IN" sz="4400" dirty="0"/>
              <a:t>Categories and Protocols</a:t>
            </a:r>
          </a:p>
        </p:txBody>
      </p:sp>
      <p:sp>
        <p:nvSpPr>
          <p:cNvPr id="3" name="Rectangle 2">
            <a:extLst>
              <a:ext uri="{FF2B5EF4-FFF2-40B4-BE49-F238E27FC236}">
                <a16:creationId xmlns:a16="http://schemas.microsoft.com/office/drawing/2014/main" id="{7D49F59C-BC18-449E-AB6A-7144995B38FF}"/>
              </a:ext>
            </a:extLst>
          </p:cNvPr>
          <p:cNvSpPr/>
          <p:nvPr/>
        </p:nvSpPr>
        <p:spPr>
          <a:xfrm>
            <a:off x="659876" y="1568546"/>
            <a:ext cx="10492033" cy="4401205"/>
          </a:xfrm>
          <a:prstGeom prst="rect">
            <a:avLst/>
          </a:prstGeom>
        </p:spPr>
        <p:txBody>
          <a:bodyPr wrap="square">
            <a:spAutoFit/>
          </a:bodyPr>
          <a:lstStyle/>
          <a:p>
            <a:r>
              <a:rPr lang="en-US" sz="2000" dirty="0"/>
              <a:t>We now cover the broadcasting protocols for MANETs by categorizing them into the following classes with increasing complexity: </a:t>
            </a:r>
          </a:p>
          <a:p>
            <a:r>
              <a:rPr lang="en-US" sz="2000" dirty="0"/>
              <a:t>• Simple flooding; </a:t>
            </a:r>
          </a:p>
          <a:p>
            <a:r>
              <a:rPr lang="en-US" sz="2000" dirty="0"/>
              <a:t>• Probability-based methods; </a:t>
            </a:r>
          </a:p>
          <a:p>
            <a:r>
              <a:rPr lang="en-US" sz="2000" dirty="0"/>
              <a:t>• Area-based methods; and </a:t>
            </a:r>
          </a:p>
          <a:p>
            <a:r>
              <a:rPr lang="en-US" sz="2000" dirty="0"/>
              <a:t>• Neighbor knowledge methods.</a:t>
            </a:r>
          </a:p>
          <a:p>
            <a:r>
              <a:rPr lang="en-US" sz="2000" dirty="0"/>
              <a:t> </a:t>
            </a:r>
          </a:p>
          <a:p>
            <a:pPr marL="342900" indent="-342900">
              <a:buFont typeface="Arial" panose="020B0604020202020204" pitchFamily="34" charset="0"/>
              <a:buChar char="•"/>
            </a:pPr>
            <a:r>
              <a:rPr lang="en-US" sz="2000" dirty="0"/>
              <a:t>Simple flooding requires each node to rebroadcast all packets. </a:t>
            </a:r>
          </a:p>
          <a:p>
            <a:pPr marL="342900" indent="-342900">
              <a:buFont typeface="Arial" panose="020B0604020202020204" pitchFamily="34" charset="0"/>
              <a:buChar char="•"/>
            </a:pPr>
            <a:r>
              <a:rPr lang="en-US" sz="2000" dirty="0"/>
              <a:t>Probability-based methods use some basic understanding of the network topology to assign a probability to a node to rebroadcast. </a:t>
            </a:r>
          </a:p>
          <a:p>
            <a:pPr marL="342900" indent="-342900">
              <a:buFont typeface="Arial" panose="020B0604020202020204" pitchFamily="34" charset="0"/>
              <a:buChar char="•"/>
            </a:pPr>
            <a:r>
              <a:rPr lang="en-US" sz="2000" dirty="0"/>
              <a:t>Area-based methods assume nodes have common transmission distances; and a node will only rebroadcast a packet if this rebroadcast will likely provide sufficient additional coverage area.</a:t>
            </a:r>
          </a:p>
          <a:p>
            <a:pPr marL="342900" indent="-342900">
              <a:buFont typeface="Arial" panose="020B0604020202020204" pitchFamily="34" charset="0"/>
              <a:buChar char="•"/>
            </a:pPr>
            <a:r>
              <a:rPr lang="en-US" sz="2000" dirty="0"/>
              <a:t>Neighbor knowledge methods maintain state on their neighborhood, via hello packets, which is used in making the decision about rebroadcast. </a:t>
            </a:r>
            <a:endParaRPr lang="en-IN" sz="2000" dirty="0"/>
          </a:p>
        </p:txBody>
      </p:sp>
    </p:spTree>
    <p:extLst>
      <p:ext uri="{BB962C8B-B14F-4D97-AF65-F5344CB8AC3E}">
        <p14:creationId xmlns:p14="http://schemas.microsoft.com/office/powerpoint/2010/main" val="1676086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EFD378-108F-448A-97C0-BFB55194EAAF}"/>
              </a:ext>
            </a:extLst>
          </p:cNvPr>
          <p:cNvSpPr/>
          <p:nvPr/>
        </p:nvSpPr>
        <p:spPr>
          <a:xfrm>
            <a:off x="3080722" y="320511"/>
            <a:ext cx="3962944" cy="769441"/>
          </a:xfrm>
          <a:prstGeom prst="rect">
            <a:avLst/>
          </a:prstGeom>
        </p:spPr>
        <p:txBody>
          <a:bodyPr wrap="none">
            <a:spAutoFit/>
          </a:bodyPr>
          <a:lstStyle/>
          <a:p>
            <a:r>
              <a:rPr lang="en-IN" sz="4400" dirty="0"/>
              <a:t>Simple Flooding </a:t>
            </a:r>
          </a:p>
        </p:txBody>
      </p:sp>
      <p:sp>
        <p:nvSpPr>
          <p:cNvPr id="3" name="Rectangle 2">
            <a:extLst>
              <a:ext uri="{FF2B5EF4-FFF2-40B4-BE49-F238E27FC236}">
                <a16:creationId xmlns:a16="http://schemas.microsoft.com/office/drawing/2014/main" id="{F25E02BE-F635-4842-9DBF-16E295498833}"/>
              </a:ext>
            </a:extLst>
          </p:cNvPr>
          <p:cNvSpPr/>
          <p:nvPr/>
        </p:nvSpPr>
        <p:spPr>
          <a:xfrm>
            <a:off x="980388" y="2284264"/>
            <a:ext cx="9681327" cy="2246769"/>
          </a:xfrm>
          <a:prstGeom prst="rect">
            <a:avLst/>
          </a:prstGeom>
        </p:spPr>
        <p:txBody>
          <a:bodyPr wrap="square">
            <a:spAutoFit/>
          </a:bodyPr>
          <a:lstStyle/>
          <a:p>
            <a:pPr marL="342900" indent="-342900">
              <a:buFont typeface="Arial" panose="020B0604020202020204" pitchFamily="34" charset="0"/>
              <a:buChar char="•"/>
            </a:pPr>
            <a:r>
              <a:rPr lang="en-US" sz="2000" dirty="0"/>
              <a:t>The algorithm for simple flooding [Ho 1999, Jetcheva2001] starts off with a source node broadcasting a packet to all neighbors. </a:t>
            </a:r>
          </a:p>
          <a:p>
            <a:pPr marL="342900" indent="-342900">
              <a:buFont typeface="Arial" panose="020B0604020202020204" pitchFamily="34" charset="0"/>
              <a:buChar char="•"/>
            </a:pPr>
            <a:r>
              <a:rPr lang="en-US" sz="2000" dirty="0"/>
              <a:t>The neighbors, upon receiving the broadcast packet, rebroadcast the packet exactly once and this continues until all reachable network nodes have received and rebroadcast the packet at least once (assuming reliability). </a:t>
            </a:r>
          </a:p>
          <a:p>
            <a:pPr marL="342900" indent="-342900">
              <a:buFont typeface="Arial" panose="020B0604020202020204" pitchFamily="34" charset="0"/>
              <a:buChar char="•"/>
            </a:pPr>
            <a:r>
              <a:rPr lang="en-US" sz="2000" dirty="0"/>
              <a:t>Flooding is proposed as a scheme to achieve reliable broadcast and also multicast in highly dynamic networks in [Ho 1999].</a:t>
            </a:r>
            <a:endParaRPr lang="en-IN" sz="2000" dirty="0"/>
          </a:p>
        </p:txBody>
      </p:sp>
    </p:spTree>
    <p:extLst>
      <p:ext uri="{BB962C8B-B14F-4D97-AF65-F5344CB8AC3E}">
        <p14:creationId xmlns:p14="http://schemas.microsoft.com/office/powerpoint/2010/main" val="3534224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CA93B-D87D-40BF-9424-5D338193BADE}"/>
              </a:ext>
            </a:extLst>
          </p:cNvPr>
          <p:cNvSpPr/>
          <p:nvPr/>
        </p:nvSpPr>
        <p:spPr>
          <a:xfrm>
            <a:off x="2310662" y="0"/>
            <a:ext cx="6398611" cy="769441"/>
          </a:xfrm>
          <a:prstGeom prst="rect">
            <a:avLst/>
          </a:prstGeom>
        </p:spPr>
        <p:txBody>
          <a:bodyPr wrap="none">
            <a:spAutoFit/>
          </a:bodyPr>
          <a:lstStyle/>
          <a:p>
            <a:r>
              <a:rPr lang="en-IN" sz="4400" dirty="0"/>
              <a:t>Probability-Based Methods</a:t>
            </a:r>
          </a:p>
        </p:txBody>
      </p:sp>
      <p:sp>
        <p:nvSpPr>
          <p:cNvPr id="3" name="Rectangle 2">
            <a:extLst>
              <a:ext uri="{FF2B5EF4-FFF2-40B4-BE49-F238E27FC236}">
                <a16:creationId xmlns:a16="http://schemas.microsoft.com/office/drawing/2014/main" id="{365E294B-8A5E-4FA2-A57D-00A0C33AD3F4}"/>
              </a:ext>
            </a:extLst>
          </p:cNvPr>
          <p:cNvSpPr/>
          <p:nvPr/>
        </p:nvSpPr>
        <p:spPr>
          <a:xfrm>
            <a:off x="2310662" y="1142054"/>
            <a:ext cx="4482702" cy="707886"/>
          </a:xfrm>
          <a:prstGeom prst="rect">
            <a:avLst/>
          </a:prstGeom>
        </p:spPr>
        <p:txBody>
          <a:bodyPr wrap="none">
            <a:spAutoFit/>
          </a:bodyPr>
          <a:lstStyle/>
          <a:p>
            <a:r>
              <a:rPr lang="en-IN" sz="4000" dirty="0"/>
              <a:t>Probabilistic Scheme</a:t>
            </a:r>
          </a:p>
        </p:txBody>
      </p:sp>
      <p:sp>
        <p:nvSpPr>
          <p:cNvPr id="4" name="Rectangle 3">
            <a:extLst>
              <a:ext uri="{FF2B5EF4-FFF2-40B4-BE49-F238E27FC236}">
                <a16:creationId xmlns:a16="http://schemas.microsoft.com/office/drawing/2014/main" id="{BD1DBFB4-6E90-4996-AB1A-163532FC9FDD}"/>
              </a:ext>
            </a:extLst>
          </p:cNvPr>
          <p:cNvSpPr/>
          <p:nvPr/>
        </p:nvSpPr>
        <p:spPr>
          <a:xfrm>
            <a:off x="446202" y="2160998"/>
            <a:ext cx="10319208" cy="2554545"/>
          </a:xfrm>
          <a:prstGeom prst="rect">
            <a:avLst/>
          </a:prstGeom>
        </p:spPr>
        <p:txBody>
          <a:bodyPr wrap="square">
            <a:spAutoFit/>
          </a:bodyPr>
          <a:lstStyle/>
          <a:p>
            <a:pPr marL="342900" indent="-342900" algn="just">
              <a:buFont typeface="Arial" panose="020B0604020202020204" pitchFamily="34" charset="0"/>
              <a:buChar char="•"/>
            </a:pPr>
            <a:r>
              <a:rPr lang="en-US" sz="2000" dirty="0"/>
              <a:t>The probabilistic scheme [Nil999] is similar to ordinary flooding, except that nodes only rebroadcast with a predetermined probability. </a:t>
            </a:r>
          </a:p>
          <a:p>
            <a:pPr marL="342900" indent="-342900" algn="just">
              <a:buFont typeface="Arial" panose="020B0604020202020204" pitchFamily="34" charset="0"/>
              <a:buChar char="•"/>
            </a:pPr>
            <a:r>
              <a:rPr lang="en-US" sz="2000" dirty="0"/>
              <a:t>In dense networks, it is much likely that multiple nodes share similar transmission coverage. Thus, having some random nodes not to rebroadcast saves network resources without harming packet delivery effectiveness. </a:t>
            </a:r>
          </a:p>
          <a:p>
            <a:pPr marL="342900" indent="-342900" algn="just">
              <a:buFont typeface="Arial" panose="020B0604020202020204" pitchFamily="34" charset="0"/>
              <a:buChar char="•"/>
            </a:pPr>
            <a:r>
              <a:rPr lang="en-US" sz="2000" dirty="0"/>
              <a:t>In sparse networks, there is much less shared coverage and, therefore, not all nodes will receive all the broadcast packets with this scheme unless the probability parameter is high. When the probability is 100%, this scheme is identical to ordinary flooding.</a:t>
            </a:r>
            <a:endParaRPr lang="en-IN" sz="2000" dirty="0"/>
          </a:p>
        </p:txBody>
      </p:sp>
    </p:spTree>
    <p:extLst>
      <p:ext uri="{BB962C8B-B14F-4D97-AF65-F5344CB8AC3E}">
        <p14:creationId xmlns:p14="http://schemas.microsoft.com/office/powerpoint/2010/main" val="448751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2FF42D-0EF6-4407-AD9D-311506C14D69}"/>
              </a:ext>
            </a:extLst>
          </p:cNvPr>
          <p:cNvSpPr/>
          <p:nvPr/>
        </p:nvSpPr>
        <p:spPr>
          <a:xfrm>
            <a:off x="1944313" y="152343"/>
            <a:ext cx="5725350" cy="769441"/>
          </a:xfrm>
          <a:prstGeom prst="rect">
            <a:avLst/>
          </a:prstGeom>
        </p:spPr>
        <p:txBody>
          <a:bodyPr wrap="none">
            <a:spAutoFit/>
          </a:bodyPr>
          <a:lstStyle/>
          <a:p>
            <a:r>
              <a:rPr lang="en-IN" sz="4400" dirty="0"/>
              <a:t>Counter-Based Scheme </a:t>
            </a:r>
          </a:p>
        </p:txBody>
      </p:sp>
      <p:sp>
        <p:nvSpPr>
          <p:cNvPr id="3" name="Rectangle 2">
            <a:extLst>
              <a:ext uri="{FF2B5EF4-FFF2-40B4-BE49-F238E27FC236}">
                <a16:creationId xmlns:a16="http://schemas.microsoft.com/office/drawing/2014/main" id="{BCA34B26-97EA-4CAE-B084-0AA3D80AC70D}"/>
              </a:ext>
            </a:extLst>
          </p:cNvPr>
          <p:cNvSpPr/>
          <p:nvPr/>
        </p:nvSpPr>
        <p:spPr>
          <a:xfrm>
            <a:off x="689728" y="1600476"/>
            <a:ext cx="10812543" cy="4401205"/>
          </a:xfrm>
          <a:prstGeom prst="rect">
            <a:avLst/>
          </a:prstGeom>
        </p:spPr>
        <p:txBody>
          <a:bodyPr wrap="square">
            <a:spAutoFit/>
          </a:bodyPr>
          <a:lstStyle/>
          <a:p>
            <a:pPr marL="342900" indent="-342900">
              <a:buFont typeface="Arial" panose="020B0604020202020204" pitchFamily="34" charset="0"/>
              <a:buChar char="•"/>
            </a:pPr>
            <a:r>
              <a:rPr lang="en-US" sz="2000" dirty="0"/>
              <a:t>An inverse relationship is shown [Nil999] between the number of times a packet is received at a node and the probability of this node's transmission being able to cover additional area on a rebroadcast. </a:t>
            </a:r>
          </a:p>
          <a:p>
            <a:pPr marL="342900" indent="-342900">
              <a:buFont typeface="Arial" panose="020B0604020202020204" pitchFamily="34" charset="0"/>
              <a:buChar char="•"/>
            </a:pPr>
            <a:r>
              <a:rPr lang="en-US" sz="2000" dirty="0"/>
              <a:t>This result forms the basis of the counter-based scheme. Upon receipt of a previously unseen packet, the node initiates a counter with a value of one and sets a RDT.</a:t>
            </a:r>
          </a:p>
          <a:p>
            <a:pPr marL="342900" indent="-342900">
              <a:buFont typeface="Arial" panose="020B0604020202020204" pitchFamily="34" charset="0"/>
              <a:buChar char="•"/>
            </a:pPr>
            <a:r>
              <a:rPr lang="en-US" sz="2000" dirty="0"/>
              <a:t>During the RDT, the counter is incremented by one for each redundant packet received. If the counter is less than a threshold value when the RDT expires, the packet is rebroadcast. Otherwise, it is simply dropped. </a:t>
            </a:r>
          </a:p>
          <a:p>
            <a:pPr marL="342900" indent="-342900">
              <a:buFont typeface="Arial" panose="020B0604020202020204" pitchFamily="34" charset="0"/>
              <a:buChar char="•"/>
            </a:pPr>
            <a:r>
              <a:rPr lang="en-US" sz="2000" dirty="0"/>
              <a:t>Results reported in [Nil999] show that threshold values above six relate to little additional coverage area being reached. </a:t>
            </a:r>
          </a:p>
          <a:p>
            <a:pPr marL="342900" indent="-342900">
              <a:buFont typeface="Arial" panose="020B0604020202020204" pitchFamily="34" charset="0"/>
              <a:buChar char="•"/>
            </a:pPr>
            <a:r>
              <a:rPr lang="en-US" sz="2000" dirty="0"/>
              <a:t>The overriding features of the counter-based scheme are its simplicity and its inherent adaptability to local topologies. </a:t>
            </a:r>
          </a:p>
          <a:p>
            <a:pPr marL="342900" indent="-342900">
              <a:buFont typeface="Arial" panose="020B0604020202020204" pitchFamily="34" charset="0"/>
              <a:buChar char="•"/>
            </a:pPr>
            <a:r>
              <a:rPr lang="en-US" sz="2000" dirty="0"/>
              <a:t>In other words, in a dense area of the network some nodes will not rebroadcast, whereas in sparse areas of the network all nodes will likely rebroadcast.</a:t>
            </a:r>
            <a:endParaRPr lang="en-IN" sz="2000" dirty="0"/>
          </a:p>
        </p:txBody>
      </p:sp>
    </p:spTree>
    <p:extLst>
      <p:ext uri="{BB962C8B-B14F-4D97-AF65-F5344CB8AC3E}">
        <p14:creationId xmlns:p14="http://schemas.microsoft.com/office/powerpoint/2010/main" val="2992585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347177-6DC7-412A-8638-910DB2514B07}"/>
              </a:ext>
            </a:extLst>
          </p:cNvPr>
          <p:cNvSpPr/>
          <p:nvPr/>
        </p:nvSpPr>
        <p:spPr>
          <a:xfrm>
            <a:off x="2428366" y="339365"/>
            <a:ext cx="5092484" cy="769441"/>
          </a:xfrm>
          <a:prstGeom prst="rect">
            <a:avLst/>
          </a:prstGeom>
        </p:spPr>
        <p:txBody>
          <a:bodyPr wrap="none">
            <a:spAutoFit/>
          </a:bodyPr>
          <a:lstStyle/>
          <a:p>
            <a:r>
              <a:rPr lang="en-IN" sz="4400" dirty="0"/>
              <a:t>Area-Based Methods</a:t>
            </a:r>
          </a:p>
        </p:txBody>
      </p:sp>
      <p:sp>
        <p:nvSpPr>
          <p:cNvPr id="3" name="Rectangle 2">
            <a:extLst>
              <a:ext uri="{FF2B5EF4-FFF2-40B4-BE49-F238E27FC236}">
                <a16:creationId xmlns:a16="http://schemas.microsoft.com/office/drawing/2014/main" id="{185C75FA-DD91-45B0-A3CA-3E6B6C0BC527}"/>
              </a:ext>
            </a:extLst>
          </p:cNvPr>
          <p:cNvSpPr/>
          <p:nvPr/>
        </p:nvSpPr>
        <p:spPr>
          <a:xfrm>
            <a:off x="857840" y="1857157"/>
            <a:ext cx="10256362" cy="2862322"/>
          </a:xfrm>
          <a:prstGeom prst="rect">
            <a:avLst/>
          </a:prstGeom>
        </p:spPr>
        <p:txBody>
          <a:bodyPr wrap="square">
            <a:spAutoFit/>
          </a:bodyPr>
          <a:lstStyle/>
          <a:p>
            <a:pPr marL="342900" indent="-342900">
              <a:buFont typeface="Arial" panose="020B0604020202020204" pitchFamily="34" charset="0"/>
              <a:buChar char="•"/>
            </a:pPr>
            <a:r>
              <a:rPr lang="en-US" sz="2000" dirty="0"/>
              <a:t>Suppose a node receives a packet from a sender that is located only one meter away. If the receiving node rebroadcasts, the additional area covered by the retransmission is quite low.</a:t>
            </a:r>
          </a:p>
          <a:p>
            <a:pPr marL="342900" indent="-342900">
              <a:buFont typeface="Arial" panose="020B0604020202020204" pitchFamily="34" charset="0"/>
              <a:buChar char="•"/>
            </a:pPr>
            <a:r>
              <a:rPr lang="en-US" sz="2000" dirty="0"/>
              <a:t>On the other hand, if a node is located at the boundary of the sender's radio coverage, then a rebroadcast would provide significant additional coverage area (to be more precise, up to 61% as we have seen earlier). </a:t>
            </a:r>
          </a:p>
          <a:p>
            <a:pPr marL="342900" indent="-342900">
              <a:buFont typeface="Arial" panose="020B0604020202020204" pitchFamily="34" charset="0"/>
              <a:buChar char="•"/>
            </a:pPr>
            <a:r>
              <a:rPr lang="en-US" sz="2000" dirty="0"/>
              <a:t>A node using an area based method can try to estimate the additional coverage area based on all received redundant transmissions. </a:t>
            </a:r>
          </a:p>
          <a:p>
            <a:pPr marL="342900" indent="-342900">
              <a:buFont typeface="Arial" panose="020B0604020202020204" pitchFamily="34" charset="0"/>
              <a:buChar char="•"/>
            </a:pPr>
            <a:r>
              <a:rPr lang="en-US" sz="2000" dirty="0"/>
              <a:t>We note that area-based methods only consider the coverage area of a transmission; while they do not consider the presence of nodes within this area.</a:t>
            </a:r>
            <a:endParaRPr lang="en-IN" sz="2000" dirty="0"/>
          </a:p>
        </p:txBody>
      </p:sp>
    </p:spTree>
    <p:extLst>
      <p:ext uri="{BB962C8B-B14F-4D97-AF65-F5344CB8AC3E}">
        <p14:creationId xmlns:p14="http://schemas.microsoft.com/office/powerpoint/2010/main" val="2335956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C2227B-D6F2-4C6D-9822-2202425F79FD}"/>
              </a:ext>
            </a:extLst>
          </p:cNvPr>
          <p:cNvSpPr/>
          <p:nvPr/>
        </p:nvSpPr>
        <p:spPr>
          <a:xfrm>
            <a:off x="2570074" y="227756"/>
            <a:ext cx="5629683" cy="769441"/>
          </a:xfrm>
          <a:prstGeom prst="rect">
            <a:avLst/>
          </a:prstGeom>
        </p:spPr>
        <p:txBody>
          <a:bodyPr wrap="none">
            <a:spAutoFit/>
          </a:bodyPr>
          <a:lstStyle/>
          <a:p>
            <a:r>
              <a:rPr lang="en-IN" sz="4400" dirty="0"/>
              <a:t>Distance-Based Scheme</a:t>
            </a:r>
          </a:p>
        </p:txBody>
      </p:sp>
      <p:sp>
        <p:nvSpPr>
          <p:cNvPr id="3" name="Rectangle 2">
            <a:extLst>
              <a:ext uri="{FF2B5EF4-FFF2-40B4-BE49-F238E27FC236}">
                <a16:creationId xmlns:a16="http://schemas.microsoft.com/office/drawing/2014/main" id="{D0396272-D492-499D-AB8D-C0BCC1DA7280}"/>
              </a:ext>
            </a:extLst>
          </p:cNvPr>
          <p:cNvSpPr/>
          <p:nvPr/>
        </p:nvSpPr>
        <p:spPr>
          <a:xfrm>
            <a:off x="0" y="1728057"/>
            <a:ext cx="11745798" cy="1938992"/>
          </a:xfrm>
          <a:prstGeom prst="rect">
            <a:avLst/>
          </a:prstGeom>
        </p:spPr>
        <p:txBody>
          <a:bodyPr wrap="square">
            <a:spAutoFit/>
          </a:bodyPr>
          <a:lstStyle/>
          <a:p>
            <a:pPr marL="457200" indent="-457200" algn="just">
              <a:buFont typeface="Arial" panose="020B0604020202020204" pitchFamily="34" charset="0"/>
              <a:buChar char="•"/>
            </a:pPr>
            <a:r>
              <a:rPr lang="en-US" sz="2000" dirty="0"/>
              <a:t>A node using the distance-based scheme compares the distance (e.g., through received signal strength indicator) between itself and each of its neighbor nodes that has previously rebroadcast a given packet. </a:t>
            </a:r>
          </a:p>
          <a:p>
            <a:pPr marL="457200" indent="-457200" algn="just">
              <a:buFont typeface="Arial" panose="020B0604020202020204" pitchFamily="34" charset="0"/>
              <a:buChar char="•"/>
            </a:pPr>
            <a:r>
              <a:rPr lang="en-US" sz="2000" dirty="0"/>
              <a:t>Upon reception of a previously unseen packet, a RDT is initiated and redundant packets are cached. </a:t>
            </a:r>
          </a:p>
          <a:p>
            <a:pPr marL="457200" indent="-457200" algn="just">
              <a:buFont typeface="Arial" panose="020B0604020202020204" pitchFamily="34" charset="0"/>
              <a:buChar char="•"/>
            </a:pPr>
            <a:r>
              <a:rPr lang="en-US" sz="2000" dirty="0"/>
              <a:t>When the RDT expires, all source node locations are examined to determine if the distance between itself and any of its neighbor nodes is closer than a threshold distance value. If true, the node does not rebroadcast. </a:t>
            </a:r>
            <a:endParaRPr lang="en-IN" sz="2000" dirty="0"/>
          </a:p>
        </p:txBody>
      </p:sp>
    </p:spTree>
    <p:extLst>
      <p:ext uri="{BB962C8B-B14F-4D97-AF65-F5344CB8AC3E}">
        <p14:creationId xmlns:p14="http://schemas.microsoft.com/office/powerpoint/2010/main" val="1457292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521EA2-0743-453C-8D99-23FF5CCB9201}"/>
              </a:ext>
            </a:extLst>
          </p:cNvPr>
          <p:cNvSpPr/>
          <p:nvPr/>
        </p:nvSpPr>
        <p:spPr>
          <a:xfrm>
            <a:off x="2864836" y="452486"/>
            <a:ext cx="5116144" cy="707886"/>
          </a:xfrm>
          <a:prstGeom prst="rect">
            <a:avLst/>
          </a:prstGeom>
        </p:spPr>
        <p:txBody>
          <a:bodyPr wrap="none">
            <a:spAutoFit/>
          </a:bodyPr>
          <a:lstStyle/>
          <a:p>
            <a:r>
              <a:rPr lang="en-IN" sz="4000" dirty="0"/>
              <a:t>Location-Based Scheme</a:t>
            </a:r>
          </a:p>
        </p:txBody>
      </p:sp>
      <p:sp>
        <p:nvSpPr>
          <p:cNvPr id="3" name="Rectangle 2">
            <a:extLst>
              <a:ext uri="{FF2B5EF4-FFF2-40B4-BE49-F238E27FC236}">
                <a16:creationId xmlns:a16="http://schemas.microsoft.com/office/drawing/2014/main" id="{DC5F1DDC-6312-426B-AAD7-558339A95E89}"/>
              </a:ext>
            </a:extLst>
          </p:cNvPr>
          <p:cNvSpPr/>
          <p:nvPr/>
        </p:nvSpPr>
        <p:spPr>
          <a:xfrm>
            <a:off x="471341" y="1839048"/>
            <a:ext cx="10397765" cy="4093428"/>
          </a:xfrm>
          <a:prstGeom prst="rect">
            <a:avLst/>
          </a:prstGeom>
        </p:spPr>
        <p:txBody>
          <a:bodyPr wrap="square">
            <a:spAutoFit/>
          </a:bodyPr>
          <a:lstStyle/>
          <a:p>
            <a:pPr marL="342900" indent="-342900">
              <a:buFont typeface="Arial" panose="020B0604020202020204" pitchFamily="34" charset="0"/>
              <a:buChar char="•"/>
            </a:pPr>
            <a:r>
              <a:rPr lang="en-US" sz="2000" dirty="0"/>
              <a:t>In this method, each node must have the means to determine its own location (e.g., through GPS). </a:t>
            </a:r>
          </a:p>
          <a:p>
            <a:pPr marL="342900" indent="-342900">
              <a:buFont typeface="Arial" panose="020B0604020202020204" pitchFamily="34" charset="0"/>
              <a:buChar char="•"/>
            </a:pPr>
            <a:r>
              <a:rPr lang="en-US" sz="2000" dirty="0"/>
              <a:t>Whenever a node originates or rebroadcasts a packet, it adds its own location to the header of the packet. </a:t>
            </a:r>
          </a:p>
          <a:p>
            <a:pPr marL="342900" indent="-342900">
              <a:buFont typeface="Arial" panose="020B0604020202020204" pitchFamily="34" charset="0"/>
              <a:buChar char="•"/>
            </a:pPr>
            <a:r>
              <a:rPr lang="en-US" sz="2000" dirty="0"/>
              <a:t>When a node initially receives a packet, it notes the location of the sender and calculates the additional coverage area obtainable were it to rebroadcast.</a:t>
            </a:r>
          </a:p>
          <a:p>
            <a:pPr marL="342900" indent="-342900">
              <a:buFont typeface="Arial" panose="020B0604020202020204" pitchFamily="34" charset="0"/>
              <a:buChar char="•"/>
            </a:pPr>
            <a:r>
              <a:rPr lang="en-US" sz="2000" dirty="0"/>
              <a:t>If the additional area is less than a threshold value, the node does not rebroadcast and all future receptions of the same packet are ignored. </a:t>
            </a:r>
          </a:p>
          <a:p>
            <a:pPr marL="342900" indent="-342900">
              <a:buFont typeface="Arial" panose="020B0604020202020204" pitchFamily="34" charset="0"/>
              <a:buChar char="•"/>
            </a:pPr>
            <a:r>
              <a:rPr lang="en-US" sz="2000" dirty="0"/>
              <a:t>Otherwise, the node assigns a RDT before transmission. If the node receives a redundant packet during the RDT, it recalculates the additional coverage area and compares that value with the threshold. </a:t>
            </a:r>
          </a:p>
          <a:p>
            <a:pPr marL="342900" indent="-342900">
              <a:buFont typeface="Arial" panose="020B0604020202020204" pitchFamily="34" charset="0"/>
              <a:buChar char="•"/>
            </a:pPr>
            <a:r>
              <a:rPr lang="en-US" sz="2000" dirty="0"/>
              <a:t>The area calculation and threshold comparison occur with all redundant broadcasts received, until the packet reaches its scheduled send time, or else it is dropped. </a:t>
            </a:r>
            <a:endParaRPr lang="en-IN" sz="2000" dirty="0"/>
          </a:p>
        </p:txBody>
      </p:sp>
    </p:spTree>
    <p:extLst>
      <p:ext uri="{BB962C8B-B14F-4D97-AF65-F5344CB8AC3E}">
        <p14:creationId xmlns:p14="http://schemas.microsoft.com/office/powerpoint/2010/main" val="2988515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3B70ED-1877-43D0-AF6F-4AAE7CE44D5A}"/>
              </a:ext>
            </a:extLst>
          </p:cNvPr>
          <p:cNvSpPr/>
          <p:nvPr/>
        </p:nvSpPr>
        <p:spPr>
          <a:xfrm>
            <a:off x="2000880" y="0"/>
            <a:ext cx="6789679" cy="707886"/>
          </a:xfrm>
          <a:prstGeom prst="rect">
            <a:avLst/>
          </a:prstGeom>
        </p:spPr>
        <p:txBody>
          <a:bodyPr wrap="none">
            <a:spAutoFit/>
          </a:bodyPr>
          <a:lstStyle/>
          <a:p>
            <a:r>
              <a:rPr lang="en-IN" sz="4000" dirty="0"/>
              <a:t>Neighbour Knowledge Methods</a:t>
            </a:r>
          </a:p>
        </p:txBody>
      </p:sp>
      <p:sp>
        <p:nvSpPr>
          <p:cNvPr id="3" name="Rectangle 2">
            <a:extLst>
              <a:ext uri="{FF2B5EF4-FFF2-40B4-BE49-F238E27FC236}">
                <a16:creationId xmlns:a16="http://schemas.microsoft.com/office/drawing/2014/main" id="{15D37EB2-913D-4B10-B02F-C29BF555FDBA}"/>
              </a:ext>
            </a:extLst>
          </p:cNvPr>
          <p:cNvSpPr/>
          <p:nvPr/>
        </p:nvSpPr>
        <p:spPr>
          <a:xfrm>
            <a:off x="2269037" y="1305571"/>
            <a:ext cx="5957420" cy="584775"/>
          </a:xfrm>
          <a:prstGeom prst="rect">
            <a:avLst/>
          </a:prstGeom>
        </p:spPr>
        <p:txBody>
          <a:bodyPr wrap="square">
            <a:spAutoFit/>
          </a:bodyPr>
          <a:lstStyle/>
          <a:p>
            <a:r>
              <a:rPr lang="en-IN" sz="3200" dirty="0"/>
              <a:t>Flooding with Self Pruning</a:t>
            </a:r>
          </a:p>
        </p:txBody>
      </p:sp>
      <p:sp>
        <p:nvSpPr>
          <p:cNvPr id="4" name="Rectangle 3">
            <a:extLst>
              <a:ext uri="{FF2B5EF4-FFF2-40B4-BE49-F238E27FC236}">
                <a16:creationId xmlns:a16="http://schemas.microsoft.com/office/drawing/2014/main" id="{D0FCF7F7-9569-4865-A142-BB24F50382D8}"/>
              </a:ext>
            </a:extLst>
          </p:cNvPr>
          <p:cNvSpPr/>
          <p:nvPr/>
        </p:nvSpPr>
        <p:spPr>
          <a:xfrm>
            <a:off x="972532" y="2488031"/>
            <a:ext cx="10246936" cy="2554545"/>
          </a:xfrm>
          <a:prstGeom prst="rect">
            <a:avLst/>
          </a:prstGeom>
        </p:spPr>
        <p:txBody>
          <a:bodyPr wrap="square">
            <a:spAutoFit/>
          </a:bodyPr>
          <a:lstStyle/>
          <a:p>
            <a:pPr marL="342900" indent="-342900">
              <a:buFont typeface="Arial" panose="020B0604020202020204" pitchFamily="34" charset="0"/>
              <a:buChar char="•"/>
            </a:pPr>
            <a:r>
              <a:rPr lang="en-US" sz="2000" dirty="0"/>
              <a:t>The simplest form of the neighbor knowledge methods is referred to as flooding with self pruning [Lim2000]. </a:t>
            </a:r>
          </a:p>
          <a:p>
            <a:pPr marL="342900" indent="-342900">
              <a:buFont typeface="Arial" panose="020B0604020202020204" pitchFamily="34" charset="0"/>
              <a:buChar char="•"/>
            </a:pPr>
            <a:r>
              <a:rPr lang="en-US" sz="2000" dirty="0"/>
              <a:t>This protocol requires that each node have knowledge of its one-hop neighbors, which is obtained via periodic hello packets. </a:t>
            </a:r>
          </a:p>
          <a:p>
            <a:pPr marL="342900" indent="-342900">
              <a:buFont typeface="Arial" panose="020B0604020202020204" pitchFamily="34" charset="0"/>
              <a:buChar char="•"/>
            </a:pPr>
            <a:r>
              <a:rPr lang="en-US" sz="2000" dirty="0"/>
              <a:t>A node includes its list of known neighbors in the header of each broadcast packet. A node upon receiving a broadcast packet compares its neighbor list to the sender's neighbor list. </a:t>
            </a:r>
          </a:p>
          <a:p>
            <a:pPr marL="342900" indent="-342900">
              <a:buFont typeface="Arial" panose="020B0604020202020204" pitchFamily="34" charset="0"/>
              <a:buChar char="•"/>
            </a:pPr>
            <a:r>
              <a:rPr lang="en-US" sz="2000" dirty="0"/>
              <a:t>If the receiving node would not reach any additional nodes, it refrains from rebroadcasting the packet. Otherwise, the node rebroadcasts the packet.</a:t>
            </a:r>
            <a:endParaRPr lang="en-IN" sz="2000" dirty="0"/>
          </a:p>
        </p:txBody>
      </p:sp>
    </p:spTree>
    <p:extLst>
      <p:ext uri="{BB962C8B-B14F-4D97-AF65-F5344CB8AC3E}">
        <p14:creationId xmlns:p14="http://schemas.microsoft.com/office/powerpoint/2010/main" val="630395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EB08A3-A400-4F7E-8A44-812FEC6B01D1}"/>
              </a:ext>
            </a:extLst>
          </p:cNvPr>
          <p:cNvSpPr/>
          <p:nvPr/>
        </p:nvSpPr>
        <p:spPr>
          <a:xfrm>
            <a:off x="1472600" y="330706"/>
            <a:ext cx="184731" cy="769441"/>
          </a:xfrm>
          <a:prstGeom prst="rect">
            <a:avLst/>
          </a:prstGeom>
        </p:spPr>
        <p:txBody>
          <a:bodyPr wrap="none">
            <a:spAutoFit/>
          </a:bodyPr>
          <a:lstStyle/>
          <a:p>
            <a:endParaRPr lang="en-IN" sz="4400" b="1" dirty="0"/>
          </a:p>
        </p:txBody>
      </p:sp>
      <p:sp>
        <p:nvSpPr>
          <p:cNvPr id="3" name="Rectangle 2">
            <a:extLst>
              <a:ext uri="{FF2B5EF4-FFF2-40B4-BE49-F238E27FC236}">
                <a16:creationId xmlns:a16="http://schemas.microsoft.com/office/drawing/2014/main" id="{743318AA-82AB-4850-8CFC-73DDB7C32F86}"/>
              </a:ext>
            </a:extLst>
          </p:cNvPr>
          <p:cNvSpPr/>
          <p:nvPr/>
        </p:nvSpPr>
        <p:spPr>
          <a:xfrm>
            <a:off x="1000135" y="1787535"/>
            <a:ext cx="10387444" cy="4708981"/>
          </a:xfrm>
          <a:prstGeom prst="rect">
            <a:avLst/>
          </a:prstGeom>
        </p:spPr>
        <p:txBody>
          <a:bodyPr wrap="square">
            <a:spAutoFit/>
          </a:bodyPr>
          <a:lstStyle/>
          <a:p>
            <a:pPr marL="342900" indent="-342900">
              <a:buFont typeface="Arial" panose="020B0604020202020204" pitchFamily="34" charset="0"/>
              <a:buChar char="•"/>
            </a:pPr>
            <a:r>
              <a:rPr lang="en-US" sz="2000" dirty="0"/>
              <a:t>The Scalable Broadcast Algorithm (SBA) [Peng2000] requires that all nodes have knowledge of their neighbors within a two-hop radius. </a:t>
            </a:r>
          </a:p>
          <a:p>
            <a:pPr marL="342900" indent="-342900">
              <a:buFont typeface="Arial" panose="020B0604020202020204" pitchFamily="34" charset="0"/>
              <a:buChar char="•"/>
            </a:pPr>
            <a:r>
              <a:rPr lang="en-US" sz="2000" dirty="0"/>
              <a:t>This neighbor knowledge coupled with the identity of the node from which a packet is received, allows a receiving node to determine if it would reach additional nodes by rebroadcasting. </a:t>
            </a:r>
          </a:p>
          <a:p>
            <a:pPr marL="342900" indent="-342900">
              <a:buFont typeface="Arial" panose="020B0604020202020204" pitchFamily="34" charset="0"/>
              <a:buChar char="•"/>
            </a:pPr>
            <a:r>
              <a:rPr lang="en-US" sz="2000" dirty="0"/>
              <a:t>Two-hop neighbor knowledge is achievable via periodic hello packets; where each hello packet contains the source node's identifier (IP address) and the list of known neighbors.</a:t>
            </a:r>
          </a:p>
          <a:p>
            <a:pPr marL="342900" indent="-342900">
              <a:buFont typeface="Arial" panose="020B0604020202020204" pitchFamily="34" charset="0"/>
              <a:buChar char="•"/>
            </a:pPr>
            <a:r>
              <a:rPr lang="en-US" sz="2000" dirty="0"/>
              <a:t>suppose a node B receives a broadcast data packet from node A. Since node A is a neighbor, node B can easily determine all the nodes which are simultaneously neighbor to both nodes A and B. </a:t>
            </a:r>
          </a:p>
          <a:p>
            <a:pPr marL="342900" indent="-342900">
              <a:buFont typeface="Arial" panose="020B0604020202020204" pitchFamily="34" charset="0"/>
              <a:buChar char="•"/>
            </a:pPr>
            <a:r>
              <a:rPr lang="en-US" sz="2000" dirty="0"/>
              <a:t>This is done by comparing the list of neighbors of node A contained in the broadcast packet, with node B's neighbor list. </a:t>
            </a:r>
          </a:p>
          <a:p>
            <a:pPr marL="342900" indent="-342900">
              <a:buFont typeface="Arial" panose="020B0604020202020204" pitchFamily="34" charset="0"/>
              <a:buChar char="•"/>
            </a:pPr>
            <a:r>
              <a:rPr lang="en-US" sz="2000" dirty="0"/>
              <a:t>If node B determines that its broadcast will cover additional neighbors not reached by node A's broadcast, node B schedules the packet for transmission with a RDT. If, in the meantime, node B receives a redundant broadcast packet from any another neighbor, node B again determines if it can reach any new nodes by rebroadcasting. </a:t>
            </a:r>
            <a:endParaRPr lang="en-IN" sz="2000" dirty="0"/>
          </a:p>
        </p:txBody>
      </p:sp>
      <p:sp>
        <p:nvSpPr>
          <p:cNvPr id="4" name="Rectangle 3">
            <a:extLst>
              <a:ext uri="{FF2B5EF4-FFF2-40B4-BE49-F238E27FC236}">
                <a16:creationId xmlns:a16="http://schemas.microsoft.com/office/drawing/2014/main" id="{B4C305EB-E31F-4487-BB6B-40B237381B5E}"/>
              </a:ext>
            </a:extLst>
          </p:cNvPr>
          <p:cNvSpPr/>
          <p:nvPr/>
        </p:nvSpPr>
        <p:spPr>
          <a:xfrm>
            <a:off x="1657331" y="521333"/>
            <a:ext cx="7739108" cy="707886"/>
          </a:xfrm>
          <a:prstGeom prst="rect">
            <a:avLst/>
          </a:prstGeom>
        </p:spPr>
        <p:txBody>
          <a:bodyPr wrap="square">
            <a:spAutoFit/>
          </a:bodyPr>
          <a:lstStyle/>
          <a:p>
            <a:r>
              <a:rPr lang="en-IN" sz="4000" dirty="0"/>
              <a:t>Scalable Broadcast Algorithm (SBA)</a:t>
            </a:r>
          </a:p>
        </p:txBody>
      </p:sp>
    </p:spTree>
    <p:extLst>
      <p:ext uri="{BB962C8B-B14F-4D97-AF65-F5344CB8AC3E}">
        <p14:creationId xmlns:p14="http://schemas.microsoft.com/office/powerpoint/2010/main" val="2107961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4F5A8F-76E0-4BF6-8284-83B56A1DEC31}"/>
              </a:ext>
            </a:extLst>
          </p:cNvPr>
          <p:cNvPicPr>
            <a:picLocks noChangeAspect="1"/>
          </p:cNvPicPr>
          <p:nvPr/>
        </p:nvPicPr>
        <p:blipFill>
          <a:blip r:embed="rId2"/>
          <a:stretch>
            <a:fillRect/>
          </a:stretch>
        </p:blipFill>
        <p:spPr>
          <a:xfrm>
            <a:off x="2363597" y="2898278"/>
            <a:ext cx="2552480" cy="910615"/>
          </a:xfrm>
          <a:prstGeom prst="rect">
            <a:avLst/>
          </a:prstGeom>
        </p:spPr>
      </p:pic>
      <p:sp>
        <p:nvSpPr>
          <p:cNvPr id="3" name="Rectangle 2">
            <a:extLst>
              <a:ext uri="{FF2B5EF4-FFF2-40B4-BE49-F238E27FC236}">
                <a16:creationId xmlns:a16="http://schemas.microsoft.com/office/drawing/2014/main" id="{9E842C84-D084-4BED-8B0A-703168A56FDB}"/>
              </a:ext>
            </a:extLst>
          </p:cNvPr>
          <p:cNvSpPr/>
          <p:nvPr/>
        </p:nvSpPr>
        <p:spPr>
          <a:xfrm>
            <a:off x="499620" y="263951"/>
            <a:ext cx="10595728" cy="2246769"/>
          </a:xfrm>
          <a:prstGeom prst="rect">
            <a:avLst/>
          </a:prstGeom>
        </p:spPr>
        <p:txBody>
          <a:bodyPr wrap="square">
            <a:spAutoFit/>
          </a:bodyPr>
          <a:lstStyle/>
          <a:p>
            <a:pPr marL="342900" indent="-342900">
              <a:buFont typeface="Arial" panose="020B0604020202020204" pitchFamily="34" charset="0"/>
              <a:buChar char="•"/>
            </a:pPr>
            <a:r>
              <a:rPr lang="en-US" sz="2000" dirty="0"/>
              <a:t>This process continues until either the RDT expires and the packet is sent, or the packet is dropped. </a:t>
            </a:r>
          </a:p>
          <a:p>
            <a:pPr marL="342900" indent="-342900">
              <a:buFont typeface="Arial" panose="020B0604020202020204" pitchFamily="34" charset="0"/>
              <a:buChar char="•"/>
            </a:pPr>
            <a:r>
              <a:rPr lang="en-US" sz="2000" dirty="0"/>
              <a:t>A method to dynamically adjust the RDT to network conditions is proposed in [Peng2000], where the RDT is calculated based on a node's relative neighbor degree.</a:t>
            </a:r>
          </a:p>
          <a:p>
            <a:pPr marL="342900" indent="-342900">
              <a:buFont typeface="Arial" panose="020B0604020202020204" pitchFamily="34" charset="0"/>
              <a:buChar char="•"/>
            </a:pPr>
            <a:r>
              <a:rPr lang="en-US" sz="2000" dirty="0"/>
              <a:t>Specifically, each node searches its neighbor tables for the maximum neighbor degree of any neighbor node, say, </a:t>
            </a:r>
            <a:r>
              <a:rPr lang="en-US" sz="2000" dirty="0" err="1"/>
              <a:t>dNmax</a:t>
            </a:r>
            <a:r>
              <a:rPr lang="en-US" sz="2000" dirty="0"/>
              <a:t>, which can be obtained from the neighbors' broadcast packets. It then calculates a RDT based on the ratio of.</a:t>
            </a:r>
            <a:endParaRPr lang="en-IN" sz="2000" dirty="0"/>
          </a:p>
        </p:txBody>
      </p:sp>
      <p:sp>
        <p:nvSpPr>
          <p:cNvPr id="4" name="Rectangle 3">
            <a:extLst>
              <a:ext uri="{FF2B5EF4-FFF2-40B4-BE49-F238E27FC236}">
                <a16:creationId xmlns:a16="http://schemas.microsoft.com/office/drawing/2014/main" id="{C034B872-43DC-4BE4-9A83-1932B4AD221E}"/>
              </a:ext>
            </a:extLst>
          </p:cNvPr>
          <p:cNvSpPr/>
          <p:nvPr/>
        </p:nvSpPr>
        <p:spPr>
          <a:xfrm>
            <a:off x="499619" y="4347281"/>
            <a:ext cx="10812545" cy="1015663"/>
          </a:xfrm>
          <a:prstGeom prst="rect">
            <a:avLst/>
          </a:prstGeom>
        </p:spPr>
        <p:txBody>
          <a:bodyPr wrap="square">
            <a:spAutoFit/>
          </a:bodyPr>
          <a:lstStyle/>
          <a:p>
            <a:r>
              <a:rPr lang="en-US" sz="2000" dirty="0"/>
              <a:t>where </a:t>
            </a:r>
            <a:r>
              <a:rPr lang="en-US" sz="2000" dirty="0" err="1"/>
              <a:t>dme</a:t>
            </a:r>
            <a:r>
              <a:rPr lang="en-US" sz="2000" dirty="0"/>
              <a:t> is the number of current neighbors for the node. </a:t>
            </a:r>
          </a:p>
          <a:p>
            <a:pPr marL="342900" indent="-342900">
              <a:buFont typeface="Arial" panose="020B0604020202020204" pitchFamily="34" charset="0"/>
              <a:buChar char="•"/>
            </a:pPr>
            <a:r>
              <a:rPr lang="en-US" sz="2000" dirty="0"/>
              <a:t>We note that this weighing scheme is greedy, as nodes with the largest number of neighbors usually broadcast before the others (smaller RDT). </a:t>
            </a:r>
            <a:endParaRPr lang="en-IN" sz="2000" dirty="0"/>
          </a:p>
        </p:txBody>
      </p:sp>
    </p:spTree>
    <p:extLst>
      <p:ext uri="{BB962C8B-B14F-4D97-AF65-F5344CB8AC3E}">
        <p14:creationId xmlns:p14="http://schemas.microsoft.com/office/powerpoint/2010/main" val="3791948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3EF862-F5A5-4E8F-A5B6-7A8D345CF551}"/>
              </a:ext>
            </a:extLst>
          </p:cNvPr>
          <p:cNvSpPr/>
          <p:nvPr/>
        </p:nvSpPr>
        <p:spPr>
          <a:xfrm>
            <a:off x="2630079" y="397439"/>
            <a:ext cx="5448692" cy="769441"/>
          </a:xfrm>
          <a:prstGeom prst="rect">
            <a:avLst/>
          </a:prstGeom>
        </p:spPr>
        <p:txBody>
          <a:bodyPr wrap="square">
            <a:spAutoFit/>
          </a:bodyPr>
          <a:lstStyle/>
          <a:p>
            <a:pPr algn="ctr"/>
            <a:r>
              <a:rPr lang="en-IN" sz="4400" dirty="0"/>
              <a:t>Dominant Pruning </a:t>
            </a:r>
          </a:p>
        </p:txBody>
      </p:sp>
      <p:sp>
        <p:nvSpPr>
          <p:cNvPr id="3" name="Rectangle 2">
            <a:extLst>
              <a:ext uri="{FF2B5EF4-FFF2-40B4-BE49-F238E27FC236}">
                <a16:creationId xmlns:a16="http://schemas.microsoft.com/office/drawing/2014/main" id="{F0D0B670-AE6A-4BC0-A237-B4B9B3EF3A97}"/>
              </a:ext>
            </a:extLst>
          </p:cNvPr>
          <p:cNvSpPr/>
          <p:nvPr/>
        </p:nvSpPr>
        <p:spPr>
          <a:xfrm>
            <a:off x="697583" y="1949986"/>
            <a:ext cx="9973559" cy="3477875"/>
          </a:xfrm>
          <a:prstGeom prst="rect">
            <a:avLst/>
          </a:prstGeom>
        </p:spPr>
        <p:txBody>
          <a:bodyPr wrap="square">
            <a:spAutoFit/>
          </a:bodyPr>
          <a:lstStyle/>
          <a:p>
            <a:pPr marL="342900" indent="-342900">
              <a:buFont typeface="Arial" panose="020B0604020202020204" pitchFamily="34" charset="0"/>
              <a:buChar char="•"/>
            </a:pPr>
            <a:r>
              <a:rPr lang="en-US" sz="2000" dirty="0"/>
              <a:t>Dominant pruning also uses two-hop neighbor knowledge, obtained via hello packets, for routing decisions [Lim2000]. </a:t>
            </a:r>
          </a:p>
          <a:p>
            <a:pPr marL="342900" indent="-342900">
              <a:buFont typeface="Arial" panose="020B0604020202020204" pitchFamily="34" charset="0"/>
              <a:buChar char="•"/>
            </a:pPr>
            <a:r>
              <a:rPr lang="en-US" sz="2000" dirty="0"/>
              <a:t>Unlike SBA, however, dominant pruning requires rebroadcasting nodes to proactively choose some or all of its one-hop neighbors as rebroadcasting nodes. </a:t>
            </a:r>
          </a:p>
          <a:p>
            <a:pPr marL="342900" indent="-342900">
              <a:buFont typeface="Arial" panose="020B0604020202020204" pitchFamily="34" charset="0"/>
              <a:buChar char="•"/>
            </a:pPr>
            <a:r>
              <a:rPr lang="en-US" sz="2000" dirty="0"/>
              <a:t>Whenever a node receives a broadcast packet, it checks the header to see if its address is a part of the list. If so, it now has to determine which of its neighbors should rebroadcast its packet so as to include them in the packet header. </a:t>
            </a:r>
          </a:p>
          <a:p>
            <a:pPr marL="342900" indent="-342900">
              <a:buFont typeface="Arial" panose="020B0604020202020204" pitchFamily="34" charset="0"/>
              <a:buChar char="•"/>
            </a:pPr>
            <a:r>
              <a:rPr lang="en-US" sz="2000" dirty="0"/>
              <a:t>For that, it uses a Greedy Set Cover algorithm given the knowledge of which neighbors have already been covered by the sender's broadcast. </a:t>
            </a:r>
          </a:p>
          <a:p>
            <a:pPr marL="342900" indent="-342900">
              <a:buFont typeface="Arial" panose="020B0604020202020204" pitchFamily="34" charset="0"/>
              <a:buChar char="•"/>
            </a:pPr>
            <a:r>
              <a:rPr lang="en-US" sz="2000" dirty="0"/>
              <a:t>One such algorithm [Lim2000] recursively chooses one-hop neighbors that cover all of two-hop neighbors.</a:t>
            </a:r>
            <a:endParaRPr lang="en-IN" sz="2000" dirty="0"/>
          </a:p>
        </p:txBody>
      </p:sp>
    </p:spTree>
    <p:extLst>
      <p:ext uri="{BB962C8B-B14F-4D97-AF65-F5344CB8AC3E}">
        <p14:creationId xmlns:p14="http://schemas.microsoft.com/office/powerpoint/2010/main" val="220303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533C28B-9248-41C5-B705-91AB9645A69E}"/>
              </a:ext>
            </a:extLst>
          </p:cNvPr>
          <p:cNvSpPr/>
          <p:nvPr/>
        </p:nvSpPr>
        <p:spPr>
          <a:xfrm>
            <a:off x="3374797" y="350305"/>
            <a:ext cx="4872655" cy="769441"/>
          </a:xfrm>
          <a:prstGeom prst="rect">
            <a:avLst/>
          </a:prstGeom>
        </p:spPr>
        <p:txBody>
          <a:bodyPr wrap="square">
            <a:spAutoFit/>
          </a:bodyPr>
          <a:lstStyle/>
          <a:p>
            <a:r>
              <a:rPr lang="en-IN" sz="4400" dirty="0"/>
              <a:t>Multipoint Relaying </a:t>
            </a:r>
          </a:p>
        </p:txBody>
      </p:sp>
      <p:sp>
        <p:nvSpPr>
          <p:cNvPr id="4" name="Rectangle 3">
            <a:extLst>
              <a:ext uri="{FF2B5EF4-FFF2-40B4-BE49-F238E27FC236}">
                <a16:creationId xmlns:a16="http://schemas.microsoft.com/office/drawing/2014/main" id="{B193B35E-5588-4E23-AFB3-ACED84845F73}"/>
              </a:ext>
            </a:extLst>
          </p:cNvPr>
          <p:cNvSpPr/>
          <p:nvPr/>
        </p:nvSpPr>
        <p:spPr>
          <a:xfrm>
            <a:off x="416351" y="1327818"/>
            <a:ext cx="11359298" cy="5324535"/>
          </a:xfrm>
          <a:prstGeom prst="rect">
            <a:avLst/>
          </a:prstGeom>
        </p:spPr>
        <p:txBody>
          <a:bodyPr wrap="square">
            <a:spAutoFit/>
          </a:bodyPr>
          <a:lstStyle/>
          <a:p>
            <a:pPr marL="342900" indent="-342900">
              <a:buFont typeface="Arial" panose="020B0604020202020204" pitchFamily="34" charset="0"/>
              <a:buChar char="•"/>
            </a:pPr>
            <a:r>
              <a:rPr lang="en-US" sz="2000" dirty="0"/>
              <a:t>Multipoint relaying [Qayyum2000] is similar to Dominant Pruning in that rebroadcasting nodes are explicitly chosen by upstream senders. </a:t>
            </a:r>
          </a:p>
          <a:p>
            <a:pPr marL="342900" indent="-342900">
              <a:buFont typeface="Arial" panose="020B0604020202020204" pitchFamily="34" charset="0"/>
              <a:buChar char="•"/>
            </a:pPr>
            <a:r>
              <a:rPr lang="en-US" sz="2000" dirty="0"/>
              <a:t>For example, say node A originates a broadcast packet. It has previously selected some, or in certain cases, all of its one-hop neighbors to rebroadcast all packets they receive from node A. The chosen nodes are called Multipoint Relays (MPRs) and each MPR is required to choose a subset of its one-hop neighbors as MPRs. </a:t>
            </a:r>
          </a:p>
          <a:p>
            <a:pPr marL="342900" indent="-342900">
              <a:buFont typeface="Arial" panose="020B0604020202020204" pitchFamily="34" charset="0"/>
              <a:buChar char="•"/>
            </a:pPr>
            <a:r>
              <a:rPr lang="en-US" sz="2000" dirty="0"/>
              <a:t>The following algorithm for a node to choose its MPRs is suggested in [Qayyum2000]: </a:t>
            </a:r>
          </a:p>
          <a:p>
            <a:pPr marL="457200" indent="-457200">
              <a:buFont typeface="+mj-lt"/>
              <a:buAutoNum type="arabicPeriod"/>
            </a:pPr>
            <a:r>
              <a:rPr lang="en-US" sz="2000" dirty="0"/>
              <a:t>Find all two-hop neighbors that can only be reached by one one-hop neighbor. Assign those one-hop neighbors as MPRs; </a:t>
            </a:r>
          </a:p>
          <a:p>
            <a:pPr marL="457200" indent="-457200">
              <a:buFont typeface="+mj-lt"/>
              <a:buAutoNum type="arabicPeriod"/>
            </a:pPr>
            <a:r>
              <a:rPr lang="en-US" sz="2000" dirty="0"/>
              <a:t> Determine the resultant cover set (i.e., the set of two-hop neighbors that will receive the packet from the current MPR set); </a:t>
            </a:r>
          </a:p>
          <a:p>
            <a:pPr marL="457200" indent="-457200">
              <a:buFont typeface="+mj-lt"/>
              <a:buAutoNum type="arabicPeriod"/>
            </a:pPr>
            <a:r>
              <a:rPr lang="en-US" sz="2000" dirty="0"/>
              <a:t> From the remaining one-hop neighbors not yet in the MPR set, find the one that would cover the most two-hop neighbors not in the cover set; and </a:t>
            </a:r>
          </a:p>
          <a:p>
            <a:pPr marL="457200" indent="-457200">
              <a:buFont typeface="+mj-lt"/>
              <a:buAutoNum type="arabicPeriod"/>
            </a:pPr>
            <a:r>
              <a:rPr lang="en-US" sz="2000" dirty="0"/>
              <a:t> Repeat from step 2 until all two-hop neighbors are covered. </a:t>
            </a:r>
          </a:p>
          <a:p>
            <a:r>
              <a:rPr lang="en-US" sz="2000" dirty="0"/>
              <a:t>Multipoint relaying is described in detail as part of the OLSR protocol. In OLSR, hello packets include fields for a node to list the MPRs it has chosen. Clearly, the update interval for hello packets must be carefully chosen and, if possible, optimized for given network conditions.</a:t>
            </a:r>
            <a:endParaRPr lang="en-IN" sz="2000" dirty="0"/>
          </a:p>
        </p:txBody>
      </p:sp>
    </p:spTree>
    <p:extLst>
      <p:ext uri="{BB962C8B-B14F-4D97-AF65-F5344CB8AC3E}">
        <p14:creationId xmlns:p14="http://schemas.microsoft.com/office/powerpoint/2010/main" val="1304441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C2C18C-D4B2-4496-A4DD-E4F9DA78F50C}"/>
              </a:ext>
            </a:extLst>
          </p:cNvPr>
          <p:cNvSpPr/>
          <p:nvPr/>
        </p:nvSpPr>
        <p:spPr>
          <a:xfrm>
            <a:off x="2895925" y="237184"/>
            <a:ext cx="6400150" cy="769441"/>
          </a:xfrm>
          <a:prstGeom prst="rect">
            <a:avLst/>
          </a:prstGeom>
        </p:spPr>
        <p:txBody>
          <a:bodyPr wrap="none">
            <a:spAutoFit/>
          </a:bodyPr>
          <a:lstStyle/>
          <a:p>
            <a:r>
              <a:rPr lang="en-IN" sz="4000" dirty="0"/>
              <a:t>Ad</a:t>
            </a:r>
            <a:r>
              <a:rPr lang="en-IN" sz="4400" dirty="0"/>
              <a:t> Hoc Broadcast Protocol </a:t>
            </a:r>
          </a:p>
        </p:txBody>
      </p:sp>
      <p:sp>
        <p:nvSpPr>
          <p:cNvPr id="3" name="Rectangle 2">
            <a:extLst>
              <a:ext uri="{FF2B5EF4-FFF2-40B4-BE49-F238E27FC236}">
                <a16:creationId xmlns:a16="http://schemas.microsoft.com/office/drawing/2014/main" id="{C8BFE726-03BC-498F-B83A-090736AA52D5}"/>
              </a:ext>
            </a:extLst>
          </p:cNvPr>
          <p:cNvSpPr/>
          <p:nvPr/>
        </p:nvSpPr>
        <p:spPr>
          <a:xfrm>
            <a:off x="609600" y="1525099"/>
            <a:ext cx="10972800" cy="5324535"/>
          </a:xfrm>
          <a:prstGeom prst="rect">
            <a:avLst/>
          </a:prstGeom>
        </p:spPr>
        <p:txBody>
          <a:bodyPr wrap="square">
            <a:spAutoFit/>
          </a:bodyPr>
          <a:lstStyle/>
          <a:p>
            <a:pPr marL="342900" indent="-342900">
              <a:buFont typeface="Arial" panose="020B0604020202020204" pitchFamily="34" charset="0"/>
              <a:buChar char="•"/>
            </a:pPr>
            <a:r>
              <a:rPr lang="en-US" sz="2000" dirty="0"/>
              <a:t>The Ad Hoc Broadcast Protocol (AHBP) [Peng2002] utilizes an approach similar to Multipoint Relaying by designating nodes as a Broadcast Relay Gateway (BRG) within a broadcast packet header. </a:t>
            </a:r>
          </a:p>
          <a:p>
            <a:pPr marL="342900" indent="-342900">
              <a:buFont typeface="Arial" panose="020B0604020202020204" pitchFamily="34" charset="0"/>
              <a:buChar char="•"/>
            </a:pPr>
            <a:r>
              <a:rPr lang="en-US" sz="2000" dirty="0"/>
              <a:t>BRGs are proactively chosen from each upstream sender which is a BRG itself. AHBP differs from Multipoint Relaying in three ways: </a:t>
            </a:r>
          </a:p>
          <a:p>
            <a:r>
              <a:rPr lang="en-US" sz="2000" dirty="0"/>
              <a:t>1. A node using AHBP informs one-hop neighbors of the BRG designation by a field in the header of each broadcast packet. This allows a node to calculate the most effective BRG set at the time a broadcast packet is transmitted. In contrast, Multipoint Relaying informs one-hop neighbors of the MPR designation via hello packets; </a:t>
            </a:r>
          </a:p>
          <a:p>
            <a:r>
              <a:rPr lang="en-US" sz="2000" dirty="0"/>
              <a:t>2. In AHBP, when a node receives a broadcast packet and is listed as a BRG, the node uses two-hop neighbor knowledge to determine which neighbors also received the broadcast packet in the same transmission. These neighbors are considered already "covered" and are removed from the neighbor graph used to choose next hop BRGs. In contrast, MPRs are not chosen considering the source route of the broadcast packet; </a:t>
            </a:r>
          </a:p>
          <a:p>
            <a:r>
              <a:rPr lang="en-US" sz="2000" dirty="0"/>
              <a:t>3. AHBP is extended to account for high mobility networks. Suppose node A receives a broadcast packet from node B, and node A does not list node B as a neighbor (i.e., node A and node B have not yet exchanged hello packets). In AHBP-EX (extended AHBP), node A will assume BRG status and rebroadcast the node. Multipoint relaying could be similarly extended.</a:t>
            </a:r>
            <a:endParaRPr lang="en-IN" sz="2000" dirty="0"/>
          </a:p>
        </p:txBody>
      </p:sp>
    </p:spTree>
    <p:extLst>
      <p:ext uri="{BB962C8B-B14F-4D97-AF65-F5344CB8AC3E}">
        <p14:creationId xmlns:p14="http://schemas.microsoft.com/office/powerpoint/2010/main" val="27051123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1B9844-F85A-42D6-AC63-609FD98D4F82}"/>
              </a:ext>
            </a:extLst>
          </p:cNvPr>
          <p:cNvSpPr/>
          <p:nvPr/>
        </p:nvSpPr>
        <p:spPr>
          <a:xfrm>
            <a:off x="825911" y="397439"/>
            <a:ext cx="10500850" cy="646331"/>
          </a:xfrm>
          <a:prstGeom prst="rect">
            <a:avLst/>
          </a:prstGeom>
        </p:spPr>
        <p:txBody>
          <a:bodyPr wrap="square">
            <a:spAutoFit/>
          </a:bodyPr>
          <a:lstStyle/>
          <a:p>
            <a:r>
              <a:rPr lang="en-US" sz="3600" dirty="0"/>
              <a:t>Connected Dominating Set-Based Broadcast Algorithm </a:t>
            </a:r>
            <a:endParaRPr lang="en-IN" sz="3600" dirty="0"/>
          </a:p>
        </p:txBody>
      </p:sp>
      <p:sp>
        <p:nvSpPr>
          <p:cNvPr id="3" name="Rectangle 2">
            <a:extLst>
              <a:ext uri="{FF2B5EF4-FFF2-40B4-BE49-F238E27FC236}">
                <a16:creationId xmlns:a16="http://schemas.microsoft.com/office/drawing/2014/main" id="{A545578C-87CC-4ED3-AD11-700DB3DEFF5F}"/>
              </a:ext>
            </a:extLst>
          </p:cNvPr>
          <p:cNvSpPr/>
          <p:nvPr/>
        </p:nvSpPr>
        <p:spPr>
          <a:xfrm>
            <a:off x="540774" y="1399083"/>
            <a:ext cx="11375923" cy="3170099"/>
          </a:xfrm>
          <a:prstGeom prst="rect">
            <a:avLst/>
          </a:prstGeom>
        </p:spPr>
        <p:txBody>
          <a:bodyPr wrap="square">
            <a:spAutoFit/>
          </a:bodyPr>
          <a:lstStyle/>
          <a:p>
            <a:pPr marL="342900" indent="-342900">
              <a:buFont typeface="Arial" panose="020B0604020202020204" pitchFamily="34" charset="0"/>
              <a:buChar char="•"/>
            </a:pPr>
            <a:r>
              <a:rPr lang="en-US" sz="2000" dirty="0"/>
              <a:t>A more calculation intensive algorithm for selecting BRGs referred to as the Connected Dominating Set (CDS)-Based Broadcast Algorithm is described in [Pengl999] while AHBP only considers the source of the broadcast packet to determine a receiving node's initial cover set, the CDS-Based Broadcast Algorithm also considers the set of higher priority BRGs selected by the previous sender. </a:t>
            </a:r>
          </a:p>
          <a:p>
            <a:pPr marL="342900" indent="-342900">
              <a:buFont typeface="Arial" panose="020B0604020202020204" pitchFamily="34" charset="0"/>
              <a:buChar char="•"/>
            </a:pPr>
            <a:r>
              <a:rPr lang="en-US" sz="2000" dirty="0"/>
              <a:t>Once the initial cover set is determined, a node then chooses the set of neighbors which should function as BRGs. </a:t>
            </a:r>
          </a:p>
          <a:p>
            <a:pPr marL="342900" indent="-342900">
              <a:buFont typeface="Arial" panose="020B0604020202020204" pitchFamily="34" charset="0"/>
              <a:buChar char="•"/>
            </a:pPr>
            <a:r>
              <a:rPr lang="en-US" sz="2000" dirty="0"/>
              <a:t>A generic framework for distributed broadcast schemes in MANETs, has been given in [Wu2004] which employs a dynamic self-pruning technique for changing a gateway node to a non gateway one. Such a dominating-set-based broadcasting approach selects a subset of MHs to forward packets on behalf of other nodes, while all other nodes keep quite</a:t>
            </a:r>
            <a:endParaRPr lang="en-IN" sz="2000" dirty="0"/>
          </a:p>
        </p:txBody>
      </p:sp>
    </p:spTree>
    <p:extLst>
      <p:ext uri="{BB962C8B-B14F-4D97-AF65-F5344CB8AC3E}">
        <p14:creationId xmlns:p14="http://schemas.microsoft.com/office/powerpoint/2010/main" val="120731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37963B-EEC6-4355-850B-4CD426F09FE7}"/>
              </a:ext>
            </a:extLst>
          </p:cNvPr>
          <p:cNvSpPr/>
          <p:nvPr/>
        </p:nvSpPr>
        <p:spPr>
          <a:xfrm>
            <a:off x="942679" y="1166843"/>
            <a:ext cx="10463753" cy="5632311"/>
          </a:xfrm>
          <a:prstGeom prst="rect">
            <a:avLst/>
          </a:prstGeom>
        </p:spPr>
        <p:txBody>
          <a:bodyPr wrap="square">
            <a:spAutoFit/>
          </a:bodyPr>
          <a:lstStyle/>
          <a:p>
            <a:r>
              <a:rPr lang="en-US" sz="2000" dirty="0"/>
              <a:t>A combination of gossiping and dominating set approach has been introduced in [Zhang2005a, Zhang2005b] by dividing MHs into four groups based on local information as follows: </a:t>
            </a:r>
          </a:p>
          <a:p>
            <a:endParaRPr lang="en-US" sz="2000" dirty="0"/>
          </a:p>
          <a:p>
            <a:r>
              <a:rPr lang="en-US" sz="2000" dirty="0"/>
              <a:t>• Group 1: Nodes with degrees larger than the degree of all neighboring nodes, where connectivity represents the number of neighbors within the directed transmitting range of a reference node. </a:t>
            </a:r>
          </a:p>
          <a:p>
            <a:r>
              <a:rPr lang="en-US" sz="2000" dirty="0"/>
              <a:t>• Group 2: Nodes have a majority of neighbors with smaller degree than the reference nodes. </a:t>
            </a:r>
          </a:p>
          <a:p>
            <a:r>
              <a:rPr lang="en-US" sz="2000" dirty="0"/>
              <a:t>• Group 3: Remaining nodes not belonging to groups 1, 2 and 4. </a:t>
            </a:r>
          </a:p>
          <a:p>
            <a:r>
              <a:rPr lang="en-US" sz="2000" dirty="0"/>
              <a:t>• Group 4: Nodes with degrees smaller than all the neighbors. </a:t>
            </a:r>
          </a:p>
          <a:p>
            <a:endParaRPr lang="en-US" sz="2000" dirty="0"/>
          </a:p>
          <a:p>
            <a:pPr marL="342900" indent="-342900">
              <a:buFont typeface="Arial" panose="020B0604020202020204" pitchFamily="34" charset="0"/>
              <a:buChar char="•"/>
            </a:pPr>
            <a:r>
              <a:rPr lang="en-US" sz="2000" dirty="0"/>
              <a:t>Once such grouping is done, then the probability of using these groups as a message forwarder is assigned in a decreasing order as pi, p2, p3 and p4; pi for group 1 being the highest and p4 for group 4 being the lowest. </a:t>
            </a:r>
          </a:p>
          <a:p>
            <a:pPr marL="342900" indent="-342900">
              <a:buFont typeface="Arial" panose="020B0604020202020204" pitchFamily="34" charset="0"/>
              <a:buChar char="•"/>
            </a:pPr>
            <a:r>
              <a:rPr lang="en-US" sz="2000" dirty="0"/>
              <a:t>The idea behind selecting such groups is to ensure that the nodes with higher connectivity could possibly cover a larger number of newer nodes whenever broadcasting is needed. </a:t>
            </a:r>
          </a:p>
          <a:p>
            <a:r>
              <a:rPr lang="en-US" sz="2000" dirty="0"/>
              <a:t>These values can be easily calculated as follows: </a:t>
            </a:r>
          </a:p>
          <a:p>
            <a:pPr marL="342900" indent="-342900">
              <a:buFont typeface="Arial" panose="020B0604020202020204" pitchFamily="34" charset="0"/>
              <a:buChar char="•"/>
            </a:pPr>
            <a:r>
              <a:rPr lang="en-US" sz="2000" dirty="0"/>
              <a:t>Let A be the area of the MANET, N be the number of mobile nodes and r be the communication range of each mobile node with a being the fraction of the area covered, then </a:t>
            </a:r>
            <a:endParaRPr lang="en-IN" sz="2000" dirty="0"/>
          </a:p>
          <a:p>
            <a:endParaRPr lang="en-IN" sz="2000" dirty="0"/>
          </a:p>
        </p:txBody>
      </p:sp>
    </p:spTree>
    <p:extLst>
      <p:ext uri="{BB962C8B-B14F-4D97-AF65-F5344CB8AC3E}">
        <p14:creationId xmlns:p14="http://schemas.microsoft.com/office/powerpoint/2010/main" val="813637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99F70B-F230-44DE-AEE4-1F9B7D81E34B}"/>
              </a:ext>
            </a:extLst>
          </p:cNvPr>
          <p:cNvPicPr>
            <a:picLocks noChangeAspect="1"/>
          </p:cNvPicPr>
          <p:nvPr/>
        </p:nvPicPr>
        <p:blipFill>
          <a:blip r:embed="rId2"/>
          <a:stretch>
            <a:fillRect/>
          </a:stretch>
        </p:blipFill>
        <p:spPr>
          <a:xfrm>
            <a:off x="259487" y="93860"/>
            <a:ext cx="5245476" cy="5484156"/>
          </a:xfrm>
          <a:prstGeom prst="rect">
            <a:avLst/>
          </a:prstGeom>
        </p:spPr>
      </p:pic>
      <p:pic>
        <p:nvPicPr>
          <p:cNvPr id="4" name="Picture 3">
            <a:extLst>
              <a:ext uri="{FF2B5EF4-FFF2-40B4-BE49-F238E27FC236}">
                <a16:creationId xmlns:a16="http://schemas.microsoft.com/office/drawing/2014/main" id="{DB4AE90B-B8A8-4FB8-8F8D-ADCC6D821962}"/>
              </a:ext>
            </a:extLst>
          </p:cNvPr>
          <p:cNvPicPr>
            <a:picLocks noChangeAspect="1"/>
          </p:cNvPicPr>
          <p:nvPr/>
        </p:nvPicPr>
        <p:blipFill>
          <a:blip r:embed="rId3"/>
          <a:stretch>
            <a:fillRect/>
          </a:stretch>
        </p:blipFill>
        <p:spPr>
          <a:xfrm>
            <a:off x="485938" y="5578016"/>
            <a:ext cx="5314543" cy="1477328"/>
          </a:xfrm>
          <a:prstGeom prst="rect">
            <a:avLst/>
          </a:prstGeom>
        </p:spPr>
      </p:pic>
      <p:sp>
        <p:nvSpPr>
          <p:cNvPr id="5" name="Rectangle 4">
            <a:extLst>
              <a:ext uri="{FF2B5EF4-FFF2-40B4-BE49-F238E27FC236}">
                <a16:creationId xmlns:a16="http://schemas.microsoft.com/office/drawing/2014/main" id="{D8842933-C57D-4F6E-A4E4-F047CCFE22DF}"/>
              </a:ext>
            </a:extLst>
          </p:cNvPr>
          <p:cNvSpPr/>
          <p:nvPr/>
        </p:nvSpPr>
        <p:spPr>
          <a:xfrm>
            <a:off x="5690647" y="1081612"/>
            <a:ext cx="6096000" cy="2246769"/>
          </a:xfrm>
          <a:prstGeom prst="rect">
            <a:avLst/>
          </a:prstGeom>
        </p:spPr>
        <p:txBody>
          <a:bodyPr wrap="square">
            <a:spAutoFit/>
          </a:bodyPr>
          <a:lstStyle/>
          <a:p>
            <a:pPr marL="342900" indent="-342900">
              <a:buFont typeface="Arial" panose="020B0604020202020204" pitchFamily="34" charset="0"/>
              <a:buChar char="•"/>
            </a:pPr>
            <a:r>
              <a:rPr lang="en-US" sz="2000" dirty="0"/>
              <a:t>where </a:t>
            </a:r>
            <a:r>
              <a:rPr lang="en-US" sz="2000" dirty="0" err="1"/>
              <a:t>Ti</a:t>
            </a:r>
            <a:r>
              <a:rPr lang="en-US" sz="2000" dirty="0"/>
              <a:t> is the forwarding probability for the mobile node in group </a:t>
            </a:r>
            <a:r>
              <a:rPr lang="en-US" sz="2000" dirty="0" err="1"/>
              <a:t>i</a:t>
            </a:r>
            <a:r>
              <a:rPr lang="en-US" sz="2000" dirty="0"/>
              <a:t> (1 &lt; </a:t>
            </a:r>
            <a:r>
              <a:rPr lang="en-US" sz="2000" dirty="0" err="1"/>
              <a:t>i</a:t>
            </a:r>
            <a:r>
              <a:rPr lang="en-US" sz="2000" dirty="0"/>
              <a:t> &lt; 4).</a:t>
            </a:r>
          </a:p>
          <a:p>
            <a:pPr marL="342900" indent="-342900">
              <a:buFont typeface="Arial" panose="020B0604020202020204" pitchFamily="34" charset="0"/>
              <a:buChar char="•"/>
            </a:pPr>
            <a:r>
              <a:rPr lang="en-US" sz="2000" dirty="0"/>
              <a:t>Such a scheme does not provide 100% coverage of all MANET nodes [Zhang2005c], but a good coverage and excellent saving are achieved under mobility and about 20% higher goodput is obtained than the conventional AODV. </a:t>
            </a:r>
            <a:endParaRPr lang="en-IN" sz="2000" dirty="0"/>
          </a:p>
        </p:txBody>
      </p:sp>
    </p:spTree>
    <p:extLst>
      <p:ext uri="{BB962C8B-B14F-4D97-AF65-F5344CB8AC3E}">
        <p14:creationId xmlns:p14="http://schemas.microsoft.com/office/powerpoint/2010/main" val="4271834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BD28FD1-4F1A-48CE-ACC7-C0CB8B904C3F}"/>
              </a:ext>
            </a:extLst>
          </p:cNvPr>
          <p:cNvSpPr/>
          <p:nvPr/>
        </p:nvSpPr>
        <p:spPr>
          <a:xfrm>
            <a:off x="1130710" y="363795"/>
            <a:ext cx="9733935" cy="646331"/>
          </a:xfrm>
          <a:prstGeom prst="rect">
            <a:avLst/>
          </a:prstGeom>
        </p:spPr>
        <p:txBody>
          <a:bodyPr wrap="square">
            <a:spAutoFit/>
          </a:bodyPr>
          <a:lstStyle/>
          <a:p>
            <a:r>
              <a:rPr lang="en-US" sz="3600" dirty="0"/>
              <a:t>Lightweight and Efficient Network-Wide Broadcast </a:t>
            </a:r>
            <a:endParaRPr lang="en-IN" sz="3600" dirty="0"/>
          </a:p>
        </p:txBody>
      </p:sp>
      <p:sp>
        <p:nvSpPr>
          <p:cNvPr id="4" name="Rectangle 3">
            <a:extLst>
              <a:ext uri="{FF2B5EF4-FFF2-40B4-BE49-F238E27FC236}">
                <a16:creationId xmlns:a16="http://schemas.microsoft.com/office/drawing/2014/main" id="{58B6FEB1-177B-4213-A1D2-C78240BFE8C3}"/>
              </a:ext>
            </a:extLst>
          </p:cNvPr>
          <p:cNvSpPr/>
          <p:nvPr/>
        </p:nvSpPr>
        <p:spPr>
          <a:xfrm>
            <a:off x="575237" y="2003128"/>
            <a:ext cx="10844880" cy="3170099"/>
          </a:xfrm>
          <a:prstGeom prst="rect">
            <a:avLst/>
          </a:prstGeom>
        </p:spPr>
        <p:txBody>
          <a:bodyPr wrap="square">
            <a:spAutoFit/>
          </a:bodyPr>
          <a:lstStyle/>
          <a:p>
            <a:pPr marL="342900" indent="-342900">
              <a:buFont typeface="Arial" panose="020B0604020202020204" pitchFamily="34" charset="0"/>
              <a:buChar char="•"/>
            </a:pPr>
            <a:r>
              <a:rPr lang="en-US" sz="2000" dirty="0"/>
              <a:t>The Lightweight and Efficient Network-Wide Broadcast (LENWB) protocol [Sucec2000] also relies on two-hop neighbor knowledge obtained from hello packets. </a:t>
            </a:r>
          </a:p>
          <a:p>
            <a:pPr marL="342900" indent="-342900">
              <a:buFont typeface="Arial" panose="020B0604020202020204" pitchFamily="34" charset="0"/>
              <a:buChar char="•"/>
            </a:pPr>
            <a:r>
              <a:rPr lang="en-US" sz="2000" dirty="0"/>
              <a:t>However, instead of a node explicitly choosing other nodes to rebroadcast, the decision is implicit. </a:t>
            </a:r>
          </a:p>
          <a:p>
            <a:pPr marL="342900" indent="-342900">
              <a:buFont typeface="Arial" panose="020B0604020202020204" pitchFamily="34" charset="0"/>
              <a:buChar char="•"/>
            </a:pPr>
            <a:r>
              <a:rPr lang="en-US" sz="2000" dirty="0"/>
              <a:t>In LENWB, each node decides to rebroadcast based on knowledge of which of its other one and two-hop neighbors are expected to rebroadcast. </a:t>
            </a:r>
          </a:p>
          <a:p>
            <a:pPr marL="342900" indent="-342900">
              <a:buFont typeface="Arial" panose="020B0604020202020204" pitchFamily="34" charset="0"/>
              <a:buChar char="•"/>
            </a:pPr>
            <a:r>
              <a:rPr lang="en-US" sz="2000" dirty="0"/>
              <a:t>The information required for that decision is the knowledge of which neighbors have received a packet from the same source node, and which neighbors have a higher priority for rebroadcasting.</a:t>
            </a:r>
          </a:p>
          <a:p>
            <a:pPr marL="342900" indent="-342900">
              <a:buFont typeface="Arial" panose="020B0604020202020204" pitchFamily="34" charset="0"/>
              <a:buChar char="•"/>
            </a:pPr>
            <a:r>
              <a:rPr lang="en-US" sz="2000" dirty="0"/>
              <a:t>The priority is proportional to the number of neighbors of a given node. The higher a node's degree is, the higher is its priority. Since a node relies on its higher priority neighbors to rebroadcast, it can proactively determine if all of its lower priority neighbors will receive those rebroadcasts.</a:t>
            </a:r>
            <a:endParaRPr lang="en-IN" sz="2000" dirty="0"/>
          </a:p>
        </p:txBody>
      </p:sp>
    </p:spTree>
    <p:extLst>
      <p:ext uri="{BB962C8B-B14F-4D97-AF65-F5344CB8AC3E}">
        <p14:creationId xmlns:p14="http://schemas.microsoft.com/office/powerpoint/2010/main" val="512237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93A3C1-6935-4C60-B3EE-7D9D37607870}"/>
              </a:ext>
            </a:extLst>
          </p:cNvPr>
          <p:cNvSpPr/>
          <p:nvPr/>
        </p:nvSpPr>
        <p:spPr>
          <a:xfrm>
            <a:off x="4154078" y="179110"/>
            <a:ext cx="3883843" cy="830997"/>
          </a:xfrm>
          <a:prstGeom prst="rect">
            <a:avLst/>
          </a:prstGeom>
        </p:spPr>
        <p:txBody>
          <a:bodyPr wrap="square">
            <a:spAutoFit/>
          </a:bodyPr>
          <a:lstStyle/>
          <a:p>
            <a:r>
              <a:rPr lang="en-IN" sz="4800" dirty="0"/>
              <a:t>Multicasting </a:t>
            </a:r>
          </a:p>
        </p:txBody>
      </p:sp>
      <p:sp>
        <p:nvSpPr>
          <p:cNvPr id="3" name="Rectangle 2">
            <a:extLst>
              <a:ext uri="{FF2B5EF4-FFF2-40B4-BE49-F238E27FC236}">
                <a16:creationId xmlns:a16="http://schemas.microsoft.com/office/drawing/2014/main" id="{9458F7E8-EFCF-4AA4-B911-9DEE2585FD79}"/>
              </a:ext>
            </a:extLst>
          </p:cNvPr>
          <p:cNvSpPr/>
          <p:nvPr/>
        </p:nvSpPr>
        <p:spPr>
          <a:xfrm>
            <a:off x="952108" y="1951672"/>
            <a:ext cx="9898144" cy="1477328"/>
          </a:xfrm>
          <a:prstGeom prst="rect">
            <a:avLst/>
          </a:prstGeom>
        </p:spPr>
        <p:txBody>
          <a:bodyPr wrap="square">
            <a:spAutoFit/>
          </a:bodyPr>
          <a:lstStyle/>
          <a:p>
            <a:pPr marL="285750" indent="-285750">
              <a:buFont typeface="Arial" panose="020B0604020202020204" pitchFamily="34" charset="0"/>
              <a:buChar char="•"/>
            </a:pPr>
            <a:r>
              <a:rPr lang="en-US" dirty="0"/>
              <a:t>The problem of multicasting in MANETs is to broadcast a message to a subset of MANET MHs</a:t>
            </a:r>
          </a:p>
          <a:p>
            <a:pPr marL="285750" indent="-285750">
              <a:buFont typeface="Arial" panose="020B0604020202020204" pitchFamily="34" charset="0"/>
              <a:buChar char="•"/>
            </a:pPr>
            <a:r>
              <a:rPr lang="en-US" dirty="0"/>
              <a:t>We begin by understanding the hard task of multicasting to a group of mobile nodes, together with the various issues behind the design and implementation of a multicast protocol for MANETs.</a:t>
            </a:r>
          </a:p>
          <a:p>
            <a:pPr marL="285750" indent="-285750">
              <a:buFont typeface="Arial" panose="020B0604020202020204" pitchFamily="34" charset="0"/>
              <a:buChar char="•"/>
            </a:pPr>
            <a:r>
              <a:rPr lang="en-US" dirty="0"/>
              <a:t> we study the existing multicast protocols for MANETs and show how different they are as compared to broadcasting. </a:t>
            </a:r>
            <a:endParaRPr lang="en-IN" dirty="0"/>
          </a:p>
        </p:txBody>
      </p:sp>
    </p:spTree>
    <p:extLst>
      <p:ext uri="{BB962C8B-B14F-4D97-AF65-F5344CB8AC3E}">
        <p14:creationId xmlns:p14="http://schemas.microsoft.com/office/powerpoint/2010/main" val="2258637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C08AAB-982F-461D-95BC-2AABDA9F1CF0}"/>
              </a:ext>
            </a:extLst>
          </p:cNvPr>
          <p:cNvSpPr/>
          <p:nvPr/>
        </p:nvSpPr>
        <p:spPr>
          <a:xfrm>
            <a:off x="2193675" y="406866"/>
            <a:ext cx="7804649" cy="646331"/>
          </a:xfrm>
          <a:prstGeom prst="rect">
            <a:avLst/>
          </a:prstGeom>
        </p:spPr>
        <p:txBody>
          <a:bodyPr wrap="square">
            <a:spAutoFit/>
          </a:bodyPr>
          <a:lstStyle/>
          <a:p>
            <a:r>
              <a:rPr lang="en-US" sz="3600" dirty="0"/>
              <a:t>Issues in Providing Multicast in a MANET </a:t>
            </a:r>
            <a:endParaRPr lang="en-IN" sz="3600" dirty="0"/>
          </a:p>
        </p:txBody>
      </p:sp>
      <p:sp>
        <p:nvSpPr>
          <p:cNvPr id="3" name="Rectangle 2">
            <a:extLst>
              <a:ext uri="{FF2B5EF4-FFF2-40B4-BE49-F238E27FC236}">
                <a16:creationId xmlns:a16="http://schemas.microsoft.com/office/drawing/2014/main" id="{BB010E3C-EB01-4271-9962-ED5D5442D0F0}"/>
              </a:ext>
            </a:extLst>
          </p:cNvPr>
          <p:cNvSpPr/>
          <p:nvPr/>
        </p:nvSpPr>
        <p:spPr>
          <a:xfrm>
            <a:off x="923826" y="1815503"/>
            <a:ext cx="10397766" cy="3139321"/>
          </a:xfrm>
          <a:prstGeom prst="rect">
            <a:avLst/>
          </a:prstGeom>
        </p:spPr>
        <p:txBody>
          <a:bodyPr wrap="square">
            <a:spAutoFit/>
          </a:bodyPr>
          <a:lstStyle/>
          <a:p>
            <a:pPr marL="285750" indent="-285750">
              <a:buFont typeface="Arial" panose="020B0604020202020204" pitchFamily="34" charset="0"/>
              <a:buChar char="•"/>
            </a:pPr>
            <a:r>
              <a:rPr lang="en-US" dirty="0"/>
              <a:t>Protocols designed for fixed networks, may fail to keep up with node movements and frequent topological changes as MHs become increasingly mobile, these protocols need to evolve to cope up with the new environment.</a:t>
            </a:r>
          </a:p>
          <a:p>
            <a:pPr marL="285750" indent="-285750">
              <a:buFont typeface="Arial" panose="020B0604020202020204" pitchFamily="34" charset="0"/>
              <a:buChar char="•"/>
            </a:pPr>
            <a:r>
              <a:rPr lang="en-US" dirty="0"/>
              <a:t>The host mobility increases the protocol overheads substantially. </a:t>
            </a:r>
          </a:p>
          <a:p>
            <a:pPr marL="285750" indent="-285750">
              <a:buFont typeface="Arial" panose="020B0604020202020204" pitchFamily="34" charset="0"/>
              <a:buChar char="•"/>
            </a:pPr>
            <a:r>
              <a:rPr lang="en-US" dirty="0"/>
              <a:t>The broadcast protocols cannot be used either as multicasting requires a selected set of nodes to receive the message while all multicast algorithm depend on the topology of the network and do not consider weather a node belongs to a group or not. </a:t>
            </a:r>
          </a:p>
          <a:p>
            <a:pPr marL="285750" indent="-285750">
              <a:buFont typeface="Arial" panose="020B0604020202020204" pitchFamily="34" charset="0"/>
              <a:buChar char="•"/>
            </a:pPr>
            <a:r>
              <a:rPr lang="en-US" dirty="0"/>
              <a:t>New protocols are being proposed and investigated which take issues such as locations of nodes belonging to a multicast group, and all associated topological changes. </a:t>
            </a:r>
          </a:p>
          <a:p>
            <a:pPr marL="285750" indent="-285750">
              <a:buFont typeface="Arial" panose="020B0604020202020204" pitchFamily="34" charset="0"/>
              <a:buChar char="•"/>
            </a:pPr>
            <a:r>
              <a:rPr lang="en-US" dirty="0"/>
              <a:t>The nodes of MANET run on batteries, routing protocols must limit the amount of control information that is passed between nodes. </a:t>
            </a:r>
            <a:endParaRPr lang="en-IN" dirty="0"/>
          </a:p>
        </p:txBody>
      </p:sp>
    </p:spTree>
    <p:extLst>
      <p:ext uri="{BB962C8B-B14F-4D97-AF65-F5344CB8AC3E}">
        <p14:creationId xmlns:p14="http://schemas.microsoft.com/office/powerpoint/2010/main" val="27635549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0C4240-9AD2-4960-A06F-B435CC7DA476}"/>
              </a:ext>
            </a:extLst>
          </p:cNvPr>
          <p:cNvSpPr/>
          <p:nvPr/>
        </p:nvSpPr>
        <p:spPr>
          <a:xfrm>
            <a:off x="942680" y="1432875"/>
            <a:ext cx="10096107" cy="2308324"/>
          </a:xfrm>
          <a:prstGeom prst="rect">
            <a:avLst/>
          </a:prstGeom>
        </p:spPr>
        <p:txBody>
          <a:bodyPr wrap="square">
            <a:spAutoFit/>
          </a:bodyPr>
          <a:lstStyle/>
          <a:p>
            <a:pPr marL="285750" indent="-285750">
              <a:buFont typeface="Arial" panose="020B0604020202020204" pitchFamily="34" charset="0"/>
              <a:buChar char="•"/>
            </a:pPr>
            <a:r>
              <a:rPr lang="en-US" dirty="0"/>
              <a:t>The majority of applications are in the areas where rapid deployment and dynamic reconfiguration are necessary and the wireline network is not available. </a:t>
            </a:r>
          </a:p>
          <a:p>
            <a:pPr marL="285750" indent="-285750">
              <a:buFont typeface="Arial" panose="020B0604020202020204" pitchFamily="34" charset="0"/>
              <a:buChar char="•"/>
            </a:pPr>
            <a:r>
              <a:rPr lang="en-US" dirty="0"/>
              <a:t>These include military battlefields, emergency search and rescue sites, classrooms, and conventions where participants share information dynamically using their mobile devices. </a:t>
            </a:r>
          </a:p>
          <a:p>
            <a:pPr marL="285750" indent="-285750">
              <a:buFont typeface="Arial" panose="020B0604020202020204" pitchFamily="34" charset="0"/>
              <a:buChar char="•"/>
            </a:pPr>
            <a:r>
              <a:rPr lang="en-US" dirty="0"/>
              <a:t>These applications lend themselves well to multicast operation. In addition, within a wireless medium, it is even more crucial to reduce the transmission overhead and power consumption. </a:t>
            </a:r>
          </a:p>
          <a:p>
            <a:pPr marL="285750" indent="-285750">
              <a:buFont typeface="Arial" panose="020B0604020202020204" pitchFamily="34" charset="0"/>
              <a:buChar char="•"/>
            </a:pPr>
            <a:r>
              <a:rPr lang="en-US" dirty="0"/>
              <a:t>Transient loops may form during reconfiguration of distribution structure (e.g., tree) as a result of mobility. Therefore, reconfiguration scheme should be kept simple to maintain low channel overhead.</a:t>
            </a:r>
          </a:p>
        </p:txBody>
      </p:sp>
    </p:spTree>
    <p:extLst>
      <p:ext uri="{BB962C8B-B14F-4D97-AF65-F5344CB8AC3E}">
        <p14:creationId xmlns:p14="http://schemas.microsoft.com/office/powerpoint/2010/main" val="4057934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078502-75C5-44AA-91F7-174B42E84A52}"/>
              </a:ext>
            </a:extLst>
          </p:cNvPr>
          <p:cNvSpPr/>
          <p:nvPr/>
        </p:nvSpPr>
        <p:spPr>
          <a:xfrm>
            <a:off x="2724346" y="348792"/>
            <a:ext cx="7286920" cy="707886"/>
          </a:xfrm>
          <a:prstGeom prst="rect">
            <a:avLst/>
          </a:prstGeom>
        </p:spPr>
        <p:txBody>
          <a:bodyPr wrap="square">
            <a:spAutoFit/>
          </a:bodyPr>
          <a:lstStyle/>
          <a:p>
            <a:r>
              <a:rPr lang="en-IN" sz="4000" dirty="0"/>
              <a:t>Multicast Routing Protocols </a:t>
            </a:r>
          </a:p>
        </p:txBody>
      </p:sp>
      <p:sp>
        <p:nvSpPr>
          <p:cNvPr id="3" name="Rectangle 2">
            <a:extLst>
              <a:ext uri="{FF2B5EF4-FFF2-40B4-BE49-F238E27FC236}">
                <a16:creationId xmlns:a16="http://schemas.microsoft.com/office/drawing/2014/main" id="{7F24F16C-1DEB-4484-861F-B3007DC29B94}"/>
              </a:ext>
            </a:extLst>
          </p:cNvPr>
          <p:cNvSpPr/>
          <p:nvPr/>
        </p:nvSpPr>
        <p:spPr>
          <a:xfrm>
            <a:off x="999241" y="1725105"/>
            <a:ext cx="8144759" cy="1200329"/>
          </a:xfrm>
          <a:prstGeom prst="rect">
            <a:avLst/>
          </a:prstGeom>
        </p:spPr>
        <p:txBody>
          <a:bodyPr wrap="square">
            <a:spAutoFit/>
          </a:bodyPr>
          <a:lstStyle/>
          <a:p>
            <a:r>
              <a:rPr lang="en-US" dirty="0"/>
              <a:t>• Tree-Based Approaches; </a:t>
            </a:r>
          </a:p>
          <a:p>
            <a:r>
              <a:rPr lang="en-US" dirty="0"/>
              <a:t>• Meshed-Based Approaches; </a:t>
            </a:r>
          </a:p>
          <a:p>
            <a:r>
              <a:rPr lang="en-US" dirty="0"/>
              <a:t>• Stateless Multicast; </a:t>
            </a:r>
          </a:p>
          <a:p>
            <a:r>
              <a:rPr lang="en-US" dirty="0"/>
              <a:t>• Hybrid Approaches. </a:t>
            </a:r>
            <a:endParaRPr lang="en-IN" dirty="0"/>
          </a:p>
        </p:txBody>
      </p:sp>
    </p:spTree>
    <p:extLst>
      <p:ext uri="{BB962C8B-B14F-4D97-AF65-F5344CB8AC3E}">
        <p14:creationId xmlns:p14="http://schemas.microsoft.com/office/powerpoint/2010/main" val="24812155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2F62A9-93D9-4ED0-8061-48228B05FA41}"/>
              </a:ext>
            </a:extLst>
          </p:cNvPr>
          <p:cNvSpPr/>
          <p:nvPr/>
        </p:nvSpPr>
        <p:spPr>
          <a:xfrm>
            <a:off x="2849287" y="519987"/>
            <a:ext cx="5185715" cy="707886"/>
          </a:xfrm>
          <a:prstGeom prst="rect">
            <a:avLst/>
          </a:prstGeom>
        </p:spPr>
        <p:txBody>
          <a:bodyPr wrap="none">
            <a:spAutoFit/>
          </a:bodyPr>
          <a:lstStyle/>
          <a:p>
            <a:r>
              <a:rPr lang="en-IN" sz="4000" dirty="0"/>
              <a:t>Tree-Based Approaches </a:t>
            </a:r>
          </a:p>
        </p:txBody>
      </p:sp>
      <p:sp>
        <p:nvSpPr>
          <p:cNvPr id="3" name="Rectangle 2">
            <a:extLst>
              <a:ext uri="{FF2B5EF4-FFF2-40B4-BE49-F238E27FC236}">
                <a16:creationId xmlns:a16="http://schemas.microsoft.com/office/drawing/2014/main" id="{54E912A5-E13A-47D0-98E1-3A71FB06C9B9}"/>
              </a:ext>
            </a:extLst>
          </p:cNvPr>
          <p:cNvSpPr/>
          <p:nvPr/>
        </p:nvSpPr>
        <p:spPr>
          <a:xfrm>
            <a:off x="208960" y="1227873"/>
            <a:ext cx="11774079" cy="4524315"/>
          </a:xfrm>
          <a:prstGeom prst="rect">
            <a:avLst/>
          </a:prstGeom>
        </p:spPr>
        <p:txBody>
          <a:bodyPr wrap="square">
            <a:spAutoFit/>
          </a:bodyPr>
          <a:lstStyle/>
          <a:p>
            <a:pPr marL="285750" indent="-285750" algn="just">
              <a:buFont typeface="Arial" panose="020B0604020202020204" pitchFamily="34" charset="0"/>
              <a:buChar char="•"/>
            </a:pPr>
            <a:r>
              <a:rPr lang="en-US" dirty="0"/>
              <a:t>Most of the schemes for providing multicast in wired network are either source-based or shared tree-based. Different researchers have tried to extend the idea of tree-based approach to provide multicast in a MANET environment. </a:t>
            </a:r>
          </a:p>
          <a:p>
            <a:pPr marL="285750" indent="-285750" algn="just">
              <a:buFont typeface="Arial" panose="020B0604020202020204" pitchFamily="34" charset="0"/>
              <a:buChar char="•"/>
            </a:pPr>
            <a:r>
              <a:rPr lang="en-US" dirty="0"/>
              <a:t>Due to simplicity and innate properties of tree structures, many characteristics can be identified such as: a packet traverses each hop and node in a tree at most once, very simple routing decisions at each node, and the number of copies of a packet is minimized, tree structure built representing shortest paths amongst nodes, and a loop-free data distribution structure. </a:t>
            </a:r>
          </a:p>
          <a:p>
            <a:pPr marL="285750" indent="-285750" algn="just">
              <a:buFont typeface="Arial" panose="020B0604020202020204" pitchFamily="34" charset="0"/>
              <a:buChar char="•"/>
            </a:pPr>
            <a:r>
              <a:rPr lang="en-US" dirty="0"/>
              <a:t>On the other hand, there are many issues that must be addressed in tree-based approaches. As mentioned earlier, trees provide a unique path between any two nodes. Having even one link failure could mean reconfiguration of the entire tree structure and could be a major drawback. </a:t>
            </a:r>
          </a:p>
          <a:p>
            <a:pPr marL="285750" indent="-285750" algn="just">
              <a:buFont typeface="Arial" panose="020B0604020202020204" pitchFamily="34" charset="0"/>
              <a:buChar char="•"/>
            </a:pPr>
            <a:r>
              <a:rPr lang="en-US" dirty="0"/>
              <a:t>Multiple packets generated by different sources will require some consideration when utilizing multicast trees such that efficient routing can be established and maintained. </a:t>
            </a:r>
          </a:p>
          <a:p>
            <a:pPr marL="285750" indent="-285750" algn="just">
              <a:buFont typeface="Arial" panose="020B0604020202020204" pitchFamily="34" charset="0"/>
              <a:buChar char="•"/>
            </a:pPr>
            <a:r>
              <a:rPr lang="en-US" dirty="0"/>
              <a:t>Thus, it is common to consider the use of either a shared tree or establish a separate tree per each source (i.e., separate source trees). </a:t>
            </a:r>
          </a:p>
          <a:p>
            <a:pPr marL="285750" indent="-285750" algn="just">
              <a:buFont typeface="Arial" panose="020B0604020202020204" pitchFamily="34" charset="0"/>
              <a:buChar char="•"/>
            </a:pPr>
            <a:r>
              <a:rPr lang="en-US" dirty="0"/>
              <a:t>Each approach has to deal with own individual issues. For separate source trees, each router (or node in case of MANETs) involved in multiple router groups must maintain a list of pertinent information for each group in which it is involved. Such management per router is inefficient and not scalable.</a:t>
            </a:r>
            <a:endParaRPr lang="en-IN" dirty="0"/>
          </a:p>
        </p:txBody>
      </p:sp>
    </p:spTree>
    <p:extLst>
      <p:ext uri="{BB962C8B-B14F-4D97-AF65-F5344CB8AC3E}">
        <p14:creationId xmlns:p14="http://schemas.microsoft.com/office/powerpoint/2010/main" val="15192314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BA315E-48AF-4548-9C64-7CC5B68E3CF1}"/>
              </a:ext>
            </a:extLst>
          </p:cNvPr>
          <p:cNvSpPr/>
          <p:nvPr/>
        </p:nvSpPr>
        <p:spPr>
          <a:xfrm>
            <a:off x="100553" y="400343"/>
            <a:ext cx="11990894" cy="1323439"/>
          </a:xfrm>
          <a:prstGeom prst="rect">
            <a:avLst/>
          </a:prstGeom>
        </p:spPr>
        <p:txBody>
          <a:bodyPr wrap="square">
            <a:spAutoFit/>
          </a:bodyPr>
          <a:lstStyle/>
          <a:p>
            <a:pPr algn="ctr"/>
            <a:r>
              <a:rPr lang="en-US" sz="4000" dirty="0"/>
              <a:t>Ad Hoc Multicast Routing Protocol Utilizing Increasing Id Numbers</a:t>
            </a:r>
            <a:endParaRPr lang="en-IN" sz="4000" dirty="0"/>
          </a:p>
        </p:txBody>
      </p:sp>
      <p:sp>
        <p:nvSpPr>
          <p:cNvPr id="3" name="Rectangle 2">
            <a:extLst>
              <a:ext uri="{FF2B5EF4-FFF2-40B4-BE49-F238E27FC236}">
                <a16:creationId xmlns:a16="http://schemas.microsoft.com/office/drawing/2014/main" id="{FB364863-60A4-4D18-93FC-45AD31755861}"/>
              </a:ext>
            </a:extLst>
          </p:cNvPr>
          <p:cNvSpPr/>
          <p:nvPr/>
        </p:nvSpPr>
        <p:spPr>
          <a:xfrm>
            <a:off x="0" y="2110960"/>
            <a:ext cx="12066309" cy="4524315"/>
          </a:xfrm>
          <a:prstGeom prst="rect">
            <a:avLst/>
          </a:prstGeom>
        </p:spPr>
        <p:txBody>
          <a:bodyPr wrap="square">
            <a:spAutoFit/>
          </a:bodyPr>
          <a:lstStyle/>
          <a:p>
            <a:pPr marL="285750" indent="-285750" algn="just">
              <a:buFont typeface="Arial" panose="020B0604020202020204" pitchFamily="34" charset="0"/>
              <a:buChar char="•"/>
            </a:pPr>
            <a:r>
              <a:rPr lang="en-US" dirty="0"/>
              <a:t>Ad hoc Multicast Routing Protocol utilizing Increasing id-</a:t>
            </a:r>
            <a:r>
              <a:rPr lang="en-US" dirty="0" err="1"/>
              <a:t>numberS</a:t>
            </a:r>
            <a:r>
              <a:rPr lang="en-US" dirty="0"/>
              <a:t> (AMRIS) [Wul998] is an on-demand protocol, which constructs a shared multicast delivery tree (see Figure 3.4) to support multiple senders and receivers in a multicast session. AMRIS dynamically assigns an id number to each node in each multicast session. </a:t>
            </a:r>
          </a:p>
          <a:p>
            <a:pPr marL="285750" indent="-285750" algn="just">
              <a:buFont typeface="Arial" panose="020B0604020202020204" pitchFamily="34" charset="0"/>
              <a:buChar char="•"/>
            </a:pPr>
            <a:r>
              <a:rPr lang="en-US" dirty="0"/>
              <a:t>Based on the id-number, a multicast delivery tree - rooted at a special node with Sid (Smallest-ID) - is created and the id-number increases as the tree expands from the Sid. </a:t>
            </a:r>
          </a:p>
          <a:p>
            <a:pPr marL="285750" indent="-285750" algn="just">
              <a:buFont typeface="Arial" panose="020B0604020202020204" pitchFamily="34" charset="0"/>
              <a:buChar char="•"/>
            </a:pPr>
            <a:r>
              <a:rPr lang="en-US" dirty="0"/>
              <a:t>Generally, Sid is the source or the node that initiates a multicast session. The first step in AMRIS protocol operation is the selection of Sid. If there is only one sender for a group, the Sid is generally the source of the group. In case of multiple senders, a Sid is selected among the given set of senders. </a:t>
            </a:r>
          </a:p>
          <a:p>
            <a:pPr marL="285750" indent="-285750" algn="just">
              <a:buFont typeface="Arial" panose="020B0604020202020204" pitchFamily="34" charset="0"/>
              <a:buChar char="•"/>
            </a:pPr>
            <a:r>
              <a:rPr lang="en-US" dirty="0"/>
              <a:t>Once a Sid is identified, it sends a NEW-SESSION message to its neighbors. The content of this message includes Sid's </a:t>
            </a:r>
            <a:r>
              <a:rPr lang="en-US" dirty="0" err="1"/>
              <a:t>msm</a:t>
            </a:r>
            <a:r>
              <a:rPr lang="en-US" dirty="0"/>
              <a:t>-id (multicast session member id) and the routing metrics. </a:t>
            </a:r>
          </a:p>
          <a:p>
            <a:pPr marL="285750" indent="-285750" algn="just">
              <a:buFont typeface="Arial" panose="020B0604020202020204" pitchFamily="34" charset="0"/>
              <a:buChar char="•"/>
            </a:pPr>
            <a:r>
              <a:rPr lang="en-US" dirty="0"/>
              <a:t>Nodes receiving the NEW-SESSION message generate their own </a:t>
            </a:r>
            <a:r>
              <a:rPr lang="en-US" dirty="0" err="1"/>
              <a:t>msm</a:t>
            </a:r>
            <a:r>
              <a:rPr lang="en-US" dirty="0"/>
              <a:t>-ids, which is larger than the </a:t>
            </a:r>
            <a:r>
              <a:rPr lang="en-US" dirty="0" err="1"/>
              <a:t>msm</a:t>
            </a:r>
            <a:r>
              <a:rPr lang="en-US" dirty="0"/>
              <a:t>-id of the sender. In case a node receives multiple NEW-SESSION messages from different nodes, it keeps the message with the best routing metrics and calculates its </a:t>
            </a:r>
            <a:r>
              <a:rPr lang="en-US" dirty="0" err="1"/>
              <a:t>msm</a:t>
            </a:r>
            <a:r>
              <a:rPr lang="en-US" dirty="0"/>
              <a:t>-ids. </a:t>
            </a:r>
          </a:p>
          <a:p>
            <a:pPr marL="285750" indent="-285750" algn="just">
              <a:buFont typeface="Arial" panose="020B0604020202020204" pitchFamily="34" charset="0"/>
              <a:buChar char="•"/>
            </a:pPr>
            <a:r>
              <a:rPr lang="en-US" dirty="0"/>
              <a:t>To join an ongoing session, a node checks the NEW-SESSION message, determines a parent with smallest </a:t>
            </a:r>
            <a:r>
              <a:rPr lang="en-US" dirty="0" err="1"/>
              <a:t>msm</a:t>
            </a:r>
            <a:r>
              <a:rPr lang="en-US" dirty="0"/>
              <a:t>-ids, and unicast a JOIN-REQ to its potential parent node. If parent node is already in the multicast delivery tree, it replies with a JOIN-ACK. Otherwise, the parent itself tries to join the multicast tree by sending a JOIN-REQ to its parent.</a:t>
            </a:r>
            <a:endParaRPr lang="en-IN" dirty="0"/>
          </a:p>
        </p:txBody>
      </p:sp>
    </p:spTree>
    <p:extLst>
      <p:ext uri="{BB962C8B-B14F-4D97-AF65-F5344CB8AC3E}">
        <p14:creationId xmlns:p14="http://schemas.microsoft.com/office/powerpoint/2010/main" val="428981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303880-8293-4D00-A5D8-8C87EC8BCFDB}"/>
              </a:ext>
            </a:extLst>
          </p:cNvPr>
          <p:cNvPicPr>
            <a:picLocks noChangeAspect="1"/>
          </p:cNvPicPr>
          <p:nvPr/>
        </p:nvPicPr>
        <p:blipFill>
          <a:blip r:embed="rId2"/>
          <a:stretch>
            <a:fillRect/>
          </a:stretch>
        </p:blipFill>
        <p:spPr>
          <a:xfrm>
            <a:off x="933254" y="933254"/>
            <a:ext cx="8766927" cy="4996206"/>
          </a:xfrm>
          <a:prstGeom prst="rect">
            <a:avLst/>
          </a:prstGeom>
        </p:spPr>
      </p:pic>
    </p:spTree>
    <p:extLst>
      <p:ext uri="{BB962C8B-B14F-4D97-AF65-F5344CB8AC3E}">
        <p14:creationId xmlns:p14="http://schemas.microsoft.com/office/powerpoint/2010/main" val="23660579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2143D9-5393-43E1-B3E1-412658217B4F}"/>
              </a:ext>
            </a:extLst>
          </p:cNvPr>
          <p:cNvSpPr/>
          <p:nvPr/>
        </p:nvSpPr>
        <p:spPr>
          <a:xfrm>
            <a:off x="481294" y="376310"/>
            <a:ext cx="11710706" cy="707886"/>
          </a:xfrm>
          <a:prstGeom prst="rect">
            <a:avLst/>
          </a:prstGeom>
        </p:spPr>
        <p:txBody>
          <a:bodyPr wrap="none">
            <a:spAutoFit/>
          </a:bodyPr>
          <a:lstStyle/>
          <a:p>
            <a:r>
              <a:rPr lang="en-IN" sz="4000" dirty="0"/>
              <a:t>Multicast Ad Hoc On-Demand Distance Vector Protocol </a:t>
            </a:r>
          </a:p>
        </p:txBody>
      </p:sp>
      <p:sp>
        <p:nvSpPr>
          <p:cNvPr id="3" name="Rectangle 2">
            <a:extLst>
              <a:ext uri="{FF2B5EF4-FFF2-40B4-BE49-F238E27FC236}">
                <a16:creationId xmlns:a16="http://schemas.microsoft.com/office/drawing/2014/main" id="{B27F1B58-969D-46A1-B1C6-119F7CD3C2F0}"/>
              </a:ext>
            </a:extLst>
          </p:cNvPr>
          <p:cNvSpPr/>
          <p:nvPr/>
        </p:nvSpPr>
        <p:spPr>
          <a:xfrm>
            <a:off x="311612" y="1603432"/>
            <a:ext cx="11710706" cy="4524315"/>
          </a:xfrm>
          <a:prstGeom prst="rect">
            <a:avLst/>
          </a:prstGeom>
        </p:spPr>
        <p:txBody>
          <a:bodyPr wrap="square">
            <a:spAutoFit/>
          </a:bodyPr>
          <a:lstStyle/>
          <a:p>
            <a:pPr marL="285750" indent="-285750" algn="just">
              <a:buFont typeface="Arial" panose="020B0604020202020204" pitchFamily="34" charset="0"/>
              <a:buChar char="•"/>
            </a:pPr>
            <a:r>
              <a:rPr lang="en-US" dirty="0"/>
              <a:t>The Multicast Ad hoc On-Demand Distance Vector (MAODV) routing protocol [Royerl999] follows directly from the unicast AODV, and discovers multicast routes on-demand using a broadcast route discovery mechanism employing the same Route Request (RREQ) and Route Reply (RREP) messages that issued in the unicast AODV protocol. </a:t>
            </a:r>
          </a:p>
          <a:p>
            <a:pPr marL="285750" indent="-285750" algn="just">
              <a:buFont typeface="Arial" panose="020B0604020202020204" pitchFamily="34" charset="0"/>
              <a:buChar char="•"/>
            </a:pPr>
            <a:r>
              <a:rPr lang="en-US" dirty="0"/>
              <a:t>A MH originates a RREQ message when it wishes to join a multicast group, or when it has data to send to a multicast group but it does not have a route to that group. </a:t>
            </a:r>
          </a:p>
          <a:p>
            <a:pPr marL="285750" indent="-285750" algn="just">
              <a:buFont typeface="Arial" panose="020B0604020202020204" pitchFamily="34" charset="0"/>
              <a:buChar char="•"/>
            </a:pPr>
            <a:r>
              <a:rPr lang="en-US" dirty="0"/>
              <a:t>Only a member of the desired multicast group may respond to a join RREQ. If the RREQ is not a join request, any node with a fresh enough route (based on group sequence number) to the multicast group may respond. If an intermediate node receives a join RREQ for a multicast group of which it is not a member, or if it receives a RREQ and it does not have a route to that group, it rebroadcasts the RREQ to its neighbors. </a:t>
            </a:r>
          </a:p>
          <a:p>
            <a:pPr marL="285750" indent="-285750" algn="just">
              <a:buFont typeface="Arial" panose="020B0604020202020204" pitchFamily="34" charset="0"/>
              <a:buChar char="•"/>
            </a:pPr>
            <a:r>
              <a:rPr lang="en-US" dirty="0"/>
              <a:t>As the RREQ is broadcasted across the network, nodes set up pointers to establish the reverse route in their route tables. A node receiving a RREQ first, updates its route table to record the sequence number and the next hop information for the source node. </a:t>
            </a:r>
          </a:p>
          <a:p>
            <a:pPr marL="285750" indent="-285750" algn="just">
              <a:buFont typeface="Arial" panose="020B0604020202020204" pitchFamily="34" charset="0"/>
              <a:buChar char="•"/>
            </a:pPr>
            <a:r>
              <a:rPr lang="en-US" dirty="0"/>
              <a:t>This reverse route entry may later be used to relay a response back to the source. For join RREQs, an additional entry is added to the multicast route table and is not activated unless the route is selected to be part of the multicast tree. </a:t>
            </a:r>
          </a:p>
          <a:p>
            <a:pPr marL="285750" indent="-285750" algn="just">
              <a:buFont typeface="Arial" panose="020B0604020202020204" pitchFamily="34" charset="0"/>
              <a:buChar char="•"/>
            </a:pPr>
            <a:r>
              <a:rPr lang="en-US" dirty="0"/>
              <a:t>If a node receives a join RREQ for a multicast group, it may reply if it is a member for the multicast group's tree and its recorded sequence number for the multicast group is at least as great as that contained in the RREQ. </a:t>
            </a:r>
          </a:p>
        </p:txBody>
      </p:sp>
    </p:spTree>
    <p:extLst>
      <p:ext uri="{BB962C8B-B14F-4D97-AF65-F5344CB8AC3E}">
        <p14:creationId xmlns:p14="http://schemas.microsoft.com/office/powerpoint/2010/main" val="42178129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FB9331-BBBC-41EA-9724-016B814CF919}"/>
              </a:ext>
            </a:extLst>
          </p:cNvPr>
          <p:cNvSpPr/>
          <p:nvPr/>
        </p:nvSpPr>
        <p:spPr>
          <a:xfrm>
            <a:off x="260808" y="933357"/>
            <a:ext cx="11670383" cy="4801314"/>
          </a:xfrm>
          <a:prstGeom prst="rect">
            <a:avLst/>
          </a:prstGeom>
        </p:spPr>
        <p:txBody>
          <a:bodyPr wrap="square">
            <a:spAutoFit/>
          </a:bodyPr>
          <a:lstStyle/>
          <a:p>
            <a:pPr marL="285750" indent="-285750" algn="just">
              <a:buFont typeface="Arial" panose="020B0604020202020204" pitchFamily="34" charset="0"/>
              <a:buChar char="•"/>
            </a:pPr>
            <a:r>
              <a:rPr lang="en-US" dirty="0"/>
              <a:t>The responding node updates its route and multicast route tables by placing the requesting node's next hop information in the tables, and then unicasts a RREP back to the source. </a:t>
            </a:r>
          </a:p>
          <a:p>
            <a:pPr marL="285750" indent="-285750" algn="just">
              <a:buFont typeface="Arial" panose="020B0604020202020204" pitchFamily="34" charset="0"/>
              <a:buChar char="•"/>
            </a:pPr>
            <a:r>
              <a:rPr lang="en-US" dirty="0"/>
              <a:t>As nodes along the path to the source receive the RREP, they add both a route table and a multicast route table entry for the node from which they received the RREP, thereby creating the forward path. </a:t>
            </a:r>
            <a:endParaRPr lang="en-IN" dirty="0"/>
          </a:p>
          <a:p>
            <a:pPr marL="285750" indent="-285750" algn="just">
              <a:buFont typeface="Arial" panose="020B0604020202020204" pitchFamily="34" charset="0"/>
              <a:buChar char="•"/>
            </a:pPr>
            <a:r>
              <a:rPr lang="en-US" dirty="0"/>
              <a:t>When a source node broadcasts a RREQ for a multicast group, it often receives more than one reply. The source node keeps the received route with the greatest sequence number and shortest hop count to the nearest member of the multicast tree for a specified period of time, and disregards other routes. </a:t>
            </a:r>
          </a:p>
          <a:p>
            <a:pPr marL="285750" indent="-285750" algn="just">
              <a:buFont typeface="Arial" panose="020B0604020202020204" pitchFamily="34" charset="0"/>
              <a:buChar char="•"/>
            </a:pPr>
            <a:r>
              <a:rPr lang="en-US" dirty="0"/>
              <a:t>At the end of this period, it enables the selected next hop in its multicast route table, and unicasts an activation message (MACT) to this selected next hop. </a:t>
            </a:r>
          </a:p>
          <a:p>
            <a:pPr marL="285750" indent="-285750" algn="just">
              <a:buFont typeface="Arial" panose="020B0604020202020204" pitchFamily="34" charset="0"/>
              <a:buChar char="•"/>
            </a:pPr>
            <a:r>
              <a:rPr lang="en-US" dirty="0"/>
              <a:t>The next hop then enables the entry for the source node in its multicast routing table. If this node is a member of the multicast tree, it does not propagate the message any further. </a:t>
            </a:r>
          </a:p>
          <a:p>
            <a:pPr marL="285750" indent="-285750" algn="just">
              <a:buFont typeface="Arial" panose="020B0604020202020204" pitchFamily="34" charset="0"/>
              <a:buChar char="•"/>
            </a:pPr>
            <a:r>
              <a:rPr lang="en-US" dirty="0"/>
              <a:t>However, if this node is not a member of the multicast tree, it would have received one or more RREPs from its neighbors. It keeps the best next hop for its route to the multicast group, unicasts MACT to that next hop, and enables the corresponding entry in its multicast route table. </a:t>
            </a:r>
          </a:p>
          <a:p>
            <a:pPr marL="285750" indent="-285750" algn="just">
              <a:buFont typeface="Arial" panose="020B0604020202020204" pitchFamily="34" charset="0"/>
              <a:buChar char="•"/>
            </a:pPr>
            <a:r>
              <a:rPr lang="en-US" dirty="0"/>
              <a:t>This process continues until the node that originated the chosen RREP (member of tree) is reached. The activation message ensures that the multicast tree does not have multiple paths to any node in the tree. Note that nodes only forward data packets along activated routes. </a:t>
            </a:r>
            <a:endParaRPr lang="en-IN" dirty="0"/>
          </a:p>
        </p:txBody>
      </p:sp>
    </p:spTree>
    <p:extLst>
      <p:ext uri="{BB962C8B-B14F-4D97-AF65-F5344CB8AC3E}">
        <p14:creationId xmlns:p14="http://schemas.microsoft.com/office/powerpoint/2010/main" val="19788256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F19E1F-5E40-4923-9CF8-C4EC099C1BF2}"/>
              </a:ext>
            </a:extLst>
          </p:cNvPr>
          <p:cNvPicPr>
            <a:picLocks noChangeAspect="1"/>
          </p:cNvPicPr>
          <p:nvPr/>
        </p:nvPicPr>
        <p:blipFill>
          <a:blip r:embed="rId2"/>
          <a:stretch>
            <a:fillRect/>
          </a:stretch>
        </p:blipFill>
        <p:spPr>
          <a:xfrm>
            <a:off x="1470581" y="857839"/>
            <a:ext cx="8851770" cy="4967926"/>
          </a:xfrm>
          <a:prstGeom prst="rect">
            <a:avLst/>
          </a:prstGeom>
        </p:spPr>
      </p:pic>
    </p:spTree>
    <p:extLst>
      <p:ext uri="{BB962C8B-B14F-4D97-AF65-F5344CB8AC3E}">
        <p14:creationId xmlns:p14="http://schemas.microsoft.com/office/powerpoint/2010/main" val="34008980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465CD2-2450-41B3-A68C-4F6E684F9A36}"/>
              </a:ext>
            </a:extLst>
          </p:cNvPr>
          <p:cNvSpPr/>
          <p:nvPr/>
        </p:nvSpPr>
        <p:spPr>
          <a:xfrm>
            <a:off x="1911750" y="452486"/>
            <a:ext cx="8004948" cy="707886"/>
          </a:xfrm>
          <a:prstGeom prst="rect">
            <a:avLst/>
          </a:prstGeom>
        </p:spPr>
        <p:txBody>
          <a:bodyPr wrap="none">
            <a:spAutoFit/>
          </a:bodyPr>
          <a:lstStyle/>
          <a:p>
            <a:r>
              <a:rPr lang="en-IN" sz="4000" dirty="0"/>
              <a:t>Lightweight Adaptive Multicast (LAM)</a:t>
            </a:r>
          </a:p>
        </p:txBody>
      </p:sp>
      <p:sp>
        <p:nvSpPr>
          <p:cNvPr id="3" name="Rectangle 2">
            <a:extLst>
              <a:ext uri="{FF2B5EF4-FFF2-40B4-BE49-F238E27FC236}">
                <a16:creationId xmlns:a16="http://schemas.microsoft.com/office/drawing/2014/main" id="{4722C503-10FE-46F3-A99D-ECCF4724E3F0}"/>
              </a:ext>
            </a:extLst>
          </p:cNvPr>
          <p:cNvSpPr/>
          <p:nvPr/>
        </p:nvSpPr>
        <p:spPr>
          <a:xfrm>
            <a:off x="326795" y="1744834"/>
            <a:ext cx="11764652" cy="3139321"/>
          </a:xfrm>
          <a:prstGeom prst="rect">
            <a:avLst/>
          </a:prstGeom>
        </p:spPr>
        <p:txBody>
          <a:bodyPr wrap="square">
            <a:spAutoFit/>
          </a:bodyPr>
          <a:lstStyle/>
          <a:p>
            <a:pPr marL="285750" indent="-285750" algn="just">
              <a:buFont typeface="Arial" panose="020B0604020202020204" pitchFamily="34" charset="0"/>
              <a:buChar char="•"/>
            </a:pPr>
            <a:r>
              <a:rPr lang="en-US" dirty="0"/>
              <a:t>The Lightweight Adaptive Multicast (LAM) protocol [Jil998] draws on the Core-Based Tree (CBT) protocol [Ballardiel993] and the TORA unicast routing algorithm in order to provide multicast services over MANETs. </a:t>
            </a:r>
          </a:p>
          <a:p>
            <a:pPr marL="285750" indent="-285750" algn="just">
              <a:buFont typeface="Arial" panose="020B0604020202020204" pitchFamily="34" charset="0"/>
              <a:buChar char="•"/>
            </a:pPr>
            <a:r>
              <a:rPr lang="en-US" dirty="0"/>
              <a:t>As CBT is a traditional method originally designed for wired networks, with each multicast group initialized and maintained by a multicast server, or core. </a:t>
            </a:r>
          </a:p>
          <a:p>
            <a:pPr marL="285750" indent="-285750" algn="just">
              <a:buFont typeface="Arial" panose="020B0604020202020204" pitchFamily="34" charset="0"/>
              <a:buChar char="•"/>
            </a:pPr>
            <a:r>
              <a:rPr lang="en-US" dirty="0"/>
              <a:t>Hence, any node which wants to communicate with a specific multicast group can query the directory server. </a:t>
            </a:r>
          </a:p>
          <a:p>
            <a:pPr marL="285750" indent="-285750" algn="just">
              <a:buFont typeface="Arial" panose="020B0604020202020204" pitchFamily="34" charset="0"/>
              <a:buChar char="•"/>
            </a:pPr>
            <a:r>
              <a:rPr lang="en-US" dirty="0"/>
              <a:t>LAM is based on the assumption that a tightly coupled unicast-multicast routing protocol is more suitable for MANETs than a multicast protocol. </a:t>
            </a:r>
          </a:p>
          <a:p>
            <a:pPr marL="285750" indent="-285750" algn="just">
              <a:buFont typeface="Arial" panose="020B0604020202020204" pitchFamily="34" charset="0"/>
              <a:buChar char="•"/>
            </a:pPr>
            <a:r>
              <a:rPr lang="en-US" dirty="0"/>
              <a:t>Although this coupling makes it less portable, it may be more efficient due to elimination of duplicated control functionality between different protocol layers. </a:t>
            </a:r>
          </a:p>
          <a:p>
            <a:pPr marL="285750" indent="-285750" algn="just">
              <a:buFont typeface="Arial" panose="020B0604020202020204" pitchFamily="34" charset="0"/>
              <a:buChar char="•"/>
            </a:pPr>
            <a:r>
              <a:rPr lang="en-US" dirty="0"/>
              <a:t>LAM built on TORA unicast routing infrastructure, can provide multiple routes, and all network nodes are globally ordered. </a:t>
            </a:r>
          </a:p>
        </p:txBody>
      </p:sp>
    </p:spTree>
    <p:extLst>
      <p:ext uri="{BB962C8B-B14F-4D97-AF65-F5344CB8AC3E}">
        <p14:creationId xmlns:p14="http://schemas.microsoft.com/office/powerpoint/2010/main" val="30039725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4BD48E-F46D-4739-A755-14A9DF5F2475}"/>
              </a:ext>
            </a:extLst>
          </p:cNvPr>
          <p:cNvSpPr/>
          <p:nvPr/>
        </p:nvSpPr>
        <p:spPr>
          <a:xfrm>
            <a:off x="793422" y="1385843"/>
            <a:ext cx="10605155" cy="3416320"/>
          </a:xfrm>
          <a:prstGeom prst="rect">
            <a:avLst/>
          </a:prstGeom>
        </p:spPr>
        <p:txBody>
          <a:bodyPr wrap="square">
            <a:spAutoFit/>
          </a:bodyPr>
          <a:lstStyle/>
          <a:p>
            <a:pPr marL="285750" indent="-285750" algn="just">
              <a:buFont typeface="Arial" panose="020B0604020202020204" pitchFamily="34" charset="0"/>
              <a:buChar char="•"/>
            </a:pPr>
            <a:r>
              <a:rPr lang="en-US" dirty="0"/>
              <a:t>Similar to CBT, LAM builds a group-shared multicast routing tree for each multicast group centered at the CORE. The goal is to build a multicast tree which is source-initiated and group-shared. </a:t>
            </a:r>
          </a:p>
          <a:p>
            <a:pPr marL="285750" indent="-285750" algn="just">
              <a:buFont typeface="Arial" panose="020B0604020202020204" pitchFamily="34" charset="0"/>
              <a:buChar char="•"/>
            </a:pPr>
            <a:r>
              <a:rPr lang="en-US" dirty="0"/>
              <a:t>Nodes in LAM maintain two variable, POTENTIAL-PARENT and PARENT, and two lists POTENTIAL-CHILD-LIST and CHILD-LIST. </a:t>
            </a:r>
          </a:p>
          <a:p>
            <a:pPr marL="285750" indent="-285750" algn="just">
              <a:buFont typeface="Arial" panose="020B0604020202020204" pitchFamily="34" charset="0"/>
              <a:buChar char="•"/>
            </a:pPr>
            <a:r>
              <a:rPr lang="en-US" dirty="0"/>
              <a:t>The PARENT variable is used to remember the parent node in the multicast tree. The CHILD-LIST stores identities of one-hop children in the multicasting tree. </a:t>
            </a:r>
          </a:p>
          <a:p>
            <a:pPr marL="285750" indent="-285750" algn="just">
              <a:buFont typeface="Arial" panose="020B0604020202020204" pitchFamily="34" charset="0"/>
              <a:buChar char="•"/>
            </a:pPr>
            <a:r>
              <a:rPr lang="en-US" dirty="0"/>
              <a:t>These potential data objects are used when the node is in a "join" or "rejoin" waiting state. Since LAM is based on CBT approach to build the multicast delivery tree, with one CORE for a group, LAM is not very robust, especially in a MANET environment. </a:t>
            </a:r>
          </a:p>
          <a:p>
            <a:pPr marL="285750" indent="-285750" algn="just">
              <a:buFont typeface="Arial" panose="020B0604020202020204" pitchFamily="34" charset="0"/>
              <a:buChar char="•"/>
            </a:pPr>
            <a:r>
              <a:rPr lang="en-US" dirty="0"/>
              <a:t>To address the problem posed by having a single centralized core, Inter-core LAM (IC-LAM) is proposed [Jil998]. IC-LAM is a tunnel-based protocol connecting multiple cores. By allowing multiple cores, IC-LAM avoids total group failure due to a single core failure.  </a:t>
            </a:r>
            <a:endParaRPr lang="en-IN" dirty="0"/>
          </a:p>
        </p:txBody>
      </p:sp>
    </p:spTree>
    <p:extLst>
      <p:ext uri="{BB962C8B-B14F-4D97-AF65-F5344CB8AC3E}">
        <p14:creationId xmlns:p14="http://schemas.microsoft.com/office/powerpoint/2010/main" val="1880966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BACA2A-553B-41E0-8CDB-B6AE67FA1FE7}"/>
              </a:ext>
            </a:extLst>
          </p:cNvPr>
          <p:cNvSpPr/>
          <p:nvPr/>
        </p:nvSpPr>
        <p:spPr>
          <a:xfrm>
            <a:off x="0" y="782425"/>
            <a:ext cx="11821213" cy="1323439"/>
          </a:xfrm>
          <a:prstGeom prst="rect">
            <a:avLst/>
          </a:prstGeom>
        </p:spPr>
        <p:txBody>
          <a:bodyPr wrap="square">
            <a:spAutoFit/>
          </a:bodyPr>
          <a:lstStyle/>
          <a:p>
            <a:pPr algn="ctr"/>
            <a:r>
              <a:rPr lang="en-US" sz="4000" dirty="0"/>
              <a:t>Location Guided Tree Construction Algorithm for Small Group Multicast </a:t>
            </a:r>
            <a:endParaRPr lang="en-IN" sz="4000" dirty="0"/>
          </a:p>
        </p:txBody>
      </p:sp>
      <p:sp>
        <p:nvSpPr>
          <p:cNvPr id="3" name="Rectangle 2">
            <a:extLst>
              <a:ext uri="{FF2B5EF4-FFF2-40B4-BE49-F238E27FC236}">
                <a16:creationId xmlns:a16="http://schemas.microsoft.com/office/drawing/2014/main" id="{ED5192A9-388A-48AA-AFB9-D988B9C14D17}"/>
              </a:ext>
            </a:extLst>
          </p:cNvPr>
          <p:cNvSpPr/>
          <p:nvPr/>
        </p:nvSpPr>
        <p:spPr>
          <a:xfrm>
            <a:off x="221530" y="2360426"/>
            <a:ext cx="11748940" cy="3416320"/>
          </a:xfrm>
          <a:prstGeom prst="rect">
            <a:avLst/>
          </a:prstGeom>
        </p:spPr>
        <p:txBody>
          <a:bodyPr wrap="square">
            <a:spAutoFit/>
          </a:bodyPr>
          <a:lstStyle/>
          <a:p>
            <a:pPr marL="285750" indent="-285750" algn="just">
              <a:buFont typeface="Arial" panose="020B0604020202020204" pitchFamily="34" charset="0"/>
              <a:buChar char="•"/>
            </a:pPr>
            <a:r>
              <a:rPr lang="en-US" dirty="0"/>
              <a:t>The Location Guided Tree (LGT) [Chen2002] is a small group multicast schemes based on packet encapsulation. It builds an overlay multicast packet distribution tree on top of the underlying unicast routing protocol. </a:t>
            </a:r>
          </a:p>
          <a:p>
            <a:pPr marL="285750" indent="-285750" algn="just">
              <a:buFont typeface="Arial" panose="020B0604020202020204" pitchFamily="34" charset="0"/>
              <a:buChar char="•"/>
            </a:pPr>
            <a:r>
              <a:rPr lang="en-US" dirty="0"/>
              <a:t>Multicast data is encapsulated in a unicast packet and transmitted only among the group nodes. It is based on the construction of two types of tree, location-guided k-array (LGK) tree and a location guided Steiner (LGS) tree. </a:t>
            </a:r>
          </a:p>
          <a:p>
            <a:pPr marL="285750" indent="-285750" algn="just">
              <a:buFont typeface="Arial" panose="020B0604020202020204" pitchFamily="34" charset="0"/>
              <a:buChar char="•"/>
            </a:pPr>
            <a:r>
              <a:rPr lang="en-US" dirty="0"/>
              <a:t>The geometric location information of the destination nodes is utilized to construct the packet distribution tree without knowing the global topology of the network (Figure 3.6). </a:t>
            </a:r>
          </a:p>
          <a:p>
            <a:pPr marL="285750" indent="-285750" algn="just">
              <a:buFont typeface="Arial" panose="020B0604020202020204" pitchFamily="34" charset="0"/>
              <a:buChar char="•"/>
            </a:pPr>
            <a:r>
              <a:rPr lang="en-US" dirty="0"/>
              <a:t>It is assumed that the longer the geometric distance is, longer will be the network-level hops to reach the destination. Therefore, algorithms attempt to construct a tree with geometrically shorter tree edges. </a:t>
            </a:r>
          </a:p>
          <a:p>
            <a:pPr marL="285750" indent="-285750" algn="just">
              <a:buFont typeface="Arial" panose="020B0604020202020204" pitchFamily="34" charset="0"/>
              <a:buChar char="•"/>
            </a:pPr>
            <a:r>
              <a:rPr lang="en-US" dirty="0"/>
              <a:t>The protocol also supports an optimization mechanism through route caching, wherein a node can cache the computed route and re-use the route next time when a new packet comes in with the same set of destinations. </a:t>
            </a:r>
          </a:p>
          <a:p>
            <a:pPr marL="285750" indent="-285750" algn="just">
              <a:buFont typeface="Arial" panose="020B0604020202020204" pitchFamily="34" charset="0"/>
              <a:buChar char="•"/>
            </a:pPr>
            <a:r>
              <a:rPr lang="en-US" dirty="0"/>
              <a:t>In LGK tree approach, the sender first selects nearest k destinations as children nodes. The sender then groups the rest of the nodes to its k children as per the closeness to geometric proximity.</a:t>
            </a:r>
          </a:p>
        </p:txBody>
      </p:sp>
    </p:spTree>
    <p:extLst>
      <p:ext uri="{BB962C8B-B14F-4D97-AF65-F5344CB8AC3E}">
        <p14:creationId xmlns:p14="http://schemas.microsoft.com/office/powerpoint/2010/main" val="13163215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2CA6BBE-8D9F-4516-BE2A-CBD988865A42}"/>
              </a:ext>
            </a:extLst>
          </p:cNvPr>
          <p:cNvSpPr/>
          <p:nvPr/>
        </p:nvSpPr>
        <p:spPr>
          <a:xfrm>
            <a:off x="540469" y="532614"/>
            <a:ext cx="10752842" cy="1754326"/>
          </a:xfrm>
          <a:prstGeom prst="rect">
            <a:avLst/>
          </a:prstGeom>
        </p:spPr>
        <p:txBody>
          <a:bodyPr wrap="square">
            <a:spAutoFit/>
          </a:bodyPr>
          <a:lstStyle/>
          <a:p>
            <a:pPr marL="285750" indent="-285750" algn="just">
              <a:buFont typeface="Arial" panose="020B0604020202020204" pitchFamily="34" charset="0"/>
              <a:buChar char="•"/>
            </a:pPr>
            <a:r>
              <a:rPr lang="en-US" dirty="0"/>
              <a:t>Once the group nodes are mapped to its corresponding child nodes, the sender forwards a copy of the encapsulated packet to each of the k children with its corresponding subtree (sub destination list of group members) as destinations. The process stops when an in-coming packet has an empty destination list. In the LGS scheme, based on the geometric distance as a measurement of closeness, a Steiner tree is constructed, which uses the multicast group members as tree nodes. The protocol uses a hybrid mechanism for location/membership update, which includes in-band update and periodic update.  </a:t>
            </a:r>
            <a:endParaRPr lang="en-IN" dirty="0"/>
          </a:p>
        </p:txBody>
      </p:sp>
      <p:pic>
        <p:nvPicPr>
          <p:cNvPr id="3" name="Picture 2">
            <a:extLst>
              <a:ext uri="{FF2B5EF4-FFF2-40B4-BE49-F238E27FC236}">
                <a16:creationId xmlns:a16="http://schemas.microsoft.com/office/drawing/2014/main" id="{5B2E94E7-322E-40E7-8849-8278B269983B}"/>
              </a:ext>
            </a:extLst>
          </p:cNvPr>
          <p:cNvPicPr>
            <a:picLocks noChangeAspect="1"/>
          </p:cNvPicPr>
          <p:nvPr/>
        </p:nvPicPr>
        <p:blipFill>
          <a:blip r:embed="rId2"/>
          <a:stretch>
            <a:fillRect/>
          </a:stretch>
        </p:blipFill>
        <p:spPr>
          <a:xfrm>
            <a:off x="1630836" y="2483190"/>
            <a:ext cx="7541443" cy="3700794"/>
          </a:xfrm>
          <a:prstGeom prst="rect">
            <a:avLst/>
          </a:prstGeom>
        </p:spPr>
      </p:pic>
    </p:spTree>
    <p:extLst>
      <p:ext uri="{BB962C8B-B14F-4D97-AF65-F5344CB8AC3E}">
        <p14:creationId xmlns:p14="http://schemas.microsoft.com/office/powerpoint/2010/main" val="32511911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F557E5-1FB7-44CF-9EF7-4AC218A271FC}"/>
              </a:ext>
            </a:extLst>
          </p:cNvPr>
          <p:cNvSpPr/>
          <p:nvPr/>
        </p:nvSpPr>
        <p:spPr>
          <a:xfrm>
            <a:off x="3195573" y="622169"/>
            <a:ext cx="4989956" cy="707886"/>
          </a:xfrm>
          <a:prstGeom prst="rect">
            <a:avLst/>
          </a:prstGeom>
        </p:spPr>
        <p:txBody>
          <a:bodyPr wrap="none">
            <a:spAutoFit/>
          </a:bodyPr>
          <a:lstStyle/>
          <a:p>
            <a:r>
              <a:rPr lang="en-IN" sz="4000" dirty="0"/>
              <a:t>Multicast Zone Routing</a:t>
            </a:r>
          </a:p>
        </p:txBody>
      </p:sp>
      <p:sp>
        <p:nvSpPr>
          <p:cNvPr id="3" name="Rectangle 2">
            <a:extLst>
              <a:ext uri="{FF2B5EF4-FFF2-40B4-BE49-F238E27FC236}">
                <a16:creationId xmlns:a16="http://schemas.microsoft.com/office/drawing/2014/main" id="{A2ABA625-D026-4858-AAB4-36488A032CF3}"/>
              </a:ext>
            </a:extLst>
          </p:cNvPr>
          <p:cNvSpPr/>
          <p:nvPr/>
        </p:nvSpPr>
        <p:spPr>
          <a:xfrm>
            <a:off x="180681" y="1989931"/>
            <a:ext cx="11631105" cy="3416320"/>
          </a:xfrm>
          <a:prstGeom prst="rect">
            <a:avLst/>
          </a:prstGeom>
        </p:spPr>
        <p:txBody>
          <a:bodyPr wrap="square">
            <a:spAutoFit/>
          </a:bodyPr>
          <a:lstStyle/>
          <a:p>
            <a:pPr marL="285750" indent="-285750" algn="just">
              <a:buFont typeface="Arial" panose="020B0604020202020204" pitchFamily="34" charset="0"/>
              <a:buChar char="•"/>
            </a:pPr>
            <a:r>
              <a:rPr lang="en-US" dirty="0"/>
              <a:t>The Multicast Zone Routing (MZR) protocol [Devarapalli2001] is based on, but is not dependent on any specific routing mechanism. </a:t>
            </a:r>
          </a:p>
          <a:p>
            <a:pPr marL="285750" indent="-285750" algn="just">
              <a:buFont typeface="Arial" panose="020B0604020202020204" pitchFamily="34" charset="0"/>
              <a:buChar char="•"/>
            </a:pPr>
            <a:r>
              <a:rPr lang="en-US" dirty="0"/>
              <a:t>It takes into consideration the hierarchical structure used by the ZRP unicast routing protocol. As we have seen before, a ZRP network is partitioned into zones. </a:t>
            </a:r>
          </a:p>
          <a:p>
            <a:pPr marL="285750" indent="-285750" algn="just">
              <a:buFont typeface="Arial" panose="020B0604020202020204" pitchFamily="34" charset="0"/>
              <a:buChar char="•"/>
            </a:pPr>
            <a:r>
              <a:rPr lang="en-US" dirty="0"/>
              <a:t>Each node computes its own zone, which is determined to be the set of nodes that lie within a certain zone radius of the node. </a:t>
            </a:r>
          </a:p>
          <a:p>
            <a:pPr marL="285750" indent="-285750" algn="just">
              <a:buFont typeface="Arial" panose="020B0604020202020204" pitchFamily="34" charset="0"/>
              <a:buChar char="•"/>
            </a:pPr>
            <a:r>
              <a:rPr lang="en-US" dirty="0"/>
              <a:t>ZRP is described as a hybrid approach between the proactive and reactive routing protocols, where routing is proactive inside the zones (i.e., a unicast route is proactively maintained between every pair of nodes in a zone) and reactive between the zones (i.e., a route between two nodes in different zones is created when needed). </a:t>
            </a:r>
          </a:p>
          <a:p>
            <a:pPr marL="285750" indent="-285750" algn="just">
              <a:buFont typeface="Arial" panose="020B0604020202020204" pitchFamily="34" charset="0"/>
              <a:buChar char="•"/>
            </a:pPr>
            <a:r>
              <a:rPr lang="en-US" dirty="0"/>
              <a:t>To create a zone, a MZR node A broadcasts an ADVERTISEMENT message with a time-to-live (TTL) equal to a pre-configured ZONE RADIUS, or the radius of the zone. </a:t>
            </a:r>
          </a:p>
          <a:p>
            <a:pPr marL="285750" indent="-285750" algn="just">
              <a:buFont typeface="Arial" panose="020B0604020202020204" pitchFamily="34" charset="0"/>
              <a:buChar char="•"/>
            </a:pPr>
            <a:endParaRPr lang="en-IN" dirty="0"/>
          </a:p>
        </p:txBody>
      </p:sp>
    </p:spTree>
    <p:extLst>
      <p:ext uri="{BB962C8B-B14F-4D97-AF65-F5344CB8AC3E}">
        <p14:creationId xmlns:p14="http://schemas.microsoft.com/office/powerpoint/2010/main" val="39964911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ADFB8FC-DAD9-451B-9748-9E83F3E5B7DF}"/>
              </a:ext>
            </a:extLst>
          </p:cNvPr>
          <p:cNvSpPr/>
          <p:nvPr/>
        </p:nvSpPr>
        <p:spPr>
          <a:xfrm>
            <a:off x="179110" y="1029062"/>
            <a:ext cx="11670384" cy="4247317"/>
          </a:xfrm>
          <a:prstGeom prst="rect">
            <a:avLst/>
          </a:prstGeom>
        </p:spPr>
        <p:txBody>
          <a:bodyPr wrap="square">
            <a:spAutoFit/>
          </a:bodyPr>
          <a:lstStyle/>
          <a:p>
            <a:pPr marL="285750" indent="-285750" algn="just">
              <a:buFont typeface="Arial" panose="020B0604020202020204" pitchFamily="34" charset="0"/>
              <a:buChar char="•"/>
            </a:pPr>
            <a:r>
              <a:rPr lang="en-US" dirty="0"/>
              <a:t>Node B within the zone radius decrements the TTL and forwards the message if appropriate. Node B makes an entry in its routing table for node A, with the last hop of the ADVERTISEMENT message as the next hop towards the destination, i.e., the source of the ADVERTISEMENT message. </a:t>
            </a:r>
          </a:p>
          <a:p>
            <a:pPr marL="285750" indent="-285750" algn="just">
              <a:buFont typeface="Arial" panose="020B0604020202020204" pitchFamily="34" charset="0"/>
              <a:buChar char="•"/>
            </a:pPr>
            <a:r>
              <a:rPr lang="en-US" dirty="0"/>
              <a:t>The distance is set to the hop count of the packet. Nodes that are ZONE-RADIUS hops away from node A become border nodes, and serve as a gateway between node A's zone and the rest of the network for zone routing and multicast zone routing. </a:t>
            </a:r>
          </a:p>
          <a:p>
            <a:pPr marL="285750" indent="-285750" algn="just">
              <a:buFont typeface="Arial" panose="020B0604020202020204" pitchFamily="34" charset="0"/>
              <a:buChar char="•"/>
            </a:pPr>
            <a:r>
              <a:rPr lang="en-US" dirty="0"/>
              <a:t>In the spirit of zone routing, MZR begins its search for a multicast tree within the zone before extending the search outward. MZR is a source-specific algorithm, meaning that a multicast tree is created for each source-group pair. When a source wants to start sending multicast traffic it initiates the construction of a multicast tree. </a:t>
            </a:r>
          </a:p>
          <a:p>
            <a:pPr marL="285750" indent="-285750" algn="just">
              <a:buFont typeface="Arial" panose="020B0604020202020204" pitchFamily="34" charset="0"/>
              <a:buChar char="•"/>
            </a:pPr>
            <a:r>
              <a:rPr lang="en-US" dirty="0"/>
              <a:t>The source node sends a TREE-CREATE packet to each node in its zone. Nodes that receive this message and want to receive multicast data respond with a TREE-CREATE-ACK packet. A TREE-CREATE-ACK packet is sent back to the source of the multicast session and, as the packet travels up the tree, intermediate nodes mark in their routing tables the last hop of the TREE-CREATE-ACK as a downstream node. In this way, a reverse multicast path is created. Tree creation continues in the new zone in the same way as described above and an example is shown in Figure 3.7 taken from [Devarapalli2001]. </a:t>
            </a:r>
            <a:endParaRPr lang="en-IN" dirty="0"/>
          </a:p>
        </p:txBody>
      </p:sp>
    </p:spTree>
    <p:extLst>
      <p:ext uri="{BB962C8B-B14F-4D97-AF65-F5344CB8AC3E}">
        <p14:creationId xmlns:p14="http://schemas.microsoft.com/office/powerpoint/2010/main" val="18415878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E5C2D2-EE01-46B8-9414-8A73822AB932}"/>
              </a:ext>
            </a:extLst>
          </p:cNvPr>
          <p:cNvPicPr>
            <a:picLocks noChangeAspect="1"/>
          </p:cNvPicPr>
          <p:nvPr/>
        </p:nvPicPr>
        <p:blipFill>
          <a:blip r:embed="rId2"/>
          <a:stretch>
            <a:fillRect/>
          </a:stretch>
        </p:blipFill>
        <p:spPr>
          <a:xfrm>
            <a:off x="1696826" y="490195"/>
            <a:ext cx="8191892" cy="5910606"/>
          </a:xfrm>
          <a:prstGeom prst="rect">
            <a:avLst/>
          </a:prstGeom>
        </p:spPr>
      </p:pic>
    </p:spTree>
    <p:extLst>
      <p:ext uri="{BB962C8B-B14F-4D97-AF65-F5344CB8AC3E}">
        <p14:creationId xmlns:p14="http://schemas.microsoft.com/office/powerpoint/2010/main" val="26223435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4CE08B-7755-4AD8-99A4-0D31D7010EF1}"/>
              </a:ext>
            </a:extLst>
          </p:cNvPr>
          <p:cNvSpPr/>
          <p:nvPr/>
        </p:nvSpPr>
        <p:spPr>
          <a:xfrm>
            <a:off x="1656114" y="0"/>
            <a:ext cx="8342797" cy="707886"/>
          </a:xfrm>
          <a:prstGeom prst="rect">
            <a:avLst/>
          </a:prstGeom>
        </p:spPr>
        <p:txBody>
          <a:bodyPr wrap="none">
            <a:spAutoFit/>
          </a:bodyPr>
          <a:lstStyle/>
          <a:p>
            <a:r>
              <a:rPr lang="en-US" sz="4000" dirty="0"/>
              <a:t>Multicast Optimized Link State Routing </a:t>
            </a:r>
            <a:endParaRPr lang="en-IN" sz="4000" dirty="0"/>
          </a:p>
        </p:txBody>
      </p:sp>
      <p:sp>
        <p:nvSpPr>
          <p:cNvPr id="3" name="Rectangle 2">
            <a:extLst>
              <a:ext uri="{FF2B5EF4-FFF2-40B4-BE49-F238E27FC236}">
                <a16:creationId xmlns:a16="http://schemas.microsoft.com/office/drawing/2014/main" id="{351FEFFE-6569-4838-93D9-49B202101CB0}"/>
              </a:ext>
            </a:extLst>
          </p:cNvPr>
          <p:cNvSpPr/>
          <p:nvPr/>
        </p:nvSpPr>
        <p:spPr>
          <a:xfrm>
            <a:off x="241954" y="707886"/>
            <a:ext cx="11708092" cy="5355312"/>
          </a:xfrm>
          <a:prstGeom prst="rect">
            <a:avLst/>
          </a:prstGeom>
        </p:spPr>
        <p:txBody>
          <a:bodyPr wrap="square">
            <a:spAutoFit/>
          </a:bodyPr>
          <a:lstStyle/>
          <a:p>
            <a:pPr marL="285750" indent="-285750" algn="just">
              <a:buFont typeface="Arial" panose="020B0604020202020204" pitchFamily="34" charset="0"/>
              <a:buChar char="•"/>
            </a:pPr>
            <a:r>
              <a:rPr lang="en-US" dirty="0"/>
              <a:t>As in MZR, the Multicast Optimized Link State Routing (MOLSR) protocol [Jacquet2001] (an extension of the OLSR unicast routing protocol) creates a source specific multicast tree. </a:t>
            </a:r>
          </a:p>
          <a:p>
            <a:pPr marL="285750" indent="-285750" algn="just">
              <a:buFont typeface="Arial" panose="020B0604020202020204" pitchFamily="34" charset="0"/>
              <a:buChar char="•"/>
            </a:pPr>
            <a:r>
              <a:rPr lang="en-US" dirty="0"/>
              <a:t>Unlike MZR, MOLSR is dependent on OLSR as an underlying unicast routing algorithm. Multicast-capable routers in an OLSR network periodically advertise their ability to route and build multicast routes with a MC_CLAEVI message. </a:t>
            </a:r>
          </a:p>
          <a:p>
            <a:pPr marL="285750" indent="-285750" algn="just">
              <a:buFont typeface="Arial" panose="020B0604020202020204" pitchFamily="34" charset="0"/>
              <a:buChar char="•"/>
            </a:pPr>
            <a:r>
              <a:rPr lang="en-US" dirty="0"/>
              <a:t>This message carries no information and is only used to declare the router's capabilities to the network. MC_CLAEVI messages are sent to every node in the network every MC_CLAEVI_PERIOD seconds. </a:t>
            </a:r>
          </a:p>
          <a:p>
            <a:pPr marL="285750" indent="-285750" algn="just">
              <a:buFont typeface="Arial" panose="020B0604020202020204" pitchFamily="34" charset="0"/>
              <a:buChar char="•"/>
            </a:pPr>
            <a:r>
              <a:rPr lang="en-US" dirty="0"/>
              <a:t>Because the information in a MC_CLAIM message does not change over time, a relatively long MC_CLAIM_PERIOD should be used. </a:t>
            </a:r>
          </a:p>
          <a:p>
            <a:pPr marL="285750" indent="-285750" algn="just">
              <a:buFont typeface="Arial" panose="020B0604020202020204" pitchFamily="34" charset="0"/>
              <a:buChar char="•"/>
            </a:pPr>
            <a:r>
              <a:rPr lang="en-US" dirty="0"/>
              <a:t>Using this and the information provided by the OLSR's TC messages, MOLSR nodes can calculate shortest path routes to every potential multicast source. </a:t>
            </a:r>
          </a:p>
          <a:p>
            <a:pPr marL="285750" indent="-285750" algn="just">
              <a:buFont typeface="Arial" panose="020B0604020202020204" pitchFamily="34" charset="0"/>
              <a:buChar char="•"/>
            </a:pPr>
            <a:r>
              <a:rPr lang="en-US" dirty="0"/>
              <a:t>This is done in the same manner seen in OLSR, except that now the routes consist entirely of multicast-capable OLSR routers. Multicast routes are built in a backward manner similar to the method used in MZR. </a:t>
            </a:r>
          </a:p>
          <a:p>
            <a:pPr marL="285750" indent="-285750" algn="just">
              <a:buFont typeface="Arial" panose="020B0604020202020204" pitchFamily="34" charset="0"/>
              <a:buChar char="•"/>
            </a:pPr>
            <a:r>
              <a:rPr lang="en-US" dirty="0"/>
              <a:t>A source that wants to send multicast traffic advertises its intentions by broadcasting a SOURCE_CLAEVI message to every node in the network. </a:t>
            </a:r>
          </a:p>
          <a:p>
            <a:pPr marL="285750" indent="-285750" algn="just">
              <a:buFont typeface="Arial" panose="020B0604020202020204" pitchFamily="34" charset="0"/>
              <a:buChar char="•"/>
            </a:pPr>
            <a:r>
              <a:rPr lang="en-US" dirty="0"/>
              <a:t>Before responding to the SOURCE_CLAIM, a multicast receiver first checks its multicast routing table. If an entry does not already exist, the node creates one and sets the timer to the SOURCE_HOLD_TEVIE and the list of child nodes to null. </a:t>
            </a:r>
          </a:p>
          <a:p>
            <a:pPr marL="285750" indent="-285750" algn="just">
              <a:buFont typeface="Arial" panose="020B0604020202020204" pitchFamily="34" charset="0"/>
              <a:buChar char="•"/>
            </a:pPr>
            <a:r>
              <a:rPr lang="en-US" dirty="0"/>
              <a:t>The node then sets the parent node to the next hop towards the multicast source, as determined from its multicast routing table, and sends a CONFIRM_PARENT to the parent node. </a:t>
            </a:r>
          </a:p>
          <a:p>
            <a:pPr marL="285750" indent="-285750" algn="just">
              <a:buFont typeface="Arial" panose="020B0604020202020204" pitchFamily="34" charset="0"/>
              <a:buChar char="•"/>
            </a:pPr>
            <a:r>
              <a:rPr lang="en-US" dirty="0"/>
              <a:t>If an entry does exist, the node simply updates the timer, and does not send a CONFIRM_PARENT message to its parent.</a:t>
            </a:r>
            <a:endParaRPr lang="en-IN" dirty="0"/>
          </a:p>
        </p:txBody>
      </p:sp>
    </p:spTree>
    <p:extLst>
      <p:ext uri="{BB962C8B-B14F-4D97-AF65-F5344CB8AC3E}">
        <p14:creationId xmlns:p14="http://schemas.microsoft.com/office/powerpoint/2010/main" val="40741331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4B604E-F60C-49AA-8A5D-539F2A1915FE}"/>
              </a:ext>
            </a:extLst>
          </p:cNvPr>
          <p:cNvSpPr/>
          <p:nvPr/>
        </p:nvSpPr>
        <p:spPr>
          <a:xfrm>
            <a:off x="260808" y="719415"/>
            <a:ext cx="11670384" cy="5632311"/>
          </a:xfrm>
          <a:prstGeom prst="rect">
            <a:avLst/>
          </a:prstGeom>
        </p:spPr>
        <p:txBody>
          <a:bodyPr wrap="square">
            <a:spAutoFit/>
          </a:bodyPr>
          <a:lstStyle/>
          <a:p>
            <a:pPr marL="285750" indent="-285750" algn="just">
              <a:buFont typeface="Arial" panose="020B0604020202020204" pitchFamily="34" charset="0"/>
              <a:buChar char="•"/>
            </a:pPr>
            <a:r>
              <a:rPr lang="en-US" dirty="0"/>
              <a:t>In either case, if the node is an MPR node for the last hop, it forwards the SOURCE_CLAIM. When a node receives a CONFIRM_PARENT message it checks its multicast routing table for an entry. </a:t>
            </a:r>
          </a:p>
          <a:p>
            <a:pPr marL="285750" indent="-285750" algn="just">
              <a:buFont typeface="Arial" panose="020B0604020202020204" pitchFamily="34" charset="0"/>
              <a:buChar char="•"/>
            </a:pPr>
            <a:r>
              <a:rPr lang="en-US" dirty="0"/>
              <a:t>If the entry does not exist, it creates one and sets the sons and parents to null. </a:t>
            </a:r>
          </a:p>
          <a:p>
            <a:pPr marL="285750" indent="-285750" algn="just">
              <a:buFont typeface="Arial" panose="020B0604020202020204" pitchFamily="34" charset="0"/>
              <a:buChar char="•"/>
            </a:pPr>
            <a:r>
              <a:rPr lang="en-US" dirty="0"/>
              <a:t>If the last hop of the CONFIRM_PARENT packet does not exist in the sons list, it adds and updates the son timer to SON_HOLD_TEVIE. If the son does exist, it simply updates the SON_HOLD_TIME. </a:t>
            </a:r>
          </a:p>
          <a:p>
            <a:pPr marL="285750" indent="-285750" algn="just">
              <a:buFont typeface="Arial" panose="020B0604020202020204" pitchFamily="34" charset="0"/>
              <a:buChar char="•"/>
            </a:pPr>
            <a:r>
              <a:rPr lang="en-US" dirty="0"/>
              <a:t>The node then sets the parent address to the next hop in the multicast routing table to reach the source, as determined by the multicast routing table. </a:t>
            </a:r>
          </a:p>
          <a:p>
            <a:pPr marL="285750" indent="-285750" algn="just">
              <a:buFont typeface="Arial" panose="020B0604020202020204" pitchFamily="34" charset="0"/>
              <a:buChar char="•"/>
            </a:pPr>
            <a:r>
              <a:rPr lang="en-US" dirty="0"/>
              <a:t>A multicast source periodically sends a SOURCE_CLAIM message to every node in the network for two reasons. First, it informs multicast receivers that the source is still sending data and that all of the nodes in the multicast tree should update their multicast timers. </a:t>
            </a:r>
          </a:p>
          <a:p>
            <a:pPr marL="285750" indent="-285750" algn="just">
              <a:buFont typeface="Arial" panose="020B0604020202020204" pitchFamily="34" charset="0"/>
              <a:buChar char="•"/>
            </a:pPr>
            <a:r>
              <a:rPr lang="en-US" dirty="0"/>
              <a:t>Second, it allows unattached hosts to join the multicast group. If a node detects that the next hop entry towards the multicast source has changed, a node must inform the new entry that it is now a multicast parent. </a:t>
            </a:r>
          </a:p>
          <a:p>
            <a:pPr marL="285750" indent="-285750" algn="just">
              <a:buFont typeface="Arial" panose="020B0604020202020204" pitchFamily="34" charset="0"/>
              <a:buChar char="•"/>
            </a:pPr>
            <a:r>
              <a:rPr lang="en-US" dirty="0"/>
              <a:t>To do this, the node must send a CONFIRM_PARENT message to the node. </a:t>
            </a:r>
          </a:p>
          <a:p>
            <a:pPr marL="285750" indent="-285750" algn="just">
              <a:buFont typeface="Arial" panose="020B0604020202020204" pitchFamily="34" charset="0"/>
              <a:buChar char="•"/>
            </a:pPr>
            <a:r>
              <a:rPr lang="en-US" dirty="0"/>
              <a:t>If the old parent is reachable, the node may send a LEAVE message to the old parent to disable the route. A node periodically sends out CONFIRM_PARENT messages to inform its parents that it still wishes to receive multicast traffic. </a:t>
            </a:r>
          </a:p>
          <a:p>
            <a:pPr marL="285750" indent="-285750" algn="just">
              <a:buFont typeface="Arial" panose="020B0604020202020204" pitchFamily="34" charset="0"/>
              <a:buChar char="•"/>
            </a:pPr>
            <a:r>
              <a:rPr lang="en-US" dirty="0"/>
              <a:t>A MOLSR node that wants to leave a multicast group and that has no sons sends a LEAVE message to its parent. The parent removes this node from the son list and, if the list becomes empty, it sends a LEAVE message to its parent. </a:t>
            </a:r>
          </a:p>
          <a:p>
            <a:pPr marL="285750" indent="-285750" algn="just">
              <a:buFont typeface="Arial" panose="020B0604020202020204" pitchFamily="34" charset="0"/>
              <a:buChar char="•"/>
            </a:pPr>
            <a:r>
              <a:rPr lang="en-US" dirty="0"/>
              <a:t>This continues until a node that wants to receive data or a node with at least two sons, is reached. </a:t>
            </a:r>
          </a:p>
          <a:p>
            <a:pPr marL="285750" indent="-285750" algn="just">
              <a:buFont typeface="Arial" panose="020B0604020202020204" pitchFamily="34" charset="0"/>
              <a:buChar char="•"/>
            </a:pPr>
            <a:r>
              <a:rPr lang="en-US" dirty="0"/>
              <a:t>As mentioned above, a node may send a LEAVE message if a change in network topology causes a change in the multicast tree.  </a:t>
            </a:r>
            <a:endParaRPr lang="en-IN" dirty="0"/>
          </a:p>
        </p:txBody>
      </p:sp>
    </p:spTree>
    <p:extLst>
      <p:ext uri="{BB962C8B-B14F-4D97-AF65-F5344CB8AC3E}">
        <p14:creationId xmlns:p14="http://schemas.microsoft.com/office/powerpoint/2010/main" val="42874294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CFE056-F6A0-40B4-890C-A4E100C37B96}"/>
              </a:ext>
            </a:extLst>
          </p:cNvPr>
          <p:cNvSpPr/>
          <p:nvPr/>
        </p:nvSpPr>
        <p:spPr>
          <a:xfrm>
            <a:off x="4248927" y="669303"/>
            <a:ext cx="3459730" cy="707886"/>
          </a:xfrm>
          <a:prstGeom prst="rect">
            <a:avLst/>
          </a:prstGeom>
        </p:spPr>
        <p:txBody>
          <a:bodyPr wrap="none">
            <a:spAutoFit/>
          </a:bodyPr>
          <a:lstStyle/>
          <a:p>
            <a:r>
              <a:rPr lang="en-IN" sz="4000" dirty="0"/>
              <a:t>Other Protocols</a:t>
            </a:r>
          </a:p>
        </p:txBody>
      </p:sp>
      <p:sp>
        <p:nvSpPr>
          <p:cNvPr id="3" name="Rectangle 2">
            <a:extLst>
              <a:ext uri="{FF2B5EF4-FFF2-40B4-BE49-F238E27FC236}">
                <a16:creationId xmlns:a16="http://schemas.microsoft.com/office/drawing/2014/main" id="{96EF1F00-E3DF-4C3F-BFEE-6871B930F929}"/>
              </a:ext>
            </a:extLst>
          </p:cNvPr>
          <p:cNvSpPr/>
          <p:nvPr/>
        </p:nvSpPr>
        <p:spPr>
          <a:xfrm>
            <a:off x="311084" y="1878912"/>
            <a:ext cx="11717517" cy="2862322"/>
          </a:xfrm>
          <a:prstGeom prst="rect">
            <a:avLst/>
          </a:prstGeom>
        </p:spPr>
        <p:txBody>
          <a:bodyPr wrap="square">
            <a:spAutoFit/>
          </a:bodyPr>
          <a:lstStyle/>
          <a:p>
            <a:pPr marL="285750" indent="-285750" algn="just">
              <a:buFont typeface="Arial" panose="020B0604020202020204" pitchFamily="34" charset="0"/>
              <a:buChar char="•"/>
            </a:pPr>
            <a:r>
              <a:rPr lang="en-US" dirty="0"/>
              <a:t>The Associativity-Based Ad Hoc Multicast (ABAM) [Tob.2000] is an on-demand source-initiated multicast routing protocol for ad hoc wireless networks. </a:t>
            </a:r>
          </a:p>
          <a:p>
            <a:pPr marL="285750" indent="-285750" algn="just">
              <a:buFont typeface="Arial" panose="020B0604020202020204" pitchFamily="34" charset="0"/>
              <a:buChar char="•"/>
            </a:pPr>
            <a:r>
              <a:rPr lang="en-US" dirty="0"/>
              <a:t>Here, a multicast tree is built for each multicast group based on association stability. The link status of each node is monitored by its neighbors. </a:t>
            </a:r>
          </a:p>
          <a:p>
            <a:pPr marL="285750" indent="-285750" algn="just">
              <a:buFont typeface="Arial" panose="020B0604020202020204" pitchFamily="34" charset="0"/>
              <a:buChar char="•"/>
            </a:pPr>
            <a:r>
              <a:rPr lang="en-US" dirty="0"/>
              <a:t>ABAM deals with the network mobility on different levels according to varying mobility effects: branch repair when the receiver moves, sub-tree repair when a branching node moves, and full tree level repair when the source node moves. Tree reconfiguration is required only when a link is broken, and a localized repair strategy comes into picture. </a:t>
            </a:r>
          </a:p>
          <a:p>
            <a:pPr marL="285750" indent="-285750" algn="just">
              <a:buFont typeface="Arial" panose="020B0604020202020204" pitchFamily="34" charset="0"/>
              <a:buChar char="•"/>
            </a:pPr>
            <a:r>
              <a:rPr lang="en-US" dirty="0"/>
              <a:t>In contrast to local control in ABAM and MZR, the On-demand Location-Aware Multicast (OLAM) protocol [Basagni2000] proposed a global method. OLAM is based on the expectation that each node is equipped with a positioning device such as GPS. </a:t>
            </a:r>
          </a:p>
        </p:txBody>
      </p:sp>
    </p:spTree>
    <p:extLst>
      <p:ext uri="{BB962C8B-B14F-4D97-AF65-F5344CB8AC3E}">
        <p14:creationId xmlns:p14="http://schemas.microsoft.com/office/powerpoint/2010/main" val="38275074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34B12A-277B-4257-9354-9BD93E32CE3A}"/>
              </a:ext>
            </a:extLst>
          </p:cNvPr>
          <p:cNvSpPr/>
          <p:nvPr/>
        </p:nvSpPr>
        <p:spPr>
          <a:xfrm>
            <a:off x="317369" y="1297380"/>
            <a:ext cx="11557262" cy="3416320"/>
          </a:xfrm>
          <a:prstGeom prst="rect">
            <a:avLst/>
          </a:prstGeom>
        </p:spPr>
        <p:txBody>
          <a:bodyPr wrap="square">
            <a:spAutoFit/>
          </a:bodyPr>
          <a:lstStyle/>
          <a:p>
            <a:pPr marL="285750" indent="-285750" algn="just">
              <a:buFont typeface="Arial" panose="020B0604020202020204" pitchFamily="34" charset="0"/>
              <a:buChar char="•"/>
            </a:pPr>
            <a:r>
              <a:rPr lang="en-US" dirty="0"/>
              <a:t>With this assumption, each node can process and take a snapshot of the network topology and make up a multicast tree (minimum spanning tree). </a:t>
            </a:r>
          </a:p>
          <a:p>
            <a:pPr marL="285750" indent="-285750" algn="just">
              <a:buFont typeface="Arial" panose="020B0604020202020204" pitchFamily="34" charset="0"/>
              <a:buChar char="•"/>
            </a:pPr>
            <a:r>
              <a:rPr lang="en-US" dirty="0"/>
              <a:t>This protocol does not use any distributed data structures or ad hoc routing protocol as foundation. Although it is shown in [Basagni2000] that OLAM's overhead is low and that it works well for varying mobility and group sizes, when the multicast tree is very large the GPS measurements may become a huge burden for the network nodes. </a:t>
            </a:r>
          </a:p>
          <a:p>
            <a:pPr marL="285750" indent="-285750" algn="just">
              <a:buFont typeface="Arial" panose="020B0604020202020204" pitchFamily="34" charset="0"/>
              <a:buChar char="•"/>
            </a:pPr>
            <a:r>
              <a:rPr lang="en-US" dirty="0"/>
              <a:t>Because on-demand operation is driven by the presence of data packets instead of periodic or continuous control flooding, on-demand protocols are expected to lower control overhead and react quickly to routing changes. In view of this fact, the Adaptive Demand-Driven Multicast Routing (ADMR) [Jetcheva2001a] proposes a protocol that attempts to reduce non-on-demand components. </a:t>
            </a:r>
          </a:p>
          <a:p>
            <a:pPr marL="285750" indent="-285750" algn="just">
              <a:buFont typeface="Arial" panose="020B0604020202020204" pitchFamily="34" charset="0"/>
              <a:buChar char="•"/>
            </a:pPr>
            <a:r>
              <a:rPr lang="en-US" dirty="0"/>
              <a:t>ADMR uses tree flood to enable packets to be forwarded following variant branches in the multicast tree. A multicast packet in ADMR floods within the multicast distribution tree only towards the group's receivers. The use of tree flood also increases the robustness of the tree structure. It also tends to scale well with group size and mobility.  </a:t>
            </a:r>
            <a:endParaRPr lang="en-IN" dirty="0"/>
          </a:p>
        </p:txBody>
      </p:sp>
    </p:spTree>
    <p:extLst>
      <p:ext uri="{BB962C8B-B14F-4D97-AF65-F5344CB8AC3E}">
        <p14:creationId xmlns:p14="http://schemas.microsoft.com/office/powerpoint/2010/main" val="33737846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89356E-B80C-4E8B-820D-67BEDC8DEF91}"/>
              </a:ext>
            </a:extLst>
          </p:cNvPr>
          <p:cNvSpPr/>
          <p:nvPr/>
        </p:nvSpPr>
        <p:spPr>
          <a:xfrm>
            <a:off x="2686441" y="0"/>
            <a:ext cx="5448671" cy="707886"/>
          </a:xfrm>
          <a:prstGeom prst="rect">
            <a:avLst/>
          </a:prstGeom>
        </p:spPr>
        <p:txBody>
          <a:bodyPr wrap="none">
            <a:spAutoFit/>
          </a:bodyPr>
          <a:lstStyle/>
          <a:p>
            <a:r>
              <a:rPr lang="en-IN" sz="4000" dirty="0"/>
              <a:t>Mesh-Based Approaches </a:t>
            </a:r>
          </a:p>
        </p:txBody>
      </p:sp>
      <p:sp>
        <p:nvSpPr>
          <p:cNvPr id="3" name="Rectangle 2">
            <a:extLst>
              <a:ext uri="{FF2B5EF4-FFF2-40B4-BE49-F238E27FC236}">
                <a16:creationId xmlns:a16="http://schemas.microsoft.com/office/drawing/2014/main" id="{908FC8EC-1B08-4B43-B5F5-068ED9B40166}"/>
              </a:ext>
            </a:extLst>
          </p:cNvPr>
          <p:cNvSpPr/>
          <p:nvPr/>
        </p:nvSpPr>
        <p:spPr>
          <a:xfrm>
            <a:off x="237241" y="707886"/>
            <a:ext cx="11717518" cy="1754326"/>
          </a:xfrm>
          <a:prstGeom prst="rect">
            <a:avLst/>
          </a:prstGeom>
        </p:spPr>
        <p:txBody>
          <a:bodyPr wrap="square">
            <a:spAutoFit/>
          </a:bodyPr>
          <a:lstStyle/>
          <a:p>
            <a:pPr marL="285750" indent="-285750" algn="just">
              <a:buFont typeface="Arial" panose="020B0604020202020204" pitchFamily="34" charset="0"/>
              <a:buChar char="•"/>
            </a:pPr>
            <a:r>
              <a:rPr lang="en-US" dirty="0"/>
              <a:t>In contrast to the tree-based approach, mesh-based multicast protocols may have multiple paths between any source and receiver pairs. </a:t>
            </a:r>
          </a:p>
          <a:p>
            <a:pPr marL="285750" indent="-285750" algn="just">
              <a:buFont typeface="Arial" panose="020B0604020202020204" pitchFamily="34" charset="0"/>
              <a:buChar char="•"/>
            </a:pPr>
            <a:r>
              <a:rPr lang="en-US" dirty="0"/>
              <a:t>Existing studies show that tree-based protocols are not necessarily the best suited for multicast in a MANET environment if the network topology changes frequently. </a:t>
            </a:r>
          </a:p>
          <a:p>
            <a:pPr marL="285750" indent="-285750" algn="just">
              <a:buFont typeface="Arial" panose="020B0604020202020204" pitchFamily="34" charset="0"/>
              <a:buChar char="•"/>
            </a:pPr>
            <a:r>
              <a:rPr lang="en-US" dirty="0"/>
              <a:t>In such an environment, mesh-based protocols seem to outperform tree-based proposals due to availability of alternative paths, which allow multicast datagrams to be delivered to the receivers even if links fail.</a:t>
            </a:r>
            <a:endParaRPr lang="en-IN" dirty="0"/>
          </a:p>
        </p:txBody>
      </p:sp>
      <p:pic>
        <p:nvPicPr>
          <p:cNvPr id="4" name="Picture 3">
            <a:extLst>
              <a:ext uri="{FF2B5EF4-FFF2-40B4-BE49-F238E27FC236}">
                <a16:creationId xmlns:a16="http://schemas.microsoft.com/office/drawing/2014/main" id="{769ACCC6-FE39-426C-8EB7-458A3095775E}"/>
              </a:ext>
            </a:extLst>
          </p:cNvPr>
          <p:cNvPicPr>
            <a:picLocks noChangeAspect="1"/>
          </p:cNvPicPr>
          <p:nvPr/>
        </p:nvPicPr>
        <p:blipFill>
          <a:blip r:embed="rId2"/>
          <a:stretch>
            <a:fillRect/>
          </a:stretch>
        </p:blipFill>
        <p:spPr>
          <a:xfrm>
            <a:off x="1150070" y="2630078"/>
            <a:ext cx="8474697" cy="3836710"/>
          </a:xfrm>
          <a:prstGeom prst="rect">
            <a:avLst/>
          </a:prstGeom>
        </p:spPr>
      </p:pic>
    </p:spTree>
    <p:extLst>
      <p:ext uri="{BB962C8B-B14F-4D97-AF65-F5344CB8AC3E}">
        <p14:creationId xmlns:p14="http://schemas.microsoft.com/office/powerpoint/2010/main" val="17605337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A48CFF-54FB-48A9-9E7E-6F7BCD82BF67}"/>
              </a:ext>
            </a:extLst>
          </p:cNvPr>
          <p:cNvSpPr/>
          <p:nvPr/>
        </p:nvSpPr>
        <p:spPr>
          <a:xfrm>
            <a:off x="188536" y="1963035"/>
            <a:ext cx="11594969" cy="2031325"/>
          </a:xfrm>
          <a:prstGeom prst="rect">
            <a:avLst/>
          </a:prstGeom>
        </p:spPr>
        <p:txBody>
          <a:bodyPr wrap="square">
            <a:spAutoFit/>
          </a:bodyPr>
          <a:lstStyle/>
          <a:p>
            <a:pPr marL="285750" indent="-285750" algn="just">
              <a:buFont typeface="Arial" panose="020B0604020202020204" pitchFamily="34" charset="0"/>
              <a:buChar char="•"/>
            </a:pPr>
            <a:r>
              <a:rPr lang="en-US" dirty="0"/>
              <a:t>The disadvantage of a mesh is the increase in data-forwarding overhead. The redundant forwarding consumes more bandwidth in the bandwidth constrained ad hoc networks. </a:t>
            </a:r>
          </a:p>
          <a:p>
            <a:pPr marL="285750" indent="-285750" algn="just">
              <a:buFont typeface="Arial" panose="020B0604020202020204" pitchFamily="34" charset="0"/>
              <a:buChar char="•"/>
            </a:pPr>
            <a:r>
              <a:rPr lang="en-US" dirty="0"/>
              <a:t>Moreover, the probability of collisions is higher when a larger number of packets are generated. Therefore, one common problem mesh-based protocols have to consider is how to minimize the data-forwarding overhead caused by flooding. </a:t>
            </a:r>
          </a:p>
          <a:p>
            <a:pPr marL="285750" indent="-285750" algn="just">
              <a:buFont typeface="Arial" panose="020B0604020202020204" pitchFamily="34" charset="0"/>
              <a:buChar char="•"/>
            </a:pPr>
            <a:r>
              <a:rPr lang="en-US" dirty="0"/>
              <a:t>As we shall see, different protocols attack this issue in different ways through the use of forwarding groups, cores, and so on. This section gives an overview of the mesh-based approaches that support multicast in MANETs.</a:t>
            </a:r>
            <a:endParaRPr lang="en-IN" dirty="0"/>
          </a:p>
        </p:txBody>
      </p:sp>
    </p:spTree>
    <p:extLst>
      <p:ext uri="{BB962C8B-B14F-4D97-AF65-F5344CB8AC3E}">
        <p14:creationId xmlns:p14="http://schemas.microsoft.com/office/powerpoint/2010/main" val="11442965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64F904-D7E8-46F4-9E15-9E70ACDAFE8A}"/>
              </a:ext>
            </a:extLst>
          </p:cNvPr>
          <p:cNvSpPr/>
          <p:nvPr/>
        </p:nvSpPr>
        <p:spPr>
          <a:xfrm>
            <a:off x="1862082" y="332889"/>
            <a:ext cx="8467831" cy="707886"/>
          </a:xfrm>
          <a:prstGeom prst="rect">
            <a:avLst/>
          </a:prstGeom>
        </p:spPr>
        <p:txBody>
          <a:bodyPr wrap="none">
            <a:spAutoFit/>
          </a:bodyPr>
          <a:lstStyle/>
          <a:p>
            <a:r>
              <a:rPr lang="en-IN" sz="4000" dirty="0"/>
              <a:t>On-Demand Multicast Routing Protocol </a:t>
            </a:r>
          </a:p>
        </p:txBody>
      </p:sp>
      <p:sp>
        <p:nvSpPr>
          <p:cNvPr id="3" name="Rectangle 2">
            <a:extLst>
              <a:ext uri="{FF2B5EF4-FFF2-40B4-BE49-F238E27FC236}">
                <a16:creationId xmlns:a16="http://schemas.microsoft.com/office/drawing/2014/main" id="{9473CC05-11A6-494D-94DE-17865F6D597C}"/>
              </a:ext>
            </a:extLst>
          </p:cNvPr>
          <p:cNvSpPr/>
          <p:nvPr/>
        </p:nvSpPr>
        <p:spPr>
          <a:xfrm>
            <a:off x="241953" y="1169799"/>
            <a:ext cx="11708091" cy="5355312"/>
          </a:xfrm>
          <a:prstGeom prst="rect">
            <a:avLst/>
          </a:prstGeom>
        </p:spPr>
        <p:txBody>
          <a:bodyPr wrap="square">
            <a:spAutoFit/>
          </a:bodyPr>
          <a:lstStyle/>
          <a:p>
            <a:pPr marL="285750" indent="-285750" algn="just">
              <a:buFont typeface="Arial" panose="020B0604020202020204" pitchFamily="34" charset="0"/>
              <a:buChar char="•"/>
            </a:pPr>
            <a:r>
              <a:rPr lang="en-US" dirty="0"/>
              <a:t>On-demand Multicast Routing Protocol (ODMRP) [Gerla2000] is a mesh-based protocol, which employs a forwarding group concept (only a subset of nodes forwards the multicast packets). </a:t>
            </a:r>
          </a:p>
          <a:p>
            <a:pPr marL="285750" indent="-285750" algn="just">
              <a:buFont typeface="Arial" panose="020B0604020202020204" pitchFamily="34" charset="0"/>
              <a:buChar char="•"/>
            </a:pPr>
            <a:r>
              <a:rPr lang="en-US" dirty="0"/>
              <a:t>A soft state approach is taken in ODMRP to maintain multicast group members. No explicit control message is required to leave the group. </a:t>
            </a:r>
          </a:p>
          <a:p>
            <a:pPr marL="285750" indent="-285750" algn="just">
              <a:buFont typeface="Arial" panose="020B0604020202020204" pitchFamily="34" charset="0"/>
              <a:buChar char="•"/>
            </a:pPr>
            <a:r>
              <a:rPr lang="en-US" dirty="0"/>
              <a:t>The group membership and multicast routes are established and updated by the source on demand. When a multicast source has packets to send, but no route to the multicast group, it broadcasts a Join-Query control packet to the entire network. </a:t>
            </a:r>
          </a:p>
          <a:p>
            <a:pPr marL="285750" indent="-285750" algn="just">
              <a:buFont typeface="Arial" panose="020B0604020202020204" pitchFamily="34" charset="0"/>
              <a:buChar char="•"/>
            </a:pPr>
            <a:r>
              <a:rPr lang="en-US" dirty="0"/>
              <a:t>This Join-Query packet is periodically broadcasted to refresh the membership information and updates routes as depicted in Figure 3.9. When an intermediate node receives a Join-Query packet, it stores the source ID and the sequence number in its message cache to detect any potential duplicates. </a:t>
            </a:r>
          </a:p>
          <a:p>
            <a:pPr marL="285750" indent="-285750" algn="just">
              <a:buFont typeface="Arial" panose="020B0604020202020204" pitchFamily="34" charset="0"/>
              <a:buChar char="•"/>
            </a:pPr>
            <a:r>
              <a:rPr lang="en-US" dirty="0"/>
              <a:t>The routing table is updated with an appropriate node ID (i.e., backward learning) from which the message was received. If the message is not a duplicate and the TTL is greater than zero, it is rebroadcasted. </a:t>
            </a:r>
          </a:p>
          <a:p>
            <a:pPr marL="285750" indent="-285750" algn="just">
              <a:buFont typeface="Arial" panose="020B0604020202020204" pitchFamily="34" charset="0"/>
              <a:buChar char="•"/>
            </a:pPr>
            <a:r>
              <a:rPr lang="en-US" dirty="0"/>
              <a:t>When a Join-Query packet reaches a multicast receiver, it creates and broadcasts a Join-Reply to its neighbors. When a node receives a Join Reply, it checks if the next hop node ID of one of the entries matches its own ID. </a:t>
            </a:r>
          </a:p>
          <a:p>
            <a:pPr marL="285750" indent="-285750" algn="just">
              <a:buFont typeface="Arial" panose="020B0604020202020204" pitchFamily="34" charset="0"/>
              <a:buChar char="•"/>
            </a:pPr>
            <a:r>
              <a:rPr lang="en-US" dirty="0"/>
              <a:t>If it does, the node realizes that it is on the path to the source and thus is a part of the forwarding group and sets the FG_FLAG (Forwarding Group Flag). It then broadcasts its own Join-Reply built upon matched entries. </a:t>
            </a:r>
          </a:p>
          <a:p>
            <a:pPr marL="285750" indent="-285750" algn="just">
              <a:buFont typeface="Arial" panose="020B0604020202020204" pitchFamily="34" charset="0"/>
              <a:buChar char="•"/>
            </a:pPr>
            <a:r>
              <a:rPr lang="en-US" dirty="0"/>
              <a:t>The next hop node ID field contains the information extracted from its routing table. In this way, each forward group member propagates the Join-Reply until it reaches the multicast source via the selected (shortest) path. </a:t>
            </a:r>
          </a:p>
          <a:p>
            <a:pPr marL="285750" indent="-285750" algn="just">
              <a:buFont typeface="Arial" panose="020B0604020202020204" pitchFamily="34" charset="0"/>
              <a:buChar char="•"/>
            </a:pPr>
            <a:r>
              <a:rPr lang="en-US" dirty="0"/>
              <a:t>This whole process constructs (or updates) the routes from sources to receivers and builds a mesh of nodes. </a:t>
            </a:r>
            <a:endParaRPr lang="en-IN" dirty="0"/>
          </a:p>
        </p:txBody>
      </p:sp>
    </p:spTree>
    <p:extLst>
      <p:ext uri="{BB962C8B-B14F-4D97-AF65-F5344CB8AC3E}">
        <p14:creationId xmlns:p14="http://schemas.microsoft.com/office/powerpoint/2010/main" val="1975358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5881EA-4F78-4012-AD98-EE1A5891AA7D}"/>
              </a:ext>
            </a:extLst>
          </p:cNvPr>
          <p:cNvPicPr>
            <a:picLocks noChangeAspect="1"/>
          </p:cNvPicPr>
          <p:nvPr/>
        </p:nvPicPr>
        <p:blipFill>
          <a:blip r:embed="rId2"/>
          <a:stretch>
            <a:fillRect/>
          </a:stretch>
        </p:blipFill>
        <p:spPr>
          <a:xfrm>
            <a:off x="1194061" y="282804"/>
            <a:ext cx="9803877" cy="5957739"/>
          </a:xfrm>
          <a:prstGeom prst="rect">
            <a:avLst/>
          </a:prstGeom>
        </p:spPr>
      </p:pic>
    </p:spTree>
    <p:extLst>
      <p:ext uri="{BB962C8B-B14F-4D97-AF65-F5344CB8AC3E}">
        <p14:creationId xmlns:p14="http://schemas.microsoft.com/office/powerpoint/2010/main" val="36175823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A684C0-5BCC-40C2-A944-0F12CD004AA8}"/>
              </a:ext>
            </a:extLst>
          </p:cNvPr>
          <p:cNvSpPr/>
          <p:nvPr/>
        </p:nvSpPr>
        <p:spPr>
          <a:xfrm>
            <a:off x="2409143" y="915915"/>
            <a:ext cx="6267806" cy="707886"/>
          </a:xfrm>
          <a:prstGeom prst="rect">
            <a:avLst/>
          </a:prstGeom>
        </p:spPr>
        <p:txBody>
          <a:bodyPr wrap="none">
            <a:spAutoFit/>
          </a:bodyPr>
          <a:lstStyle/>
          <a:p>
            <a:r>
              <a:rPr lang="en-IN" sz="4000" dirty="0"/>
              <a:t>Core-Assisted Mesh Protocol </a:t>
            </a:r>
          </a:p>
        </p:txBody>
      </p:sp>
      <p:sp>
        <p:nvSpPr>
          <p:cNvPr id="3" name="Rectangle 2">
            <a:extLst>
              <a:ext uri="{FF2B5EF4-FFF2-40B4-BE49-F238E27FC236}">
                <a16:creationId xmlns:a16="http://schemas.microsoft.com/office/drawing/2014/main" id="{F9A6FE81-6F6C-4A30-AAEE-64FB6837F8D7}"/>
              </a:ext>
            </a:extLst>
          </p:cNvPr>
          <p:cNvSpPr/>
          <p:nvPr/>
        </p:nvSpPr>
        <p:spPr>
          <a:xfrm>
            <a:off x="263951" y="1850043"/>
            <a:ext cx="11368726" cy="2862322"/>
          </a:xfrm>
          <a:prstGeom prst="rect">
            <a:avLst/>
          </a:prstGeom>
        </p:spPr>
        <p:txBody>
          <a:bodyPr wrap="square">
            <a:spAutoFit/>
          </a:bodyPr>
          <a:lstStyle/>
          <a:p>
            <a:pPr marL="285750" indent="-285750" algn="just">
              <a:buFont typeface="Arial" panose="020B0604020202020204" pitchFamily="34" charset="0"/>
              <a:buChar char="•"/>
            </a:pPr>
            <a:r>
              <a:rPr lang="en-US" dirty="0"/>
              <a:t>The Core-Assisted Mesh Protocol (CAMP) [Garcia-Luna-Aceves 1999b] supports multicasting by creating a shared mesh for each multicast group. </a:t>
            </a:r>
          </a:p>
          <a:p>
            <a:pPr marL="285750" indent="-285750" algn="just">
              <a:buFont typeface="Arial" panose="020B0604020202020204" pitchFamily="34" charset="0"/>
              <a:buChar char="•"/>
            </a:pPr>
            <a:r>
              <a:rPr lang="en-US" dirty="0"/>
              <a:t>Meshes thus created, helps in maintaining the connectivity to the multicast users, even in case of node mobility. It borrows concepts from CBT, but the core nodes are used for control traffic needed to join multicast groups. </a:t>
            </a:r>
          </a:p>
          <a:p>
            <a:pPr marL="285750" indent="-285750" algn="just">
              <a:buFont typeface="Arial" panose="020B0604020202020204" pitchFamily="34" charset="0"/>
              <a:buChar char="•"/>
            </a:pPr>
            <a:r>
              <a:rPr lang="en-US" dirty="0"/>
              <a:t>The basic operation of the CAMP includes building and maintaining the multicast mesh for a multicast group. It assumes a mapping service, which provides routers with the addresses of groups identified by their names. </a:t>
            </a:r>
          </a:p>
          <a:p>
            <a:pPr marL="285750" indent="-285750" algn="just">
              <a:buFont typeface="Arial" panose="020B0604020202020204" pitchFamily="34" charset="0"/>
              <a:buChar char="•"/>
            </a:pPr>
            <a:r>
              <a:rPr lang="en-US" dirty="0"/>
              <a:t>Each router maintains a routing table (RT) built with the unicast routing protocol and is modified by CAMP when a multicast group needs to be inserted or removed. </a:t>
            </a:r>
          </a:p>
          <a:p>
            <a:pPr marL="285750" indent="-285750" algn="just">
              <a:buFont typeface="Arial" panose="020B0604020202020204" pitchFamily="34" charset="0"/>
              <a:buChar char="•"/>
            </a:pPr>
            <a:r>
              <a:rPr lang="en-US" dirty="0"/>
              <a:t>A router may update its MRT based on topological changes or messages received from its neighbors. CAMP classifies the nodes in the network in three modes: simplex, duplex and non-member. </a:t>
            </a:r>
          </a:p>
        </p:txBody>
      </p:sp>
    </p:spTree>
    <p:extLst>
      <p:ext uri="{BB962C8B-B14F-4D97-AF65-F5344CB8AC3E}">
        <p14:creationId xmlns:p14="http://schemas.microsoft.com/office/powerpoint/2010/main" val="17696609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44B937-7063-4783-AD7C-C642B68EBE26}"/>
              </a:ext>
            </a:extLst>
          </p:cNvPr>
          <p:cNvSpPr/>
          <p:nvPr/>
        </p:nvSpPr>
        <p:spPr>
          <a:xfrm>
            <a:off x="433633" y="1859339"/>
            <a:ext cx="11123629" cy="3139321"/>
          </a:xfrm>
          <a:prstGeom prst="rect">
            <a:avLst/>
          </a:prstGeom>
        </p:spPr>
        <p:txBody>
          <a:bodyPr wrap="square">
            <a:spAutoFit/>
          </a:bodyPr>
          <a:lstStyle/>
          <a:p>
            <a:pPr marL="285750" indent="-285750" algn="just">
              <a:buFont typeface="Arial" panose="020B0604020202020204" pitchFamily="34" charset="0"/>
              <a:buChar char="•"/>
            </a:pPr>
            <a:r>
              <a:rPr lang="en-US" dirty="0"/>
              <a:t>A router joins a group in a simplex mode if it intends only to send traffic received from specific nodes or neighbors to the rest of the group, and does not intend to forward packets from the group. </a:t>
            </a:r>
          </a:p>
          <a:p>
            <a:pPr marL="285750" indent="-285750" algn="just">
              <a:buFont typeface="Arial" panose="020B0604020202020204" pitchFamily="34" charset="0"/>
              <a:buChar char="•"/>
            </a:pPr>
            <a:r>
              <a:rPr lang="en-US" dirty="0"/>
              <a:t>A duplex member forwards any multicast packets for the group, whereas a non-member node needs not to be in the multicast delivery mesh. CAMP uses a receiver-initiated method for routers to join a multicast group. </a:t>
            </a:r>
          </a:p>
          <a:p>
            <a:pPr marL="285750" indent="-285750" algn="just">
              <a:buFont typeface="Arial" panose="020B0604020202020204" pitchFamily="34" charset="0"/>
              <a:buChar char="•"/>
            </a:pPr>
            <a:r>
              <a:rPr lang="en-US" dirty="0"/>
              <a:t>If a router wishing to join a group has multiple neighbors that are duplex members of the multicast group, then it simply changes its MRT and directly announces to its neighbors that it's a new member for the multicast group using multicast routing update. </a:t>
            </a:r>
          </a:p>
          <a:p>
            <a:pPr marL="285750" indent="-285750" algn="just">
              <a:buFont typeface="Arial" panose="020B0604020202020204" pitchFamily="34" charset="0"/>
              <a:buChar char="•"/>
            </a:pPr>
            <a:r>
              <a:rPr lang="en-US" dirty="0"/>
              <a:t>If it has no neighbors that are members of the multicast group, it either propagates a join request to one of the multicast group "cores" or attempts to reach a member through expanding ring search [Perkins2003]. </a:t>
            </a:r>
          </a:p>
          <a:p>
            <a:pPr marL="285750" indent="-285750" algn="just">
              <a:buFont typeface="Arial" panose="020B0604020202020204" pitchFamily="34" charset="0"/>
              <a:buChar char="•"/>
            </a:pPr>
            <a:r>
              <a:rPr lang="en-US" dirty="0"/>
              <a:t>Any router that is a regular member of the multicast group and has received the join request, is free to transmit a join acknowledgement (ACK) to the sending router.</a:t>
            </a:r>
            <a:endParaRPr lang="en-IN" dirty="0"/>
          </a:p>
        </p:txBody>
      </p:sp>
    </p:spTree>
    <p:extLst>
      <p:ext uri="{BB962C8B-B14F-4D97-AF65-F5344CB8AC3E}">
        <p14:creationId xmlns:p14="http://schemas.microsoft.com/office/powerpoint/2010/main" val="42215441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C6AFED-A0AB-4EE6-B642-4FC71701033C}"/>
              </a:ext>
            </a:extLst>
          </p:cNvPr>
          <p:cNvSpPr/>
          <p:nvPr/>
        </p:nvSpPr>
        <p:spPr>
          <a:xfrm>
            <a:off x="2019739" y="815002"/>
            <a:ext cx="7876002" cy="707886"/>
          </a:xfrm>
          <a:prstGeom prst="rect">
            <a:avLst/>
          </a:prstGeom>
        </p:spPr>
        <p:txBody>
          <a:bodyPr wrap="none">
            <a:spAutoFit/>
          </a:bodyPr>
          <a:lstStyle/>
          <a:p>
            <a:r>
              <a:rPr lang="en-IN" sz="4000" dirty="0"/>
              <a:t>Forwarding Group Multicast Protocol</a:t>
            </a:r>
          </a:p>
        </p:txBody>
      </p:sp>
      <p:sp>
        <p:nvSpPr>
          <p:cNvPr id="3" name="Rectangle 2">
            <a:extLst>
              <a:ext uri="{FF2B5EF4-FFF2-40B4-BE49-F238E27FC236}">
                <a16:creationId xmlns:a16="http://schemas.microsoft.com/office/drawing/2014/main" id="{1A6C20EE-31AC-4AEF-B039-0081A9A16569}"/>
              </a:ext>
            </a:extLst>
          </p:cNvPr>
          <p:cNvSpPr/>
          <p:nvPr/>
        </p:nvSpPr>
        <p:spPr>
          <a:xfrm>
            <a:off x="197963" y="1989931"/>
            <a:ext cx="11519554" cy="3416320"/>
          </a:xfrm>
          <a:prstGeom prst="rect">
            <a:avLst/>
          </a:prstGeom>
        </p:spPr>
        <p:txBody>
          <a:bodyPr wrap="square">
            <a:spAutoFit/>
          </a:bodyPr>
          <a:lstStyle/>
          <a:p>
            <a:pPr marL="285750" indent="-285750" algn="just">
              <a:buFont typeface="Arial" panose="020B0604020202020204" pitchFamily="34" charset="0"/>
              <a:buChar char="•"/>
            </a:pPr>
            <a:r>
              <a:rPr lang="en-US" dirty="0"/>
              <a:t>Forwarding Group Multicast Protocol (FGMP) [Chiangl998] can be viewed as flooding with "limited scope", wherein the flooding is contained within a selected forwarding group (FG) nodes. </a:t>
            </a:r>
          </a:p>
          <a:p>
            <a:pPr marL="285750" indent="-285750" algn="just">
              <a:buFont typeface="Arial" panose="020B0604020202020204" pitchFamily="34" charset="0"/>
              <a:buChar char="•"/>
            </a:pPr>
            <a:r>
              <a:rPr lang="en-US" dirty="0"/>
              <a:t>FGMP makes innovative use of flags and an associated timer to forward multicast packets. When the forwarding flag is set, each node in FG forwards data packets belonging to a group G with flags on until the timer expires. </a:t>
            </a:r>
          </a:p>
          <a:p>
            <a:pPr marL="285750" indent="-285750" algn="just">
              <a:buFont typeface="Arial" panose="020B0604020202020204" pitchFamily="34" charset="0"/>
              <a:buChar char="•"/>
            </a:pPr>
            <a:r>
              <a:rPr lang="en-US" dirty="0"/>
              <a:t>This soft state approach of using timer works well in dynamically changing environments. FGMP uses two approaches to elect and maintain FG of forwarding nodes: FGMP-RA (Receiver Advertising) and FGMP-SA (Sender Advertising). </a:t>
            </a:r>
          </a:p>
          <a:p>
            <a:pPr marL="285750" indent="-285750" algn="just">
              <a:buFont typeface="Arial" panose="020B0604020202020204" pitchFamily="34" charset="0"/>
              <a:buChar char="•"/>
            </a:pPr>
            <a:r>
              <a:rPr lang="en-US" dirty="0"/>
              <a:t>In FGMP-RA, multicast receivers periodically announce their group membership by flooding. Senders maintain a table with all receivers of the group. In FGMP-SA, a sender periodically announces its presence in network by flooding. </a:t>
            </a:r>
          </a:p>
          <a:p>
            <a:pPr marL="285750" indent="-285750" algn="just">
              <a:buFont typeface="Arial" panose="020B0604020202020204" pitchFamily="34" charset="0"/>
              <a:buChar char="•"/>
            </a:pPr>
            <a:r>
              <a:rPr lang="en-US" dirty="0"/>
              <a:t>The nodes, which relay this message, store the next-hop to the sender. Multicast receivers join the group by sending replies to the sender. </a:t>
            </a:r>
          </a:p>
          <a:p>
            <a:pPr marL="285750" indent="-285750" algn="just">
              <a:buFont typeface="Arial" panose="020B0604020202020204" pitchFamily="34" charset="0"/>
              <a:buChar char="•"/>
            </a:pPr>
            <a:r>
              <a:rPr lang="en-US" dirty="0"/>
              <a:t>FGMP can be seen as a twin method to ODMRP, where their main difference relies on the way group meshes are established. Both FGMP and ODMRP do have, however, scalability problems due to flooding of control packets.</a:t>
            </a:r>
            <a:endParaRPr lang="en-IN" dirty="0"/>
          </a:p>
        </p:txBody>
      </p:sp>
    </p:spTree>
    <p:extLst>
      <p:ext uri="{BB962C8B-B14F-4D97-AF65-F5344CB8AC3E}">
        <p14:creationId xmlns:p14="http://schemas.microsoft.com/office/powerpoint/2010/main" val="37396484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0FF2BE-846D-4895-ADDA-FF167147256A}"/>
              </a:ext>
            </a:extLst>
          </p:cNvPr>
          <p:cNvSpPr/>
          <p:nvPr/>
        </p:nvSpPr>
        <p:spPr>
          <a:xfrm>
            <a:off x="3787014" y="683080"/>
            <a:ext cx="3459730" cy="707886"/>
          </a:xfrm>
          <a:prstGeom prst="rect">
            <a:avLst/>
          </a:prstGeom>
        </p:spPr>
        <p:txBody>
          <a:bodyPr wrap="none">
            <a:spAutoFit/>
          </a:bodyPr>
          <a:lstStyle/>
          <a:p>
            <a:r>
              <a:rPr lang="en-IN" sz="4000" dirty="0"/>
              <a:t>Other Protocols</a:t>
            </a:r>
          </a:p>
        </p:txBody>
      </p:sp>
      <p:sp>
        <p:nvSpPr>
          <p:cNvPr id="3" name="Rectangle 2">
            <a:extLst>
              <a:ext uri="{FF2B5EF4-FFF2-40B4-BE49-F238E27FC236}">
                <a16:creationId xmlns:a16="http://schemas.microsoft.com/office/drawing/2014/main" id="{5CF2B63C-0091-4EA2-B4D8-A3DE131F0B74}"/>
              </a:ext>
            </a:extLst>
          </p:cNvPr>
          <p:cNvSpPr/>
          <p:nvPr/>
        </p:nvSpPr>
        <p:spPr>
          <a:xfrm>
            <a:off x="307942" y="2127658"/>
            <a:ext cx="11324734" cy="3693319"/>
          </a:xfrm>
          <a:prstGeom prst="rect">
            <a:avLst/>
          </a:prstGeom>
        </p:spPr>
        <p:txBody>
          <a:bodyPr wrap="square">
            <a:spAutoFit/>
          </a:bodyPr>
          <a:lstStyle/>
          <a:p>
            <a:pPr marL="285750" indent="-285750" algn="just">
              <a:buFont typeface="Arial" panose="020B0604020202020204" pitchFamily="34" charset="0"/>
              <a:buChar char="•"/>
            </a:pPr>
            <a:r>
              <a:rPr lang="en-US" dirty="0"/>
              <a:t>In addition to the forwarding groups and cores used in the previously discussed mesh-based multicast protocols, a local routing scheme is proposed in the Neighbor Supporting ad hoc Multicast routing Protocol (NSMP) [Lee2000a] to lower the network load. </a:t>
            </a:r>
          </a:p>
          <a:p>
            <a:pPr marL="285750" indent="-285750" algn="just">
              <a:buFont typeface="Arial" panose="020B0604020202020204" pitchFamily="34" charset="0"/>
              <a:buChar char="•"/>
            </a:pPr>
            <a:r>
              <a:rPr lang="en-US" dirty="0"/>
              <a:t>In NSMP, there are two types of route discovery: flooding route discovery and local route discovery. In flooding route discovery, control packets flood the entire network in the initial route establishment or in repair of network partitions, while in local route discovery only a small number of nodes related to the multicast group are involved for routine path maintenance. </a:t>
            </a:r>
          </a:p>
          <a:p>
            <a:pPr marL="285750" indent="-285750" algn="just">
              <a:buFont typeface="Arial" panose="020B0604020202020204" pitchFamily="34" charset="0"/>
              <a:buChar char="•"/>
            </a:pPr>
            <a:r>
              <a:rPr lang="en-US" dirty="0"/>
              <a:t>In selecting a route, NSMP prefers a path with more existing forwarding nodes, which is supposed to reduce the total number of forwarding nodes and increase the route efficiency. </a:t>
            </a:r>
          </a:p>
          <a:p>
            <a:pPr marL="285750" indent="-285750" algn="just">
              <a:buFont typeface="Arial" panose="020B0604020202020204" pitchFamily="34" charset="0"/>
              <a:buChar char="•"/>
            </a:pPr>
            <a:r>
              <a:rPr lang="en-US" dirty="0"/>
              <a:t>The neighboring nodes of the multicast group are important for mesh maintenance. The neighbors are also used to limit the control messages to a small part of the nodes and minimize the frequency to flood the complete network. </a:t>
            </a:r>
          </a:p>
          <a:p>
            <a:pPr marL="285750" indent="-285750" algn="just">
              <a:buFont typeface="Arial" panose="020B0604020202020204" pitchFamily="34" charset="0"/>
              <a:buChar char="•"/>
            </a:pPr>
            <a:r>
              <a:rPr lang="en-US" dirty="0"/>
              <a:t>Result in [Lee2000a] reports that NSMP has decreased transmissions and reduced control overhead as compared to the ODMRP.</a:t>
            </a:r>
            <a:endParaRPr lang="en-IN" dirty="0"/>
          </a:p>
        </p:txBody>
      </p:sp>
    </p:spTree>
    <p:extLst>
      <p:ext uri="{BB962C8B-B14F-4D97-AF65-F5344CB8AC3E}">
        <p14:creationId xmlns:p14="http://schemas.microsoft.com/office/powerpoint/2010/main" val="21974478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500F1B-6D7C-4D08-8295-8212887414BF}"/>
              </a:ext>
            </a:extLst>
          </p:cNvPr>
          <p:cNvSpPr/>
          <p:nvPr/>
        </p:nvSpPr>
        <p:spPr>
          <a:xfrm>
            <a:off x="593888" y="2348150"/>
            <a:ext cx="11004223" cy="2862322"/>
          </a:xfrm>
          <a:prstGeom prst="rect">
            <a:avLst/>
          </a:prstGeom>
        </p:spPr>
        <p:txBody>
          <a:bodyPr wrap="square">
            <a:spAutoFit/>
          </a:bodyPr>
          <a:lstStyle/>
          <a:p>
            <a:pPr marL="285750" indent="-285750" algn="just">
              <a:buFont typeface="Arial" panose="020B0604020202020204" pitchFamily="34" charset="0"/>
              <a:buChar char="•"/>
            </a:pPr>
            <a:r>
              <a:rPr lang="en-US" dirty="0"/>
              <a:t>Tree-based and mesh-based approaches have an overhead of creating and maintaining the delivery tree/mesh with time. </a:t>
            </a:r>
          </a:p>
          <a:p>
            <a:pPr marL="285750" indent="-285750" algn="just">
              <a:buFont typeface="Arial" panose="020B0604020202020204" pitchFamily="34" charset="0"/>
              <a:buChar char="•"/>
            </a:pPr>
            <a:r>
              <a:rPr lang="en-US" dirty="0"/>
              <a:t>In a MANET environment, frequent movement of MHs considerably increases the overhead in maintaining the delivery tree/mesh. </a:t>
            </a:r>
          </a:p>
          <a:p>
            <a:pPr marL="285750" indent="-285750" algn="just">
              <a:buFont typeface="Arial" panose="020B0604020202020204" pitchFamily="34" charset="0"/>
              <a:buChar char="•"/>
            </a:pPr>
            <a:r>
              <a:rPr lang="en-US" dirty="0"/>
              <a:t>To minimize the effect of such a problem, stateless multicast is proposed wherein a source explicitly mentions the list of destinations in the packet header. </a:t>
            </a:r>
          </a:p>
          <a:p>
            <a:pPr marL="285750" indent="-285750" algn="just">
              <a:buFont typeface="Arial" panose="020B0604020202020204" pitchFamily="34" charset="0"/>
              <a:buChar char="•"/>
            </a:pPr>
            <a:r>
              <a:rPr lang="en-US" dirty="0"/>
              <a:t>Stateless multicast approaches focus on small group multicast and assumes the underlying routing protocol to take care of forwarding the packet to the respective destinations based on the addresses contained in the header. </a:t>
            </a:r>
          </a:p>
          <a:p>
            <a:pPr marL="285750" indent="-285750" algn="just">
              <a:buFont typeface="Arial" panose="020B0604020202020204" pitchFamily="34" charset="0"/>
              <a:buChar char="•"/>
            </a:pPr>
            <a:r>
              <a:rPr lang="en-US" dirty="0"/>
              <a:t>In this section we present the main stateless multicast routing protocols proposed for use in MANETs. </a:t>
            </a:r>
            <a:endParaRPr lang="en-IN" dirty="0"/>
          </a:p>
        </p:txBody>
      </p:sp>
      <p:sp>
        <p:nvSpPr>
          <p:cNvPr id="4" name="Rectangle 3">
            <a:extLst>
              <a:ext uri="{FF2B5EF4-FFF2-40B4-BE49-F238E27FC236}">
                <a16:creationId xmlns:a16="http://schemas.microsoft.com/office/drawing/2014/main" id="{84699C4B-7EBC-4699-88BC-49900C996A98}"/>
              </a:ext>
            </a:extLst>
          </p:cNvPr>
          <p:cNvSpPr/>
          <p:nvPr/>
        </p:nvSpPr>
        <p:spPr>
          <a:xfrm>
            <a:off x="3368708" y="939642"/>
            <a:ext cx="4598567" cy="707886"/>
          </a:xfrm>
          <a:prstGeom prst="rect">
            <a:avLst/>
          </a:prstGeom>
        </p:spPr>
        <p:txBody>
          <a:bodyPr wrap="none">
            <a:spAutoFit/>
          </a:bodyPr>
          <a:lstStyle/>
          <a:p>
            <a:r>
              <a:rPr lang="en-IN" sz="4000" dirty="0"/>
              <a:t>Stateless Approaches</a:t>
            </a:r>
          </a:p>
        </p:txBody>
      </p:sp>
    </p:spTree>
    <p:extLst>
      <p:ext uri="{BB962C8B-B14F-4D97-AF65-F5344CB8AC3E}">
        <p14:creationId xmlns:p14="http://schemas.microsoft.com/office/powerpoint/2010/main" val="15814354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AD2D2B-EF05-4E20-93E4-9D02B21B3BC6}"/>
              </a:ext>
            </a:extLst>
          </p:cNvPr>
          <p:cNvSpPr/>
          <p:nvPr/>
        </p:nvSpPr>
        <p:spPr>
          <a:xfrm>
            <a:off x="2018178" y="351079"/>
            <a:ext cx="7072705" cy="707886"/>
          </a:xfrm>
          <a:prstGeom prst="rect">
            <a:avLst/>
          </a:prstGeom>
        </p:spPr>
        <p:txBody>
          <a:bodyPr wrap="none">
            <a:spAutoFit/>
          </a:bodyPr>
          <a:lstStyle/>
          <a:p>
            <a:r>
              <a:rPr lang="en-IN" sz="4000" dirty="0"/>
              <a:t>Differential Destination Multicast</a:t>
            </a:r>
          </a:p>
        </p:txBody>
      </p:sp>
      <p:sp>
        <p:nvSpPr>
          <p:cNvPr id="3" name="Rectangle 2">
            <a:extLst>
              <a:ext uri="{FF2B5EF4-FFF2-40B4-BE49-F238E27FC236}">
                <a16:creationId xmlns:a16="http://schemas.microsoft.com/office/drawing/2014/main" id="{5F7C0A25-9E66-4C8A-A954-D0439A52D8C7}"/>
              </a:ext>
            </a:extLst>
          </p:cNvPr>
          <p:cNvSpPr/>
          <p:nvPr/>
        </p:nvSpPr>
        <p:spPr>
          <a:xfrm>
            <a:off x="513760" y="1428608"/>
            <a:ext cx="11164479" cy="5078313"/>
          </a:xfrm>
          <a:prstGeom prst="rect">
            <a:avLst/>
          </a:prstGeom>
        </p:spPr>
        <p:txBody>
          <a:bodyPr wrap="square">
            <a:spAutoFit/>
          </a:bodyPr>
          <a:lstStyle/>
          <a:p>
            <a:pPr marL="285750" indent="-285750" algn="just">
              <a:buFont typeface="Arial" panose="020B0604020202020204" pitchFamily="34" charset="0"/>
              <a:buChar char="•"/>
            </a:pPr>
            <a:r>
              <a:rPr lang="en-US" dirty="0"/>
              <a:t>Differential Destination Multicast (DDM) protocol [Ji2001] is meant for small-multicast groups operating in dynamic networks of any size. </a:t>
            </a:r>
          </a:p>
          <a:p>
            <a:pPr marL="285750" indent="-285750" algn="just">
              <a:buFont typeface="Arial" panose="020B0604020202020204" pitchFamily="34" charset="0"/>
              <a:buChar char="•"/>
            </a:pPr>
            <a:r>
              <a:rPr lang="en-US" dirty="0"/>
              <a:t>Unlike other MANET routing protocols, DDM lets source to control multicast group membership. The source encodes multicast receiver addresses in multicast data packets using a special DDM Data Header. </a:t>
            </a:r>
          </a:p>
          <a:p>
            <a:pPr marL="285750" indent="-285750" algn="just">
              <a:buFont typeface="Arial" panose="020B0604020202020204" pitchFamily="34" charset="0"/>
              <a:buChar char="•"/>
            </a:pPr>
            <a:r>
              <a:rPr lang="en-US" dirty="0"/>
              <a:t>This variable length destination list is placed in the packet headers, resulting in packets being self-routed towards the destinations using the underlying unicast routing protocol. </a:t>
            </a:r>
          </a:p>
          <a:p>
            <a:pPr marL="285750" indent="-285750" algn="just">
              <a:buFont typeface="Arial" panose="020B0604020202020204" pitchFamily="34" charset="0"/>
              <a:buChar char="•"/>
            </a:pPr>
            <a:r>
              <a:rPr lang="en-US" dirty="0"/>
              <a:t>It eliminates maintaining per-session multicast forwarding states at intermediate nodes and thus is easily scalable with respect to the number of sessions. </a:t>
            </a:r>
          </a:p>
          <a:p>
            <a:pPr marL="285750" indent="-285750" algn="just">
              <a:buFont typeface="Arial" panose="020B0604020202020204" pitchFamily="34" charset="0"/>
              <a:buChar char="•"/>
            </a:pPr>
            <a:r>
              <a:rPr lang="en-US" dirty="0"/>
              <a:t>DDM supports two kinds of operating modes: "stateless" and "soft state". In stateless mode, the nodes along the data forwarding paths need not maintain multicast forwarding states. </a:t>
            </a:r>
          </a:p>
          <a:p>
            <a:pPr marL="285750" indent="-285750" algn="just">
              <a:buFont typeface="Arial" panose="020B0604020202020204" pitchFamily="34" charset="0"/>
              <a:buChar char="•"/>
            </a:pPr>
            <a:r>
              <a:rPr lang="en-US" dirty="0"/>
              <a:t>An intermediate node receiving a DDM packet only needs to look at the header to decide how to forward the packet. In the "soft-state" mode, based on in-band routing information, each node along the forwarding path remembers the destinations to which the packet has been forwarded last time and its next hop information. </a:t>
            </a:r>
          </a:p>
          <a:p>
            <a:pPr marL="285750" indent="-285750" algn="just">
              <a:buFont typeface="Arial" panose="020B0604020202020204" pitchFamily="34" charset="0"/>
              <a:buChar char="•"/>
            </a:pPr>
            <a:r>
              <a:rPr lang="en-US" dirty="0"/>
              <a:t>By caching this routing information at each node, the protocol does not need to list the entire destination in future data packets. </a:t>
            </a:r>
          </a:p>
          <a:p>
            <a:pPr marL="285750" indent="-285750" algn="just">
              <a:buFont typeface="Arial" panose="020B0604020202020204" pitchFamily="34" charset="0"/>
              <a:buChar char="•"/>
            </a:pPr>
            <a:r>
              <a:rPr lang="en-US" dirty="0"/>
              <a:t>In case changes occur in the underlying unicast routing, an upstream node only needs to inform its downstream nodes about the differences in the destination forwarding since the last packet; hence the name "Differential Destination Multicast". </a:t>
            </a:r>
            <a:endParaRPr lang="en-IN" dirty="0"/>
          </a:p>
        </p:txBody>
      </p:sp>
    </p:spTree>
    <p:extLst>
      <p:ext uri="{BB962C8B-B14F-4D97-AF65-F5344CB8AC3E}">
        <p14:creationId xmlns:p14="http://schemas.microsoft.com/office/powerpoint/2010/main" val="27045637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251E8A-8688-4D0C-B2FC-134D3746A5DA}"/>
              </a:ext>
            </a:extLst>
          </p:cNvPr>
          <p:cNvSpPr/>
          <p:nvPr/>
        </p:nvSpPr>
        <p:spPr>
          <a:xfrm>
            <a:off x="1457917" y="895547"/>
            <a:ext cx="9521261" cy="707886"/>
          </a:xfrm>
          <a:prstGeom prst="rect">
            <a:avLst/>
          </a:prstGeom>
        </p:spPr>
        <p:txBody>
          <a:bodyPr wrap="none">
            <a:spAutoFit/>
          </a:bodyPr>
          <a:lstStyle/>
          <a:p>
            <a:r>
              <a:rPr lang="en-US" sz="4000" dirty="0"/>
              <a:t>DSR Simple Multicast and Broadcast Protocol</a:t>
            </a:r>
            <a:endParaRPr lang="en-IN" sz="4000" dirty="0"/>
          </a:p>
        </p:txBody>
      </p:sp>
      <p:sp>
        <p:nvSpPr>
          <p:cNvPr id="3" name="Rectangle 2">
            <a:extLst>
              <a:ext uri="{FF2B5EF4-FFF2-40B4-BE49-F238E27FC236}">
                <a16:creationId xmlns:a16="http://schemas.microsoft.com/office/drawing/2014/main" id="{36985F4E-CDC5-47BF-946B-903310E6B0F4}"/>
              </a:ext>
            </a:extLst>
          </p:cNvPr>
          <p:cNvSpPr/>
          <p:nvPr/>
        </p:nvSpPr>
        <p:spPr>
          <a:xfrm>
            <a:off x="527899" y="2178468"/>
            <a:ext cx="11136199" cy="3693319"/>
          </a:xfrm>
          <a:prstGeom prst="rect">
            <a:avLst/>
          </a:prstGeom>
        </p:spPr>
        <p:txBody>
          <a:bodyPr wrap="square">
            <a:spAutoFit/>
          </a:bodyPr>
          <a:lstStyle/>
          <a:p>
            <a:pPr marL="285750" indent="-285750" algn="just">
              <a:buFont typeface="Arial" panose="020B0604020202020204" pitchFamily="34" charset="0"/>
              <a:buChar char="•"/>
            </a:pPr>
            <a:r>
              <a:rPr lang="en-US" dirty="0"/>
              <a:t>The DSR Simple Multicast and Broadcast protocol (DSR-MB) [Jetcheva2001b] is designed to provide multicast and broadcast functionality in ad hoc networks. </a:t>
            </a:r>
          </a:p>
          <a:p>
            <a:pPr marL="285750" indent="-285750" algn="just">
              <a:buFont typeface="Arial" panose="020B0604020202020204" pitchFamily="34" charset="0"/>
              <a:buChar char="•"/>
            </a:pPr>
            <a:r>
              <a:rPr lang="en-US" dirty="0"/>
              <a:t>It utilizes the Route Discovery mechanism defined by the DSR unicast protocol to flood the data packets in the network. Although this is derived from DSR, it can be implemented as a stand-alone protocol. </a:t>
            </a:r>
          </a:p>
          <a:p>
            <a:pPr marL="285750" indent="-285750" algn="just">
              <a:buFont typeface="Arial" panose="020B0604020202020204" pitchFamily="34" charset="0"/>
              <a:buChar char="•"/>
            </a:pPr>
            <a:r>
              <a:rPr lang="en-US" dirty="0"/>
              <a:t>In fact, it does not rely on unicast routing to operate. If DSR has already been implemented on the network, minor modifications are required to enable this protocol. </a:t>
            </a:r>
          </a:p>
          <a:p>
            <a:pPr marL="285750" indent="-285750" algn="just">
              <a:buFont typeface="Arial" panose="020B0604020202020204" pitchFamily="34" charset="0"/>
              <a:buChar char="•"/>
            </a:pPr>
            <a:r>
              <a:rPr lang="en-US" dirty="0"/>
              <a:t>This multicast and broadcast protocol utilizes controlled flooding to distribute data in the network and does not require establishment of a state in the network for data delivery. </a:t>
            </a:r>
          </a:p>
          <a:p>
            <a:pPr marL="285750" indent="-285750" algn="just">
              <a:buFont typeface="Arial" panose="020B0604020202020204" pitchFamily="34" charset="0"/>
              <a:buChar char="•"/>
            </a:pPr>
            <a:r>
              <a:rPr lang="en-US" dirty="0"/>
              <a:t>It is not intended as a general purpose multicast protocol. Its applicability is mainly in environments characterized by very high mobility or by a relatively small number of nodes. </a:t>
            </a:r>
          </a:p>
          <a:p>
            <a:pPr marL="285750" indent="-285750" algn="just">
              <a:buFont typeface="Arial" panose="020B0604020202020204" pitchFamily="34" charset="0"/>
              <a:buChar char="•"/>
            </a:pPr>
            <a:r>
              <a:rPr lang="en-US" dirty="0"/>
              <a:t>In the former case, protocols relying on the establishment of multicast state perform inadequately because they are unable to track the rapid changes in topology. </a:t>
            </a:r>
          </a:p>
          <a:p>
            <a:pPr marL="285750" indent="-285750" algn="just">
              <a:buFont typeface="Arial" panose="020B0604020202020204" pitchFamily="34" charset="0"/>
              <a:buChar char="•"/>
            </a:pPr>
            <a:r>
              <a:rPr lang="en-US" dirty="0"/>
              <a:t>In the latter case, the overhead of keeping multicast state exceeds the overhead of flooding. </a:t>
            </a:r>
            <a:endParaRPr lang="en-IN" dirty="0"/>
          </a:p>
        </p:txBody>
      </p:sp>
    </p:spTree>
    <p:extLst>
      <p:ext uri="{BB962C8B-B14F-4D97-AF65-F5344CB8AC3E}">
        <p14:creationId xmlns:p14="http://schemas.microsoft.com/office/powerpoint/2010/main" val="20803610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8AC665-0A03-4BDF-9E40-BE4100A180FC}"/>
              </a:ext>
            </a:extLst>
          </p:cNvPr>
          <p:cNvSpPr/>
          <p:nvPr/>
        </p:nvSpPr>
        <p:spPr>
          <a:xfrm>
            <a:off x="3148672" y="963047"/>
            <a:ext cx="4150239" cy="707886"/>
          </a:xfrm>
          <a:prstGeom prst="rect">
            <a:avLst/>
          </a:prstGeom>
        </p:spPr>
        <p:txBody>
          <a:bodyPr wrap="none">
            <a:spAutoFit/>
          </a:bodyPr>
          <a:lstStyle/>
          <a:p>
            <a:r>
              <a:rPr lang="en-IN" sz="4000" dirty="0"/>
              <a:t>Hybrid Approaches</a:t>
            </a:r>
          </a:p>
        </p:txBody>
      </p:sp>
      <p:sp>
        <p:nvSpPr>
          <p:cNvPr id="3" name="Rectangle 2">
            <a:extLst>
              <a:ext uri="{FF2B5EF4-FFF2-40B4-BE49-F238E27FC236}">
                <a16:creationId xmlns:a16="http://schemas.microsoft.com/office/drawing/2014/main" id="{5E41EB89-A7D9-44C0-8B50-0345F240026A}"/>
              </a:ext>
            </a:extLst>
          </p:cNvPr>
          <p:cNvSpPr/>
          <p:nvPr/>
        </p:nvSpPr>
        <p:spPr>
          <a:xfrm>
            <a:off x="626882" y="2434505"/>
            <a:ext cx="10938235" cy="2308324"/>
          </a:xfrm>
          <a:prstGeom prst="rect">
            <a:avLst/>
          </a:prstGeom>
        </p:spPr>
        <p:txBody>
          <a:bodyPr wrap="square">
            <a:spAutoFit/>
          </a:bodyPr>
          <a:lstStyle/>
          <a:p>
            <a:pPr marL="285750" indent="-285750" algn="just">
              <a:buFont typeface="Arial" panose="020B0604020202020204" pitchFamily="34" charset="0"/>
              <a:buChar char="•"/>
            </a:pPr>
            <a:r>
              <a:rPr lang="en-US" dirty="0"/>
              <a:t>The protocols to provide multicast in ad hoc networks discussed so far, either address efficiency or robustness but not both simultaneously. </a:t>
            </a:r>
          </a:p>
          <a:p>
            <a:pPr marL="285750" indent="-285750" algn="just">
              <a:buFont typeface="Arial" panose="020B0604020202020204" pitchFamily="34" charset="0"/>
              <a:buChar char="•"/>
            </a:pPr>
            <a:r>
              <a:rPr lang="en-US" dirty="0"/>
              <a:t>The tree-based approaches provide high data forwarding efficiency at the expense of low robustness, whereas mesh-based approaches lead to better robustness (link failure may not trigger a reconfiguration) at the expense of higher forwarding overhead and increased network load. </a:t>
            </a:r>
          </a:p>
          <a:p>
            <a:pPr marL="285750" indent="-285750" algn="just">
              <a:buFont typeface="Arial" panose="020B0604020202020204" pitchFamily="34" charset="0"/>
              <a:buChar char="•"/>
            </a:pPr>
            <a:r>
              <a:rPr lang="en-US" dirty="0"/>
              <a:t>Thus, there is a possibility that a hybrid multicasting solution may achieve better performance by combining the advantages of both tree and meshed-based approaches. </a:t>
            </a:r>
          </a:p>
          <a:p>
            <a:pPr marL="285750" indent="-285750" algn="just">
              <a:buFont typeface="Arial" panose="020B0604020202020204" pitchFamily="34" charset="0"/>
              <a:buChar char="•"/>
            </a:pPr>
            <a:r>
              <a:rPr lang="en-US" dirty="0"/>
              <a:t>In this section, we explore the different hybrid approaches to enable ad hoc multicasting. </a:t>
            </a:r>
            <a:endParaRPr lang="en-IN" dirty="0"/>
          </a:p>
        </p:txBody>
      </p:sp>
    </p:spTree>
    <p:extLst>
      <p:ext uri="{BB962C8B-B14F-4D97-AF65-F5344CB8AC3E}">
        <p14:creationId xmlns:p14="http://schemas.microsoft.com/office/powerpoint/2010/main" val="23628076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8C5D7B-A2BC-411A-935D-A7D7FADFBDBA}"/>
              </a:ext>
            </a:extLst>
          </p:cNvPr>
          <p:cNvSpPr/>
          <p:nvPr/>
        </p:nvSpPr>
        <p:spPr>
          <a:xfrm>
            <a:off x="397497" y="2190716"/>
            <a:ext cx="11112631" cy="3139321"/>
          </a:xfrm>
          <a:prstGeom prst="rect">
            <a:avLst/>
          </a:prstGeom>
        </p:spPr>
        <p:txBody>
          <a:bodyPr wrap="square">
            <a:spAutoFit/>
          </a:bodyPr>
          <a:lstStyle/>
          <a:p>
            <a:pPr marL="285750" indent="-285750" algn="just">
              <a:buFont typeface="Arial" panose="020B0604020202020204" pitchFamily="34" charset="0"/>
              <a:buChar char="•"/>
            </a:pPr>
            <a:r>
              <a:rPr lang="en-US" dirty="0"/>
              <a:t>The Ad hoc Multicast Routing Protocol (</a:t>
            </a:r>
            <a:r>
              <a:rPr lang="en-US" dirty="0" err="1"/>
              <a:t>AMRoute</a:t>
            </a:r>
            <a:r>
              <a:rPr lang="en-US" dirty="0"/>
              <a:t>) [Bommaiahl998] creates a bi-directional, shared tree by using only group senders and receivers as tree nodes for data distribution. </a:t>
            </a:r>
          </a:p>
          <a:p>
            <a:pPr marL="285750" indent="-285750" algn="just">
              <a:buFont typeface="Arial" panose="020B0604020202020204" pitchFamily="34" charset="0"/>
              <a:buChar char="•"/>
            </a:pPr>
            <a:r>
              <a:rPr lang="en-US" dirty="0"/>
              <a:t>The protocol has two main components: mesh creation and tree setup (see Figure 3.10). The mesh creation identifies and designates certain nodes as logical cores and these are responsible for initiating the signaling operation and maintaining the multicast tree to the rest of the group members. </a:t>
            </a:r>
          </a:p>
          <a:p>
            <a:pPr marL="285750" indent="-285750" algn="just">
              <a:buFont typeface="Arial" panose="020B0604020202020204" pitchFamily="34" charset="0"/>
              <a:buChar char="•"/>
            </a:pPr>
            <a:r>
              <a:rPr lang="en-US" dirty="0"/>
              <a:t>A non core node only responds to messages from the core nodes and serves as a passive agent. The selection of logical core in </a:t>
            </a:r>
            <a:r>
              <a:rPr lang="en-US" dirty="0" err="1"/>
              <a:t>AMRoute</a:t>
            </a:r>
            <a:r>
              <a:rPr lang="en-US" dirty="0"/>
              <a:t> is dynamic and can migrate to any other member node, depending on the network dynamics and the group membership. </a:t>
            </a:r>
          </a:p>
          <a:p>
            <a:pPr marL="285750" indent="-285750" algn="just">
              <a:buFont typeface="Arial" panose="020B0604020202020204" pitchFamily="34" charset="0"/>
              <a:buChar char="•"/>
            </a:pPr>
            <a:r>
              <a:rPr lang="en-US" dirty="0" err="1"/>
              <a:t>AMRoute</a:t>
            </a:r>
            <a:r>
              <a:rPr lang="en-US" dirty="0"/>
              <a:t> does not address network dynamics and assumes the underlying unicast protocol to take care of it. To create a mesh, each member begins by identifying itself as a core and broadcasts JOIN_REQ packets with increasing TTL to discover other members. </a:t>
            </a:r>
          </a:p>
        </p:txBody>
      </p:sp>
      <p:sp>
        <p:nvSpPr>
          <p:cNvPr id="4" name="Rectangle 3">
            <a:extLst>
              <a:ext uri="{FF2B5EF4-FFF2-40B4-BE49-F238E27FC236}">
                <a16:creationId xmlns:a16="http://schemas.microsoft.com/office/drawing/2014/main" id="{C0CE3779-F282-42EE-99F2-31400C15AA86}"/>
              </a:ext>
            </a:extLst>
          </p:cNvPr>
          <p:cNvSpPr/>
          <p:nvPr/>
        </p:nvSpPr>
        <p:spPr>
          <a:xfrm>
            <a:off x="2165680" y="744718"/>
            <a:ext cx="7424277" cy="707886"/>
          </a:xfrm>
          <a:prstGeom prst="rect">
            <a:avLst/>
          </a:prstGeom>
        </p:spPr>
        <p:txBody>
          <a:bodyPr wrap="none">
            <a:spAutoFit/>
          </a:bodyPr>
          <a:lstStyle/>
          <a:p>
            <a:r>
              <a:rPr lang="en-US" sz="4000" dirty="0"/>
              <a:t>Ad Hoc Multicast Routing Protocol </a:t>
            </a:r>
            <a:endParaRPr lang="en-IN" sz="4000" dirty="0"/>
          </a:p>
        </p:txBody>
      </p:sp>
    </p:spTree>
    <p:extLst>
      <p:ext uri="{BB962C8B-B14F-4D97-AF65-F5344CB8AC3E}">
        <p14:creationId xmlns:p14="http://schemas.microsoft.com/office/powerpoint/2010/main" val="32568488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216C8C-10C0-4FA6-9967-174A45998D71}"/>
              </a:ext>
            </a:extLst>
          </p:cNvPr>
          <p:cNvSpPr/>
          <p:nvPr/>
        </p:nvSpPr>
        <p:spPr>
          <a:xfrm>
            <a:off x="458771" y="2221925"/>
            <a:ext cx="11274457" cy="2862322"/>
          </a:xfrm>
          <a:prstGeom prst="rect">
            <a:avLst/>
          </a:prstGeom>
        </p:spPr>
        <p:txBody>
          <a:bodyPr wrap="square">
            <a:spAutoFit/>
          </a:bodyPr>
          <a:lstStyle/>
          <a:p>
            <a:pPr marL="285750" indent="-285750" algn="just">
              <a:buFont typeface="Arial" panose="020B0604020202020204" pitchFamily="34" charset="0"/>
              <a:buChar char="•"/>
            </a:pPr>
            <a:r>
              <a:rPr lang="en-US" dirty="0"/>
              <a:t>When a core receives JOIN_REQ from a core in a different mesh for the same group, it replies with a JOIN_ACK. A new bi-directional tunnel is created between the two cores and one of them is selected as core after the mesh merger. Once the mesh has been established, the core initiates the tree creation process. </a:t>
            </a:r>
          </a:p>
          <a:p>
            <a:pPr marL="285750" indent="-285750" algn="just">
              <a:buFont typeface="Arial" panose="020B0604020202020204" pitchFamily="34" charset="0"/>
              <a:buChar char="•"/>
            </a:pPr>
            <a:r>
              <a:rPr lang="en-US" dirty="0"/>
              <a:t>The core sends out periodic TREE_CREATE messages along all links incident on its mesh. Using unicast tunnels, the TREE_CREATE messages are sent only to the group members. </a:t>
            </a:r>
          </a:p>
          <a:p>
            <a:pPr marL="285750" indent="-285750" algn="just">
              <a:buFont typeface="Arial" panose="020B0604020202020204" pitchFamily="34" charset="0"/>
              <a:buChar char="•"/>
            </a:pPr>
            <a:r>
              <a:rPr lang="en-US" dirty="0"/>
              <a:t>Group members receiving non-duplicate TREE_CREATE message forwards it to all mesh links except the incoming one, and marks the incoming and outgoing links as a tree links. </a:t>
            </a:r>
          </a:p>
          <a:p>
            <a:pPr marL="285750" indent="-285750" algn="just">
              <a:buFont typeface="Arial" panose="020B0604020202020204" pitchFamily="34" charset="0"/>
              <a:buChar char="•"/>
            </a:pPr>
            <a:r>
              <a:rPr lang="en-US" dirty="0"/>
              <a:t>If a link is not going to be used as part of the tree, the TREE_CREATE is discarded and TREE_CREATE__NAK is sent back to incoming links. </a:t>
            </a:r>
          </a:p>
          <a:p>
            <a:pPr marL="285750" indent="-285750" algn="just">
              <a:buFont typeface="Arial" panose="020B0604020202020204" pitchFamily="34" charset="0"/>
              <a:buChar char="•"/>
            </a:pPr>
            <a:r>
              <a:rPr lang="en-US" dirty="0"/>
              <a:t>A member node, which wants to leave a group, can do so by sending a JOESLNAK message to its neighboring nodes. </a:t>
            </a:r>
            <a:endParaRPr lang="en-IN" dirty="0"/>
          </a:p>
        </p:txBody>
      </p:sp>
    </p:spTree>
    <p:extLst>
      <p:ext uri="{BB962C8B-B14F-4D97-AF65-F5344CB8AC3E}">
        <p14:creationId xmlns:p14="http://schemas.microsoft.com/office/powerpoint/2010/main" val="15030202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E7A04C-8C51-4BD2-8CD7-C54FAA227D67}"/>
              </a:ext>
            </a:extLst>
          </p:cNvPr>
          <p:cNvSpPr/>
          <p:nvPr/>
        </p:nvSpPr>
        <p:spPr>
          <a:xfrm>
            <a:off x="525285" y="592472"/>
            <a:ext cx="11354903" cy="707886"/>
          </a:xfrm>
          <a:prstGeom prst="rect">
            <a:avLst/>
          </a:prstGeom>
        </p:spPr>
        <p:txBody>
          <a:bodyPr wrap="none">
            <a:spAutoFit/>
          </a:bodyPr>
          <a:lstStyle/>
          <a:p>
            <a:r>
              <a:rPr lang="en-US" sz="4000" dirty="0"/>
              <a:t>Multicast Core-Extraction Distributed Ad Hoc Routing </a:t>
            </a:r>
            <a:endParaRPr lang="en-IN" sz="4000" dirty="0"/>
          </a:p>
        </p:txBody>
      </p:sp>
      <p:sp>
        <p:nvSpPr>
          <p:cNvPr id="3" name="Rectangle 2">
            <a:extLst>
              <a:ext uri="{FF2B5EF4-FFF2-40B4-BE49-F238E27FC236}">
                <a16:creationId xmlns:a16="http://schemas.microsoft.com/office/drawing/2014/main" id="{541A5D93-AF57-4C3E-95E6-D0BA73335540}"/>
              </a:ext>
            </a:extLst>
          </p:cNvPr>
          <p:cNvSpPr/>
          <p:nvPr/>
        </p:nvSpPr>
        <p:spPr>
          <a:xfrm>
            <a:off x="625311" y="2018211"/>
            <a:ext cx="10941378" cy="4247317"/>
          </a:xfrm>
          <a:prstGeom prst="rect">
            <a:avLst/>
          </a:prstGeom>
        </p:spPr>
        <p:txBody>
          <a:bodyPr wrap="square">
            <a:spAutoFit/>
          </a:bodyPr>
          <a:lstStyle/>
          <a:p>
            <a:pPr marL="285750" indent="-285750" algn="just">
              <a:buFont typeface="Arial" panose="020B0604020202020204" pitchFamily="34" charset="0"/>
              <a:buChar char="•"/>
            </a:pPr>
            <a:r>
              <a:rPr lang="en-US" dirty="0"/>
              <a:t>The Multicast Core-Extraction Distributed Ad hoc Routing (MCEDAR) [Sinhal999] is a multicast extension to the CEDAR architecture. </a:t>
            </a:r>
          </a:p>
          <a:p>
            <a:pPr marL="285750" indent="-285750" algn="just">
              <a:buFont typeface="Arial" panose="020B0604020202020204" pitchFamily="34" charset="0"/>
              <a:buChar char="•"/>
            </a:pPr>
            <a:r>
              <a:rPr lang="en-US" dirty="0"/>
              <a:t>The main idea of MCEDAR is to provide the efficiency of the tree-based forwarding protocols and robustness of mesh-based protocols by combining these two approaches. </a:t>
            </a:r>
          </a:p>
          <a:p>
            <a:pPr marL="285750" indent="-285750" algn="just">
              <a:buFont typeface="Arial" panose="020B0604020202020204" pitchFamily="34" charset="0"/>
              <a:buChar char="•"/>
            </a:pPr>
            <a:r>
              <a:rPr lang="en-US" dirty="0"/>
              <a:t>It is worth pointing out that a source-based forwarding tree is created on a mesh. As such, this ensures that the infrastructure is robust and data forwarding occurs at minimum height trees. </a:t>
            </a:r>
          </a:p>
          <a:p>
            <a:pPr marL="285750" indent="-285750" algn="just">
              <a:buFont typeface="Arial" panose="020B0604020202020204" pitchFamily="34" charset="0"/>
              <a:buChar char="•"/>
            </a:pPr>
            <a:r>
              <a:rPr lang="en-US" dirty="0"/>
              <a:t>MCEDAR decouples the control infrastructure from the actual data forwarding in order to reduce the control overhead. The underlying unicast protocol, CEDAR, provides the core broadcasting for multicasting. </a:t>
            </a:r>
          </a:p>
          <a:p>
            <a:pPr marL="285750" indent="-285750" algn="just">
              <a:buFont typeface="Arial" panose="020B0604020202020204" pitchFamily="34" charset="0"/>
              <a:buChar char="•"/>
            </a:pPr>
            <a:r>
              <a:rPr lang="en-US" dirty="0"/>
              <a:t>The core is used for routing management and link state inspection. Also, the cores make up the mesh infrastructure which is referred to as an </a:t>
            </a:r>
            <a:r>
              <a:rPr lang="en-US" dirty="0" err="1"/>
              <a:t>mgraph</a:t>
            </a:r>
            <a:r>
              <a:rPr lang="en-US" dirty="0"/>
              <a:t>, and use </a:t>
            </a:r>
            <a:r>
              <a:rPr lang="en-US" dirty="0" err="1"/>
              <a:t>joinlDs</a:t>
            </a:r>
            <a:r>
              <a:rPr lang="en-US" dirty="0"/>
              <a:t> to perform the join operation. </a:t>
            </a:r>
          </a:p>
          <a:p>
            <a:pPr marL="285750" indent="-285750" algn="just">
              <a:buFont typeface="Arial" panose="020B0604020202020204" pitchFamily="34" charset="0"/>
              <a:buChar char="•"/>
            </a:pPr>
            <a:r>
              <a:rPr lang="en-US" dirty="0"/>
              <a:t>As MCEDAR uses a mesh as the underlying infrastructure, it can tolerate a few link breakages without reconfiguration. </a:t>
            </a:r>
          </a:p>
          <a:p>
            <a:pPr marL="285750" indent="-285750" algn="just">
              <a:buFont typeface="Arial" panose="020B0604020202020204" pitchFamily="34" charset="0"/>
              <a:buChar char="•"/>
            </a:pPr>
            <a:r>
              <a:rPr lang="en-US" dirty="0"/>
              <a:t>The efficiency is achieved by using a forwarding mechanism on the mesh that creates an implicit route-based forwarding tree. As mentioned earlier, this ensures that the packets need to travel only the minimum distance in the tree.</a:t>
            </a:r>
            <a:endParaRPr lang="en-IN" dirty="0"/>
          </a:p>
        </p:txBody>
      </p:sp>
    </p:spTree>
    <p:extLst>
      <p:ext uri="{BB962C8B-B14F-4D97-AF65-F5344CB8AC3E}">
        <p14:creationId xmlns:p14="http://schemas.microsoft.com/office/powerpoint/2010/main" val="35093587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8CCF10-4CCC-46E4-99E7-F5BEFD660E58}"/>
              </a:ext>
            </a:extLst>
          </p:cNvPr>
          <p:cNvPicPr>
            <a:picLocks noChangeAspect="1"/>
          </p:cNvPicPr>
          <p:nvPr/>
        </p:nvPicPr>
        <p:blipFill>
          <a:blip r:embed="rId2"/>
          <a:stretch>
            <a:fillRect/>
          </a:stretch>
        </p:blipFill>
        <p:spPr>
          <a:xfrm>
            <a:off x="1249681" y="650240"/>
            <a:ext cx="9469120" cy="5669280"/>
          </a:xfrm>
          <a:prstGeom prst="rect">
            <a:avLst/>
          </a:prstGeom>
        </p:spPr>
      </p:pic>
    </p:spTree>
    <p:extLst>
      <p:ext uri="{BB962C8B-B14F-4D97-AF65-F5344CB8AC3E}">
        <p14:creationId xmlns:p14="http://schemas.microsoft.com/office/powerpoint/2010/main" val="12201877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6323EC-A090-44E1-A42C-BF405B02EA1F}"/>
              </a:ext>
            </a:extLst>
          </p:cNvPr>
          <p:cNvSpPr/>
          <p:nvPr/>
        </p:nvSpPr>
        <p:spPr>
          <a:xfrm>
            <a:off x="1336672" y="86353"/>
            <a:ext cx="8719375" cy="707886"/>
          </a:xfrm>
          <a:prstGeom prst="rect">
            <a:avLst/>
          </a:prstGeom>
        </p:spPr>
        <p:txBody>
          <a:bodyPr wrap="none">
            <a:spAutoFit/>
          </a:bodyPr>
          <a:lstStyle/>
          <a:p>
            <a:r>
              <a:rPr lang="en-IN" sz="4000" dirty="0"/>
              <a:t>Mobility-Based Hybrid Multicast Routing </a:t>
            </a:r>
          </a:p>
        </p:txBody>
      </p:sp>
      <p:sp>
        <p:nvSpPr>
          <p:cNvPr id="3" name="Rectangle 2">
            <a:extLst>
              <a:ext uri="{FF2B5EF4-FFF2-40B4-BE49-F238E27FC236}">
                <a16:creationId xmlns:a16="http://schemas.microsoft.com/office/drawing/2014/main" id="{27DD947C-0081-4150-8410-409725E83580}"/>
              </a:ext>
            </a:extLst>
          </p:cNvPr>
          <p:cNvSpPr/>
          <p:nvPr/>
        </p:nvSpPr>
        <p:spPr>
          <a:xfrm>
            <a:off x="197963" y="1454115"/>
            <a:ext cx="11576116" cy="5078313"/>
          </a:xfrm>
          <a:prstGeom prst="rect">
            <a:avLst/>
          </a:prstGeom>
        </p:spPr>
        <p:txBody>
          <a:bodyPr wrap="square">
            <a:spAutoFit/>
          </a:bodyPr>
          <a:lstStyle/>
          <a:p>
            <a:pPr marL="285750" indent="-285750" algn="just">
              <a:buFont typeface="Arial" panose="020B0604020202020204" pitchFamily="34" charset="0"/>
              <a:buChar char="•"/>
            </a:pPr>
            <a:r>
              <a:rPr lang="en-US" dirty="0"/>
              <a:t>The Mobility-based Hybrid Multicast Routing (MHMR) protocol [An2001] is built on top of the mobility-based clustering infrastructure. In order to deal with the issues of scalability and stability, the structure is hierarchical in nature. </a:t>
            </a:r>
          </a:p>
          <a:p>
            <a:pPr marL="285750" indent="-285750" algn="just">
              <a:buFont typeface="Arial" panose="020B0604020202020204" pitchFamily="34" charset="0"/>
              <a:buChar char="•"/>
            </a:pPr>
            <a:r>
              <a:rPr lang="en-US" dirty="0"/>
              <a:t>The mobility and positioning information is provided via a GPS for each node. For a group of nodes, a cluster-head is chosen to manage and monitor the nodes in a cluster. </a:t>
            </a:r>
          </a:p>
          <a:p>
            <a:pPr marL="285750" indent="-285750" algn="just">
              <a:buFont typeface="Arial" panose="020B0604020202020204" pitchFamily="34" charset="0"/>
              <a:buChar char="•"/>
            </a:pPr>
            <a:r>
              <a:rPr lang="en-US" dirty="0"/>
              <a:t>A mesh structure is built based on all the current clusters. Thus, MHMR achieves high stability. </a:t>
            </a:r>
          </a:p>
          <a:p>
            <a:pPr marL="285750" indent="-285750" algn="just">
              <a:buFont typeface="Arial" panose="020B0604020202020204" pitchFamily="34" charset="0"/>
              <a:buChar char="•"/>
            </a:pPr>
            <a:r>
              <a:rPr lang="en-US" dirty="0"/>
              <a:t>This is followed by a tree structure built based on the mesh to ensure that the multicasting group achieves maximal efficiency. </a:t>
            </a:r>
          </a:p>
          <a:p>
            <a:pPr marL="285750" indent="-285750" algn="just">
              <a:buFont typeface="Arial" panose="020B0604020202020204" pitchFamily="34" charset="0"/>
              <a:buChar char="•"/>
            </a:pPr>
            <a:r>
              <a:rPr lang="en-US" dirty="0"/>
              <a:t>MHMR also provides a combination of proactive and reactive concepts which enable low route acquisition delay of proactive schemes while achieving low overhead of reactive methods. </a:t>
            </a:r>
          </a:p>
          <a:p>
            <a:pPr marL="285750" indent="-285750" algn="just">
              <a:buFont typeface="Arial" panose="020B0604020202020204" pitchFamily="34" charset="0"/>
              <a:buChar char="•"/>
            </a:pPr>
            <a:r>
              <a:rPr lang="en-US" dirty="0"/>
              <a:t>It is interesting to note that cores are employed in both </a:t>
            </a:r>
            <a:r>
              <a:rPr lang="en-US" dirty="0" err="1"/>
              <a:t>AMRoute</a:t>
            </a:r>
            <a:r>
              <a:rPr lang="en-US" dirty="0"/>
              <a:t> and MCEDAR, as well as in many tree and mesh multicast algorithms. </a:t>
            </a:r>
          </a:p>
          <a:p>
            <a:pPr marL="285750" indent="-285750" algn="just">
              <a:buFont typeface="Arial" panose="020B0604020202020204" pitchFamily="34" charset="0"/>
              <a:buChar char="•"/>
            </a:pPr>
            <a:r>
              <a:rPr lang="en-US" dirty="0"/>
              <a:t>The use of cores has been shown to lower the control overhead. The use of cluster-heads has been proposed in MHMR. This has been shown to be a reasonable approach since dividing the nodes in an ad hoc network into clusters seems to be a promising method in taking care of highly dynamic nodes. </a:t>
            </a:r>
          </a:p>
          <a:p>
            <a:pPr marL="285750" indent="-285750" algn="just">
              <a:buFont typeface="Arial" panose="020B0604020202020204" pitchFamily="34" charset="0"/>
              <a:buChar char="•"/>
            </a:pPr>
            <a:r>
              <a:rPr lang="en-US" dirty="0"/>
              <a:t>Hybrid methods can reveal themselves to be attractive as they can provide protocols that can address further robustness and efficiency. </a:t>
            </a:r>
          </a:p>
          <a:p>
            <a:pPr marL="285750" indent="-285750" algn="just">
              <a:buFont typeface="Arial" panose="020B0604020202020204" pitchFamily="34" charset="0"/>
              <a:buChar char="•"/>
            </a:pPr>
            <a:r>
              <a:rPr lang="en-US" dirty="0"/>
              <a:t>Though hybrid protocols have not been as deeply investigated as tree and mesh protocols, they are under development and recent results indicate its promising future.</a:t>
            </a:r>
            <a:endParaRPr lang="en-IN" dirty="0"/>
          </a:p>
        </p:txBody>
      </p:sp>
    </p:spTree>
    <p:extLst>
      <p:ext uri="{BB962C8B-B14F-4D97-AF65-F5344CB8AC3E}">
        <p14:creationId xmlns:p14="http://schemas.microsoft.com/office/powerpoint/2010/main" val="4856337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56018D-750D-4888-B4D6-F05AF084A13B}"/>
              </a:ext>
            </a:extLst>
          </p:cNvPr>
          <p:cNvSpPr/>
          <p:nvPr/>
        </p:nvSpPr>
        <p:spPr>
          <a:xfrm>
            <a:off x="3949975" y="829558"/>
            <a:ext cx="2691763" cy="707886"/>
          </a:xfrm>
          <a:prstGeom prst="rect">
            <a:avLst/>
          </a:prstGeom>
        </p:spPr>
        <p:txBody>
          <a:bodyPr wrap="none">
            <a:spAutoFit/>
          </a:bodyPr>
          <a:lstStyle/>
          <a:p>
            <a:r>
              <a:rPr lang="en-IN" sz="4000" dirty="0"/>
              <a:t>Comparison</a:t>
            </a:r>
          </a:p>
        </p:txBody>
      </p:sp>
      <p:sp>
        <p:nvSpPr>
          <p:cNvPr id="3" name="Rectangle 2">
            <a:extLst>
              <a:ext uri="{FF2B5EF4-FFF2-40B4-BE49-F238E27FC236}">
                <a16:creationId xmlns:a16="http://schemas.microsoft.com/office/drawing/2014/main" id="{74BD6750-5BF1-46FA-9EB0-E8C26D63E87B}"/>
              </a:ext>
            </a:extLst>
          </p:cNvPr>
          <p:cNvSpPr/>
          <p:nvPr/>
        </p:nvSpPr>
        <p:spPr>
          <a:xfrm>
            <a:off x="454058" y="2385857"/>
            <a:ext cx="10971229" cy="3139321"/>
          </a:xfrm>
          <a:prstGeom prst="rect">
            <a:avLst/>
          </a:prstGeom>
        </p:spPr>
        <p:txBody>
          <a:bodyPr wrap="square">
            <a:spAutoFit/>
          </a:bodyPr>
          <a:lstStyle/>
          <a:p>
            <a:pPr marL="285750" indent="-285750" algn="just">
              <a:buFont typeface="Arial" panose="020B0604020202020204" pitchFamily="34" charset="0"/>
              <a:buChar char="•"/>
            </a:pPr>
            <a:r>
              <a:rPr lang="en-US" dirty="0"/>
              <a:t>The basic idea behind defining multicast routing protocol for MANET is to form path to the group members, with minimal redundancy and various algorithms described earlier, do attempt to achieve this goal using different mechanisms. </a:t>
            </a:r>
          </a:p>
          <a:p>
            <a:pPr marL="285750" indent="-285750" algn="just">
              <a:buFont typeface="Arial" panose="020B0604020202020204" pitchFamily="34" charset="0"/>
              <a:buChar char="•"/>
            </a:pPr>
            <a:r>
              <a:rPr lang="en-US" dirty="0"/>
              <a:t>The host mobility also influences the routes being selected and possibility of loop formation or the paths becoming non-optimal are important. </a:t>
            </a:r>
          </a:p>
          <a:p>
            <a:pPr marL="285750" indent="-285750" algn="just">
              <a:buFont typeface="Arial" panose="020B0604020202020204" pitchFamily="34" charset="0"/>
              <a:buChar char="•"/>
            </a:pPr>
            <a:r>
              <a:rPr lang="en-US" dirty="0"/>
              <a:t>It is also critical to know if the paths created is on demand, or optimal paths are determined once and updated periodically when needed. </a:t>
            </a:r>
          </a:p>
          <a:p>
            <a:pPr marL="285750" indent="-285750" algn="just">
              <a:buFont typeface="Arial" panose="020B0604020202020204" pitchFamily="34" charset="0"/>
              <a:buChar char="•"/>
            </a:pPr>
            <a:r>
              <a:rPr lang="en-US" dirty="0"/>
              <a:t>Another important consideration is if the control packets are flooded throughout the network or it is limited to some nodes in the multicast delivery tree. </a:t>
            </a:r>
          </a:p>
          <a:p>
            <a:pPr marL="285750" indent="-285750" algn="just">
              <a:buFont typeface="Arial" panose="020B0604020202020204" pitchFamily="34" charset="0"/>
              <a:buChar char="•"/>
            </a:pPr>
            <a:r>
              <a:rPr lang="en-US" dirty="0"/>
              <a:t>Keeping this in mind, Table 3.1 compares different proposals to provide multicasting over MANETs using various metrics. A performance study of various multicast routing protocols can be found in [Lee2000b]. </a:t>
            </a:r>
            <a:endParaRPr lang="en-IN" dirty="0"/>
          </a:p>
        </p:txBody>
      </p:sp>
    </p:spTree>
    <p:extLst>
      <p:ext uri="{BB962C8B-B14F-4D97-AF65-F5344CB8AC3E}">
        <p14:creationId xmlns:p14="http://schemas.microsoft.com/office/powerpoint/2010/main" val="28027835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555D8E-38A5-4F1C-84C7-684C956AC8CC}"/>
              </a:ext>
            </a:extLst>
          </p:cNvPr>
          <p:cNvSpPr/>
          <p:nvPr/>
        </p:nvSpPr>
        <p:spPr>
          <a:xfrm>
            <a:off x="609600" y="2495314"/>
            <a:ext cx="10972800" cy="1477328"/>
          </a:xfrm>
          <a:prstGeom prst="rect">
            <a:avLst/>
          </a:prstGeom>
        </p:spPr>
        <p:txBody>
          <a:bodyPr wrap="square">
            <a:spAutoFit/>
          </a:bodyPr>
          <a:lstStyle/>
          <a:p>
            <a:pPr marL="285750" indent="-285750" algn="just">
              <a:buFont typeface="Arial" panose="020B0604020202020204" pitchFamily="34" charset="0"/>
              <a:buChar char="•"/>
            </a:pPr>
            <a:r>
              <a:rPr lang="en-US" dirty="0"/>
              <a:t>We now turn our attention to the problem of </a:t>
            </a:r>
            <a:r>
              <a:rPr lang="en-US" dirty="0" err="1"/>
              <a:t>geocasting</a:t>
            </a:r>
            <a:r>
              <a:rPr lang="en-US" dirty="0"/>
              <a:t> over MANETs. As we have mentioned earlier, </a:t>
            </a:r>
            <a:r>
              <a:rPr lang="en-US" dirty="0" err="1"/>
              <a:t>geocasting</a:t>
            </a:r>
            <a:r>
              <a:rPr lang="en-US" dirty="0"/>
              <a:t> is a variant of the conventional multicasting problem and distinguishes itself by specifying hosts as group members within a specified geographical region. </a:t>
            </a:r>
          </a:p>
          <a:p>
            <a:pPr marL="285750" indent="-285750" algn="just">
              <a:buFont typeface="Arial" panose="020B0604020202020204" pitchFamily="34" charset="0"/>
              <a:buChar char="•"/>
            </a:pPr>
            <a:r>
              <a:rPr lang="en-US" dirty="0"/>
              <a:t>In </a:t>
            </a:r>
            <a:r>
              <a:rPr lang="en-US" dirty="0" err="1"/>
              <a:t>geocasting</a:t>
            </a:r>
            <a:r>
              <a:rPr lang="en-US" dirty="0"/>
              <a:t>, the nodes eligible to receive packets are implicitly specified by a physical region and membership changes as mobile nodes move in or out of the </a:t>
            </a:r>
            <a:r>
              <a:rPr lang="en-US" dirty="0" err="1"/>
              <a:t>geocast</a:t>
            </a:r>
            <a:r>
              <a:rPr lang="en-US" dirty="0"/>
              <a:t> region.</a:t>
            </a:r>
            <a:endParaRPr lang="en-IN" dirty="0"/>
          </a:p>
        </p:txBody>
      </p:sp>
      <p:sp>
        <p:nvSpPr>
          <p:cNvPr id="5" name="Rectangle 4">
            <a:extLst>
              <a:ext uri="{FF2B5EF4-FFF2-40B4-BE49-F238E27FC236}">
                <a16:creationId xmlns:a16="http://schemas.microsoft.com/office/drawing/2014/main" id="{5CBAF2E7-287E-4FBF-9E5D-EF91C064AF3D}"/>
              </a:ext>
            </a:extLst>
          </p:cNvPr>
          <p:cNvSpPr/>
          <p:nvPr/>
        </p:nvSpPr>
        <p:spPr>
          <a:xfrm>
            <a:off x="4227923" y="812800"/>
            <a:ext cx="2486193" cy="707886"/>
          </a:xfrm>
          <a:prstGeom prst="rect">
            <a:avLst/>
          </a:prstGeom>
        </p:spPr>
        <p:txBody>
          <a:bodyPr wrap="none">
            <a:spAutoFit/>
          </a:bodyPr>
          <a:lstStyle/>
          <a:p>
            <a:r>
              <a:rPr lang="en-IN" sz="4000" dirty="0" err="1"/>
              <a:t>Geocasting</a:t>
            </a:r>
            <a:endParaRPr lang="en-IN" sz="4000" dirty="0"/>
          </a:p>
        </p:txBody>
      </p:sp>
    </p:spTree>
    <p:extLst>
      <p:ext uri="{BB962C8B-B14F-4D97-AF65-F5344CB8AC3E}">
        <p14:creationId xmlns:p14="http://schemas.microsoft.com/office/powerpoint/2010/main" val="42108957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1240D6-52C2-4B48-9328-29602F1B2094}"/>
              </a:ext>
            </a:extLst>
          </p:cNvPr>
          <p:cNvPicPr>
            <a:picLocks noChangeAspect="1"/>
          </p:cNvPicPr>
          <p:nvPr/>
        </p:nvPicPr>
        <p:blipFill>
          <a:blip r:embed="rId2"/>
          <a:stretch>
            <a:fillRect/>
          </a:stretch>
        </p:blipFill>
        <p:spPr>
          <a:xfrm>
            <a:off x="995681" y="999786"/>
            <a:ext cx="9875520" cy="5512774"/>
          </a:xfrm>
          <a:prstGeom prst="rect">
            <a:avLst/>
          </a:prstGeom>
        </p:spPr>
      </p:pic>
    </p:spTree>
    <p:extLst>
      <p:ext uri="{BB962C8B-B14F-4D97-AF65-F5344CB8AC3E}">
        <p14:creationId xmlns:p14="http://schemas.microsoft.com/office/powerpoint/2010/main" val="12733242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C0D8F9-3DF4-4CFF-A7D0-5D9279844240}"/>
              </a:ext>
            </a:extLst>
          </p:cNvPr>
          <p:cNvSpPr/>
          <p:nvPr/>
        </p:nvSpPr>
        <p:spPr>
          <a:xfrm>
            <a:off x="355076" y="1859339"/>
            <a:ext cx="11371868" cy="3139321"/>
          </a:xfrm>
          <a:prstGeom prst="rect">
            <a:avLst/>
          </a:prstGeom>
        </p:spPr>
        <p:txBody>
          <a:bodyPr wrap="square">
            <a:spAutoFit/>
          </a:bodyPr>
          <a:lstStyle/>
          <a:p>
            <a:pPr marL="285750" indent="-285750" algn="just">
              <a:buFont typeface="Arial" panose="020B0604020202020204" pitchFamily="34" charset="0"/>
              <a:buChar char="•"/>
            </a:pPr>
            <a:r>
              <a:rPr lang="en-US" dirty="0"/>
              <a:t>The concept of </a:t>
            </a:r>
            <a:r>
              <a:rPr lang="en-US" dirty="0" err="1"/>
              <a:t>geocast</a:t>
            </a:r>
            <a:r>
              <a:rPr lang="en-US" dirty="0"/>
              <a:t> was first introduced in [Navasl997] as an Internet addition, not MANET additions. </a:t>
            </a:r>
          </a:p>
          <a:p>
            <a:pPr marL="285750" indent="-285750" algn="just">
              <a:buFont typeface="Arial" panose="020B0604020202020204" pitchFamily="34" charset="0"/>
              <a:buChar char="•"/>
            </a:pPr>
            <a:r>
              <a:rPr lang="en-US" dirty="0"/>
              <a:t>The GPS application in geographic messaging is described in [Navasl997], where it is discussed how to send packets to users who are located on a wired network within a particular polygon or circle defined by latitude and longitude. </a:t>
            </a:r>
          </a:p>
          <a:p>
            <a:pPr marL="285750" indent="-285750" algn="just">
              <a:buFont typeface="Arial" panose="020B0604020202020204" pitchFamily="34" charset="0"/>
              <a:buChar char="•"/>
            </a:pPr>
            <a:r>
              <a:rPr lang="en-US" dirty="0"/>
              <a:t>In future, it may be possible that GPS is deployed in almost every user terminal. With GPS, each node has its location readily available. </a:t>
            </a:r>
          </a:p>
          <a:p>
            <a:pPr marL="285750" indent="-285750" algn="just">
              <a:buFont typeface="Arial" panose="020B0604020202020204" pitchFamily="34" charset="0"/>
              <a:buChar char="•"/>
            </a:pPr>
            <a:r>
              <a:rPr lang="en-US" dirty="0"/>
              <a:t>Here, we assume that whenever a node in the </a:t>
            </a:r>
            <a:r>
              <a:rPr lang="en-US" dirty="0" err="1"/>
              <a:t>geocast</a:t>
            </a:r>
            <a:r>
              <a:rPr lang="en-US" dirty="0"/>
              <a:t> region receives a </a:t>
            </a:r>
            <a:r>
              <a:rPr lang="en-US" dirty="0" err="1"/>
              <a:t>geocast</a:t>
            </a:r>
            <a:r>
              <a:rPr lang="en-US" dirty="0"/>
              <a:t> packet, it floods the </a:t>
            </a:r>
            <a:r>
              <a:rPr lang="en-US" dirty="0" err="1"/>
              <a:t>geocast</a:t>
            </a:r>
            <a:r>
              <a:rPr lang="en-US" dirty="0"/>
              <a:t> packet to all its neighbors. In other words, flooding of </a:t>
            </a:r>
            <a:r>
              <a:rPr lang="en-US" dirty="0" err="1"/>
              <a:t>geocast</a:t>
            </a:r>
            <a:r>
              <a:rPr lang="en-US" dirty="0"/>
              <a:t> packets takes place within the </a:t>
            </a:r>
            <a:r>
              <a:rPr lang="en-US" dirty="0" err="1"/>
              <a:t>geocast</a:t>
            </a:r>
            <a:r>
              <a:rPr lang="en-US" dirty="0"/>
              <a:t> region. </a:t>
            </a:r>
          </a:p>
          <a:p>
            <a:pPr marL="285750" indent="-285750" algn="just">
              <a:buFont typeface="Arial" panose="020B0604020202020204" pitchFamily="34" charset="0"/>
              <a:buChar char="•"/>
            </a:pPr>
            <a:r>
              <a:rPr lang="en-US" dirty="0"/>
              <a:t>All </a:t>
            </a:r>
            <a:r>
              <a:rPr lang="en-US" dirty="0" err="1"/>
              <a:t>geocast</a:t>
            </a:r>
            <a:r>
              <a:rPr lang="en-US" dirty="0"/>
              <a:t> protocols presented here follow this assumption. One effect of this assumption is that a </a:t>
            </a:r>
            <a:r>
              <a:rPr lang="en-US" dirty="0" err="1"/>
              <a:t>geocast</a:t>
            </a:r>
            <a:r>
              <a:rPr lang="en-US" dirty="0"/>
              <a:t> protocol works if at least one node in the </a:t>
            </a:r>
            <a:r>
              <a:rPr lang="en-US" dirty="0" err="1"/>
              <a:t>geocast</a:t>
            </a:r>
            <a:r>
              <a:rPr lang="en-US" dirty="0"/>
              <a:t> region receives the </a:t>
            </a:r>
            <a:r>
              <a:rPr lang="en-US" dirty="0" err="1"/>
              <a:t>geocast</a:t>
            </a:r>
            <a:r>
              <a:rPr lang="en-US" dirty="0"/>
              <a:t> packet. </a:t>
            </a:r>
          </a:p>
          <a:p>
            <a:pPr marL="285750" indent="-285750" algn="just">
              <a:buFont typeface="Arial" panose="020B0604020202020204" pitchFamily="34" charset="0"/>
              <a:buChar char="•"/>
            </a:pPr>
            <a:r>
              <a:rPr lang="en-US" dirty="0"/>
              <a:t>Lastly, we assume that the protocols presented here use a jitter technique in order to avoid two packets colliding with each other by a broadcast. </a:t>
            </a:r>
          </a:p>
        </p:txBody>
      </p:sp>
    </p:spTree>
    <p:extLst>
      <p:ext uri="{BB962C8B-B14F-4D97-AF65-F5344CB8AC3E}">
        <p14:creationId xmlns:p14="http://schemas.microsoft.com/office/powerpoint/2010/main" val="7573211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DC5F1B-A224-401F-9894-A1FEEBB4030D}"/>
              </a:ext>
            </a:extLst>
          </p:cNvPr>
          <p:cNvSpPr/>
          <p:nvPr/>
        </p:nvSpPr>
        <p:spPr>
          <a:xfrm>
            <a:off x="534185" y="2096475"/>
            <a:ext cx="11123629" cy="2862322"/>
          </a:xfrm>
          <a:prstGeom prst="rect">
            <a:avLst/>
          </a:prstGeom>
        </p:spPr>
        <p:txBody>
          <a:bodyPr wrap="square">
            <a:spAutoFit/>
          </a:bodyPr>
          <a:lstStyle/>
          <a:p>
            <a:pPr marL="285750" indent="-285750" algn="just">
              <a:buFont typeface="Arial" panose="020B0604020202020204" pitchFamily="34" charset="0"/>
              <a:buChar char="•"/>
            </a:pPr>
            <a:r>
              <a:rPr lang="en-US" dirty="0"/>
              <a:t>In other words, nodes offset transmissions by a random jitter to avoid their neighbors sending packets at the same time. </a:t>
            </a:r>
          </a:p>
          <a:p>
            <a:pPr marL="285750" indent="-285750" algn="just">
              <a:buFont typeface="Arial" panose="020B0604020202020204" pitchFamily="34" charset="0"/>
              <a:buChar char="•"/>
            </a:pPr>
            <a:r>
              <a:rPr lang="en-US" dirty="0"/>
              <a:t>This issue has been discussed in the previous chapter. In this section, we classify existing </a:t>
            </a:r>
            <a:r>
              <a:rPr lang="en-US" dirty="0" err="1"/>
              <a:t>geocast</a:t>
            </a:r>
            <a:r>
              <a:rPr lang="en-US" dirty="0"/>
              <a:t> protocols into two categories: data-transmission oriented protocols and routing creation oriented protocols. </a:t>
            </a:r>
          </a:p>
          <a:p>
            <a:pPr marL="285750" indent="-285750" algn="just">
              <a:buFont typeface="Arial" panose="020B0604020202020204" pitchFamily="34" charset="0"/>
              <a:buChar char="•"/>
            </a:pPr>
            <a:r>
              <a:rPr lang="en-US" dirty="0"/>
              <a:t>Since all the nodes in the </a:t>
            </a:r>
            <a:r>
              <a:rPr lang="en-US" dirty="0" err="1"/>
              <a:t>geocast</a:t>
            </a:r>
            <a:r>
              <a:rPr lang="en-US" dirty="0"/>
              <a:t> region share information among each other by flooding, the difference between these two categories is how they transmit information from a source to one or more nodes in the </a:t>
            </a:r>
            <a:r>
              <a:rPr lang="en-US" dirty="0" err="1"/>
              <a:t>geocast</a:t>
            </a:r>
            <a:r>
              <a:rPr lang="en-US" dirty="0"/>
              <a:t> region. Data-transmission oriented protocols use flooding or a variant of flooding to forward </a:t>
            </a:r>
            <a:r>
              <a:rPr lang="en-US" dirty="0" err="1"/>
              <a:t>geocast</a:t>
            </a:r>
            <a:r>
              <a:rPr lang="en-US" dirty="0"/>
              <a:t> packets from the source to the </a:t>
            </a:r>
            <a:r>
              <a:rPr lang="en-US" dirty="0" err="1"/>
              <a:t>geocast</a:t>
            </a:r>
            <a:r>
              <a:rPr lang="en-US" dirty="0"/>
              <a:t> region. </a:t>
            </a:r>
          </a:p>
          <a:p>
            <a:pPr marL="285750" indent="-285750" algn="just">
              <a:buFont typeface="Arial" panose="020B0604020202020204" pitchFamily="34" charset="0"/>
              <a:buChar char="•"/>
            </a:pPr>
            <a:r>
              <a:rPr lang="en-US" dirty="0"/>
              <a:t>Routing-creation oriented protocols create routes from the source to the </a:t>
            </a:r>
            <a:r>
              <a:rPr lang="en-US" dirty="0" err="1"/>
              <a:t>geocast</a:t>
            </a:r>
            <a:r>
              <a:rPr lang="en-US" dirty="0"/>
              <a:t> region via control packets. Both of these techniques eventually reach one or more nodes in the </a:t>
            </a:r>
            <a:r>
              <a:rPr lang="en-US" dirty="0" err="1"/>
              <a:t>geocast</a:t>
            </a:r>
            <a:r>
              <a:rPr lang="en-US" dirty="0"/>
              <a:t> region. </a:t>
            </a:r>
            <a:endParaRPr lang="en-IN" dirty="0"/>
          </a:p>
        </p:txBody>
      </p:sp>
    </p:spTree>
    <p:extLst>
      <p:ext uri="{BB962C8B-B14F-4D97-AF65-F5344CB8AC3E}">
        <p14:creationId xmlns:p14="http://schemas.microsoft.com/office/powerpoint/2010/main" val="2676713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C172B2-2C3A-42F7-A4EB-8B64AFB915DB}"/>
              </a:ext>
            </a:extLst>
          </p:cNvPr>
          <p:cNvSpPr/>
          <p:nvPr/>
        </p:nvSpPr>
        <p:spPr>
          <a:xfrm>
            <a:off x="2707064" y="768733"/>
            <a:ext cx="6096000" cy="707886"/>
          </a:xfrm>
          <a:prstGeom prst="rect">
            <a:avLst/>
          </a:prstGeom>
        </p:spPr>
        <p:txBody>
          <a:bodyPr>
            <a:spAutoFit/>
          </a:bodyPr>
          <a:lstStyle/>
          <a:p>
            <a:r>
              <a:rPr lang="en-IN" sz="4000" dirty="0" err="1"/>
              <a:t>Geocast</a:t>
            </a:r>
            <a:r>
              <a:rPr lang="en-IN" sz="4000" dirty="0"/>
              <a:t> Routing Protocols </a:t>
            </a:r>
          </a:p>
        </p:txBody>
      </p:sp>
      <p:sp>
        <p:nvSpPr>
          <p:cNvPr id="4" name="Rectangle 3">
            <a:extLst>
              <a:ext uri="{FF2B5EF4-FFF2-40B4-BE49-F238E27FC236}">
                <a16:creationId xmlns:a16="http://schemas.microsoft.com/office/drawing/2014/main" id="{2E0761D7-0096-4152-8BBF-1097A545FF0F}"/>
              </a:ext>
            </a:extLst>
          </p:cNvPr>
          <p:cNvSpPr/>
          <p:nvPr/>
        </p:nvSpPr>
        <p:spPr>
          <a:xfrm>
            <a:off x="612961" y="1792606"/>
            <a:ext cx="4309578" cy="523220"/>
          </a:xfrm>
          <a:prstGeom prst="rect">
            <a:avLst/>
          </a:prstGeom>
        </p:spPr>
        <p:txBody>
          <a:bodyPr wrap="none">
            <a:spAutoFit/>
          </a:bodyPr>
          <a:lstStyle/>
          <a:p>
            <a:r>
              <a:rPr lang="en-IN" sz="2800" dirty="0"/>
              <a:t>Data-Transmission Oriented </a:t>
            </a:r>
          </a:p>
        </p:txBody>
      </p:sp>
      <p:sp>
        <p:nvSpPr>
          <p:cNvPr id="5" name="Rectangle 4">
            <a:extLst>
              <a:ext uri="{FF2B5EF4-FFF2-40B4-BE49-F238E27FC236}">
                <a16:creationId xmlns:a16="http://schemas.microsoft.com/office/drawing/2014/main" id="{8E7D9D33-1F79-44F6-9634-7C4416B8D073}"/>
              </a:ext>
            </a:extLst>
          </p:cNvPr>
          <p:cNvSpPr/>
          <p:nvPr/>
        </p:nvSpPr>
        <p:spPr>
          <a:xfrm>
            <a:off x="612961" y="2411153"/>
            <a:ext cx="11038787" cy="646331"/>
          </a:xfrm>
          <a:prstGeom prst="rect">
            <a:avLst/>
          </a:prstGeom>
        </p:spPr>
        <p:txBody>
          <a:bodyPr wrap="square">
            <a:spAutoFit/>
          </a:bodyPr>
          <a:lstStyle/>
          <a:p>
            <a:pPr algn="just"/>
            <a:r>
              <a:rPr lang="en-US"/>
              <a:t>Data-transmission oriented </a:t>
            </a:r>
            <a:r>
              <a:rPr lang="en-US" dirty="0" err="1"/>
              <a:t>geocast</a:t>
            </a:r>
            <a:r>
              <a:rPr lang="en-US" dirty="0"/>
              <a:t> protocols use flooding or a variant of flooding to forward data from the source to the </a:t>
            </a:r>
            <a:r>
              <a:rPr lang="en-US" dirty="0" err="1"/>
              <a:t>geocast</a:t>
            </a:r>
            <a:r>
              <a:rPr lang="en-US" dirty="0"/>
              <a:t> region - and are described</a:t>
            </a:r>
            <a:endParaRPr lang="en-IN" dirty="0"/>
          </a:p>
        </p:txBody>
      </p:sp>
    </p:spTree>
    <p:extLst>
      <p:ext uri="{BB962C8B-B14F-4D97-AF65-F5344CB8AC3E}">
        <p14:creationId xmlns:p14="http://schemas.microsoft.com/office/powerpoint/2010/main" val="14757632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5643E9-7375-4AB1-B820-3CDA746CE12A}"/>
              </a:ext>
            </a:extLst>
          </p:cNvPr>
          <p:cNvSpPr/>
          <p:nvPr/>
        </p:nvSpPr>
        <p:spPr>
          <a:xfrm>
            <a:off x="2697089" y="848412"/>
            <a:ext cx="5527732" cy="707886"/>
          </a:xfrm>
          <a:prstGeom prst="rect">
            <a:avLst/>
          </a:prstGeom>
        </p:spPr>
        <p:txBody>
          <a:bodyPr wrap="none">
            <a:spAutoFit/>
          </a:bodyPr>
          <a:lstStyle/>
          <a:p>
            <a:r>
              <a:rPr lang="en-IN" sz="4000" dirty="0"/>
              <a:t>Location-Based Multicast </a:t>
            </a:r>
          </a:p>
        </p:txBody>
      </p:sp>
      <p:sp>
        <p:nvSpPr>
          <p:cNvPr id="3" name="Rectangle 2">
            <a:extLst>
              <a:ext uri="{FF2B5EF4-FFF2-40B4-BE49-F238E27FC236}">
                <a16:creationId xmlns:a16="http://schemas.microsoft.com/office/drawing/2014/main" id="{121EFD24-4D87-44F0-BCA9-2BD1506B185A}"/>
              </a:ext>
            </a:extLst>
          </p:cNvPr>
          <p:cNvSpPr/>
          <p:nvPr/>
        </p:nvSpPr>
        <p:spPr>
          <a:xfrm>
            <a:off x="497263" y="2316167"/>
            <a:ext cx="11197473" cy="2031325"/>
          </a:xfrm>
          <a:prstGeom prst="rect">
            <a:avLst/>
          </a:prstGeom>
        </p:spPr>
        <p:txBody>
          <a:bodyPr wrap="square">
            <a:spAutoFit/>
          </a:bodyPr>
          <a:lstStyle/>
          <a:p>
            <a:pPr marL="285750" indent="-285750" algn="just">
              <a:buFont typeface="Arial" panose="020B0604020202020204" pitchFamily="34" charset="0"/>
              <a:buChar char="•"/>
            </a:pPr>
            <a:r>
              <a:rPr lang="en-US" dirty="0"/>
              <a:t>The Location-Based Multicast (LBM) protocol [Kol999] extends the LAR unicast routing algorithm for </a:t>
            </a:r>
            <a:r>
              <a:rPr lang="en-US" dirty="0" err="1"/>
              <a:t>geocasting</a:t>
            </a:r>
            <a:r>
              <a:rPr lang="en-US" dirty="0"/>
              <a:t>. </a:t>
            </a:r>
          </a:p>
          <a:p>
            <a:pPr marL="285750" indent="-285750" algn="just">
              <a:buFont typeface="Arial" panose="020B0604020202020204" pitchFamily="34" charset="0"/>
              <a:buChar char="•"/>
            </a:pPr>
            <a:r>
              <a:rPr lang="en-US" dirty="0"/>
              <a:t>As we have seen, LAR is an approach to utilize location information to improve the performance (i.e., higher data packet delivery ratio and lower overhead) of a unicast routing protocol in a MANET. </a:t>
            </a:r>
          </a:p>
          <a:p>
            <a:pPr marL="285750" indent="-285750" algn="just">
              <a:buFont typeface="Arial" panose="020B0604020202020204" pitchFamily="34" charset="0"/>
              <a:buChar char="•"/>
            </a:pPr>
            <a:r>
              <a:rPr lang="en-US" dirty="0"/>
              <a:t>Similarly, the goal of LBM is to decrease delivery overhead of </a:t>
            </a:r>
            <a:r>
              <a:rPr lang="en-US" dirty="0" err="1"/>
              <a:t>geocast</a:t>
            </a:r>
            <a:r>
              <a:rPr lang="en-US" dirty="0"/>
              <a:t> packets by reducing the forwarding space for </a:t>
            </a:r>
            <a:r>
              <a:rPr lang="en-US" dirty="0" err="1"/>
              <a:t>geocast</a:t>
            </a:r>
            <a:r>
              <a:rPr lang="en-US" dirty="0"/>
              <a:t> packets, while maintaining accuracy of data delivery. </a:t>
            </a:r>
          </a:p>
          <a:p>
            <a:pPr marL="285750" indent="-285750" algn="just">
              <a:buFont typeface="Arial" panose="020B0604020202020204" pitchFamily="34" charset="0"/>
              <a:buChar char="•"/>
            </a:pPr>
            <a:r>
              <a:rPr lang="en-US" dirty="0"/>
              <a:t>The LBM algorithm is based upon a flooding approach. LBM is essentially identical to flooding data packets, with the modification that a node determines whether to forward a </a:t>
            </a:r>
            <a:r>
              <a:rPr lang="en-US" dirty="0" err="1"/>
              <a:t>geocast</a:t>
            </a:r>
            <a:r>
              <a:rPr lang="en-US" dirty="0"/>
              <a:t> packet further via one of two schemes.</a:t>
            </a:r>
            <a:endParaRPr lang="en-IN" dirty="0"/>
          </a:p>
        </p:txBody>
      </p:sp>
    </p:spTree>
    <p:extLst>
      <p:ext uri="{BB962C8B-B14F-4D97-AF65-F5344CB8AC3E}">
        <p14:creationId xmlns:p14="http://schemas.microsoft.com/office/powerpoint/2010/main" val="15599669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72AAC5-9C29-4C35-9C04-B8620CFAE448}"/>
              </a:ext>
            </a:extLst>
          </p:cNvPr>
          <p:cNvSpPr/>
          <p:nvPr/>
        </p:nvSpPr>
        <p:spPr>
          <a:xfrm>
            <a:off x="304080" y="529413"/>
            <a:ext cx="11583840" cy="1692771"/>
          </a:xfrm>
          <a:prstGeom prst="rect">
            <a:avLst/>
          </a:prstGeom>
        </p:spPr>
        <p:txBody>
          <a:bodyPr wrap="square">
            <a:spAutoFit/>
          </a:bodyPr>
          <a:lstStyle/>
          <a:p>
            <a:pPr algn="just"/>
            <a:r>
              <a:rPr lang="en-US" sz="1600" dirty="0"/>
              <a:t>• </a:t>
            </a:r>
            <a:r>
              <a:rPr lang="en-US" sz="2400" b="1" dirty="0"/>
              <a:t>LBM Scheme 1</a:t>
            </a:r>
            <a:r>
              <a:rPr lang="en-US" sz="1600" dirty="0"/>
              <a:t>: When a node receives a </a:t>
            </a:r>
            <a:r>
              <a:rPr lang="en-US" sz="1600" dirty="0" err="1"/>
              <a:t>geocast</a:t>
            </a:r>
            <a:r>
              <a:rPr lang="en-US" sz="1600" dirty="0"/>
              <a:t> packet, it forwards the packet to its neighbors if it is within &amp; forwarding zone; otherwise, it discards the packet. Thus, how to define the forwarding zone becomes the key point of this scheme. Figure 3.11 shows one example of a forwarding zone [Boleng2001]. In Figure 3.11, the size of the forwarding zone is dependent on (</a:t>
            </a:r>
            <a:r>
              <a:rPr lang="en-US" sz="1600" dirty="0" err="1"/>
              <a:t>i</a:t>
            </a:r>
            <a:r>
              <a:rPr lang="en-US" sz="1600" dirty="0"/>
              <a:t>) the size of the </a:t>
            </a:r>
            <a:r>
              <a:rPr lang="en-US" sz="1600" dirty="0" err="1"/>
              <a:t>geocast</a:t>
            </a:r>
            <a:r>
              <a:rPr lang="en-US" sz="1600" dirty="0"/>
              <a:t> region and (ii) the location of the sender. In a BOX Forwarding Zone, the smallest rectangle that covers both the source node and the </a:t>
            </a:r>
            <a:r>
              <a:rPr lang="en-US" sz="1600" dirty="0" err="1"/>
              <a:t>geocast</a:t>
            </a:r>
            <a:r>
              <a:rPr lang="en-US" sz="1600" dirty="0"/>
              <a:t> region defines the forwarding zone. All the nodes in the forwarding zone forward data packets to their neighbors. Other kinds of forwarding zones are possible, such as the CONE Forwarding Zone [Boleng2001]. A parameter </a:t>
            </a:r>
            <a:endParaRPr lang="en-IN" sz="1600" dirty="0"/>
          </a:p>
        </p:txBody>
      </p:sp>
      <p:pic>
        <p:nvPicPr>
          <p:cNvPr id="3" name="Picture 2">
            <a:extLst>
              <a:ext uri="{FF2B5EF4-FFF2-40B4-BE49-F238E27FC236}">
                <a16:creationId xmlns:a16="http://schemas.microsoft.com/office/drawing/2014/main" id="{862DB009-0CEB-45F6-855D-92DB8F0D20A7}"/>
              </a:ext>
            </a:extLst>
          </p:cNvPr>
          <p:cNvPicPr>
            <a:picLocks noChangeAspect="1"/>
          </p:cNvPicPr>
          <p:nvPr/>
        </p:nvPicPr>
        <p:blipFill>
          <a:blip r:embed="rId2"/>
          <a:stretch>
            <a:fillRect/>
          </a:stretch>
        </p:blipFill>
        <p:spPr>
          <a:xfrm>
            <a:off x="1866508" y="2281288"/>
            <a:ext cx="7673418" cy="4355182"/>
          </a:xfrm>
          <a:prstGeom prst="rect">
            <a:avLst/>
          </a:prstGeom>
        </p:spPr>
      </p:pic>
    </p:spTree>
    <p:extLst>
      <p:ext uri="{BB962C8B-B14F-4D97-AF65-F5344CB8AC3E}">
        <p14:creationId xmlns:p14="http://schemas.microsoft.com/office/powerpoint/2010/main" val="6948392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8BF267-5CC2-4ECA-BFC4-EBBA016AF3D4}"/>
              </a:ext>
            </a:extLst>
          </p:cNvPr>
          <p:cNvSpPr/>
          <p:nvPr/>
        </p:nvSpPr>
        <p:spPr>
          <a:xfrm>
            <a:off x="579748" y="1259175"/>
            <a:ext cx="11032503" cy="4339650"/>
          </a:xfrm>
          <a:prstGeom prst="rect">
            <a:avLst/>
          </a:prstGeom>
        </p:spPr>
        <p:txBody>
          <a:bodyPr wrap="square">
            <a:spAutoFit/>
          </a:bodyPr>
          <a:lstStyle/>
          <a:p>
            <a:pPr algn="just"/>
            <a:r>
              <a:rPr lang="en-US" dirty="0"/>
              <a:t>• </a:t>
            </a:r>
            <a:r>
              <a:rPr lang="en-US" sz="2400" b="1" dirty="0"/>
              <a:t>LBM Scheme 2: </a:t>
            </a:r>
            <a:r>
              <a:rPr lang="en-US" dirty="0"/>
              <a:t>Unlike scheme 1, in which a </a:t>
            </a:r>
            <a:r>
              <a:rPr lang="en-US" dirty="0" err="1"/>
              <a:t>geocast</a:t>
            </a:r>
            <a:r>
              <a:rPr lang="en-US" dirty="0"/>
              <a:t> packet is forwarded based on the forwarding zone, scheme 2 does not have a forwarding zone explicitly. Instead, whether a </a:t>
            </a:r>
            <a:r>
              <a:rPr lang="en-US" dirty="0" err="1"/>
              <a:t>geocast</a:t>
            </a:r>
            <a:r>
              <a:rPr lang="en-US" dirty="0"/>
              <a:t> packet should be forwarded is based on the position of the sender node at the transmission of the packet and the position of the </a:t>
            </a:r>
            <a:r>
              <a:rPr lang="en-US" dirty="0" err="1"/>
              <a:t>geocast</a:t>
            </a:r>
            <a:r>
              <a:rPr lang="en-US" dirty="0"/>
              <a:t> region. </a:t>
            </a:r>
          </a:p>
          <a:p>
            <a:pPr marL="285750" indent="-285750" algn="just">
              <a:buFont typeface="Arial" panose="020B0604020202020204" pitchFamily="34" charset="0"/>
              <a:buChar char="•"/>
            </a:pPr>
            <a:r>
              <a:rPr lang="en-US" dirty="0"/>
              <a:t>That is, for some parameter 8, node B forwards a </a:t>
            </a:r>
            <a:r>
              <a:rPr lang="en-US" dirty="0" err="1"/>
              <a:t>geocast</a:t>
            </a:r>
            <a:r>
              <a:rPr lang="en-US" dirty="0"/>
              <a:t> packet from node A (originated at node S), if node B is "at least. S closer" to the center of the </a:t>
            </a:r>
            <a:r>
              <a:rPr lang="en-US" dirty="0" err="1"/>
              <a:t>geocast</a:t>
            </a:r>
            <a:r>
              <a:rPr lang="en-US" dirty="0"/>
              <a:t> region (</a:t>
            </a:r>
            <a:r>
              <a:rPr lang="en-US" dirty="0" err="1"/>
              <a:t>Xc</a:t>
            </a:r>
            <a:r>
              <a:rPr lang="en-US" dirty="0"/>
              <a:t>, </a:t>
            </a:r>
            <a:r>
              <a:rPr lang="en-US" dirty="0" err="1"/>
              <a:t>Yc</a:t>
            </a:r>
            <a:r>
              <a:rPr lang="en-US" dirty="0"/>
              <a:t>) than node A. </a:t>
            </a:r>
          </a:p>
          <a:p>
            <a:pPr marL="285750" indent="-285750" algn="just">
              <a:buFont typeface="Arial" panose="020B0604020202020204" pitchFamily="34" charset="0"/>
              <a:buChar char="•"/>
            </a:pPr>
            <a:r>
              <a:rPr lang="en-US" dirty="0"/>
              <a:t>In other words, DISTA &gt; DISTB+ S. We define (</a:t>
            </a:r>
            <a:r>
              <a:rPr lang="en-US" dirty="0" err="1"/>
              <a:t>Xc</a:t>
            </a:r>
            <a:r>
              <a:rPr lang="en-US" dirty="0"/>
              <a:t>, </a:t>
            </a:r>
            <a:r>
              <a:rPr lang="en-US" dirty="0" err="1"/>
              <a:t>Yc</a:t>
            </a:r>
            <a:r>
              <a:rPr lang="en-US" dirty="0"/>
              <a:t>) as the location of the geometrical center of the </a:t>
            </a:r>
            <a:r>
              <a:rPr lang="en-US" dirty="0" err="1"/>
              <a:t>geocast</a:t>
            </a:r>
            <a:r>
              <a:rPr lang="en-US" dirty="0"/>
              <a:t> region, and for any node Z, </a:t>
            </a:r>
            <a:r>
              <a:rPr lang="en-US" dirty="0" err="1"/>
              <a:t>DISTz</a:t>
            </a:r>
            <a:r>
              <a:rPr lang="en-US" dirty="0"/>
              <a:t> denotes the distance of node Z from (</a:t>
            </a:r>
            <a:r>
              <a:rPr lang="en-US" dirty="0" err="1"/>
              <a:t>Xc</a:t>
            </a:r>
            <a:r>
              <a:rPr lang="en-US" dirty="0"/>
              <a:t>, </a:t>
            </a:r>
            <a:r>
              <a:rPr lang="en-US" dirty="0" err="1"/>
              <a:t>Yc</a:t>
            </a:r>
            <a:r>
              <a:rPr lang="en-US" dirty="0"/>
              <a:t>). In Figure 3.12 [Kol999], node B will forward a </a:t>
            </a:r>
            <a:r>
              <a:rPr lang="en-US" dirty="0" err="1"/>
              <a:t>geocast</a:t>
            </a:r>
            <a:r>
              <a:rPr lang="en-US" dirty="0"/>
              <a:t> packet transmitted by node A since DISTA &gt; DISTB and. d= 0. Node K will, however, discard a </a:t>
            </a:r>
            <a:r>
              <a:rPr lang="en-US" dirty="0" err="1"/>
              <a:t>geocast</a:t>
            </a:r>
            <a:r>
              <a:rPr lang="en-US" dirty="0"/>
              <a:t> packet transmitted by node B, since node K is not closer to (</a:t>
            </a:r>
            <a:r>
              <a:rPr lang="en-US" dirty="0" err="1"/>
              <a:t>Xc</a:t>
            </a:r>
            <a:r>
              <a:rPr lang="en-US" dirty="0"/>
              <a:t>, </a:t>
            </a:r>
            <a:r>
              <a:rPr lang="en-US" dirty="0" err="1"/>
              <a:t>Yc</a:t>
            </a:r>
            <a:r>
              <a:rPr lang="en-US" dirty="0"/>
              <a:t>) than node B. </a:t>
            </a:r>
          </a:p>
          <a:p>
            <a:pPr marL="285750" indent="-285750" algn="just">
              <a:buFont typeface="Arial" panose="020B0604020202020204" pitchFamily="34" charset="0"/>
              <a:buChar char="•"/>
            </a:pPr>
            <a:r>
              <a:rPr lang="en-US" dirty="0"/>
              <a:t>In brief, this protocol ensures that every packet transmission sends the packet closer to the destination. As for the performance, the accuracy (i.e., ratio of the number of </a:t>
            </a:r>
            <a:r>
              <a:rPr lang="en-US" dirty="0" err="1"/>
              <a:t>geocast</a:t>
            </a:r>
            <a:r>
              <a:rPr lang="en-US" dirty="0"/>
              <a:t> group members that actually receive the </a:t>
            </a:r>
            <a:r>
              <a:rPr lang="en-US" dirty="0" err="1"/>
              <a:t>geocast</a:t>
            </a:r>
            <a:r>
              <a:rPr lang="en-US" dirty="0"/>
              <a:t> packets to the number of group members that were supposed to receive the packets) of both LBM schemes is comparable with that of flooding </a:t>
            </a:r>
            <a:r>
              <a:rPr lang="en-US" dirty="0" err="1"/>
              <a:t>geocast</a:t>
            </a:r>
            <a:r>
              <a:rPr lang="en-US" dirty="0"/>
              <a:t> packets throughout the network. </a:t>
            </a:r>
          </a:p>
          <a:p>
            <a:pPr marL="285750" indent="-285750" algn="just">
              <a:buFont typeface="Arial" panose="020B0604020202020204" pitchFamily="34" charset="0"/>
              <a:buChar char="•"/>
            </a:pPr>
            <a:r>
              <a:rPr lang="en-US" dirty="0"/>
              <a:t>However, the number of </a:t>
            </a:r>
            <a:r>
              <a:rPr lang="en-US" dirty="0" err="1"/>
              <a:t>geocast</a:t>
            </a:r>
            <a:r>
              <a:rPr lang="en-US" dirty="0"/>
              <a:t> packets transmitted (a measure of the overhead) is consistently lower for LBM than simple flooding. </a:t>
            </a:r>
            <a:endParaRPr lang="en-IN" dirty="0"/>
          </a:p>
        </p:txBody>
      </p:sp>
    </p:spTree>
    <p:extLst>
      <p:ext uri="{BB962C8B-B14F-4D97-AF65-F5344CB8AC3E}">
        <p14:creationId xmlns:p14="http://schemas.microsoft.com/office/powerpoint/2010/main" val="25858207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A99ACA-5613-488C-95E5-75ADFBC0F37C}"/>
              </a:ext>
            </a:extLst>
          </p:cNvPr>
          <p:cNvPicPr>
            <a:picLocks noChangeAspect="1"/>
          </p:cNvPicPr>
          <p:nvPr/>
        </p:nvPicPr>
        <p:blipFill>
          <a:blip r:embed="rId2"/>
          <a:stretch>
            <a:fillRect/>
          </a:stretch>
        </p:blipFill>
        <p:spPr>
          <a:xfrm>
            <a:off x="1291472" y="1018096"/>
            <a:ext cx="8276734" cy="5250730"/>
          </a:xfrm>
          <a:prstGeom prst="rect">
            <a:avLst/>
          </a:prstGeom>
        </p:spPr>
      </p:pic>
    </p:spTree>
    <p:extLst>
      <p:ext uri="{BB962C8B-B14F-4D97-AF65-F5344CB8AC3E}">
        <p14:creationId xmlns:p14="http://schemas.microsoft.com/office/powerpoint/2010/main" val="23995721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7CEB75-07D6-4A9C-8A64-952BAD0CB4BF}"/>
              </a:ext>
            </a:extLst>
          </p:cNvPr>
          <p:cNvSpPr/>
          <p:nvPr/>
        </p:nvSpPr>
        <p:spPr>
          <a:xfrm>
            <a:off x="1741637" y="114635"/>
            <a:ext cx="7466468" cy="707886"/>
          </a:xfrm>
          <a:prstGeom prst="rect">
            <a:avLst/>
          </a:prstGeom>
        </p:spPr>
        <p:txBody>
          <a:bodyPr wrap="none">
            <a:spAutoFit/>
          </a:bodyPr>
          <a:lstStyle/>
          <a:p>
            <a:r>
              <a:rPr lang="en-IN" sz="4000" dirty="0"/>
              <a:t>Voronoi Diagram Based </a:t>
            </a:r>
            <a:r>
              <a:rPr lang="en-IN" sz="4000" dirty="0" err="1"/>
              <a:t>Geocasting</a:t>
            </a:r>
            <a:endParaRPr lang="en-IN" sz="4000" dirty="0"/>
          </a:p>
        </p:txBody>
      </p:sp>
      <p:sp>
        <p:nvSpPr>
          <p:cNvPr id="3" name="Rectangle 2">
            <a:extLst>
              <a:ext uri="{FF2B5EF4-FFF2-40B4-BE49-F238E27FC236}">
                <a16:creationId xmlns:a16="http://schemas.microsoft.com/office/drawing/2014/main" id="{97B0AE06-8688-4FE8-9B44-19691352AFF2}"/>
              </a:ext>
            </a:extLst>
          </p:cNvPr>
          <p:cNvSpPr/>
          <p:nvPr/>
        </p:nvSpPr>
        <p:spPr>
          <a:xfrm>
            <a:off x="227814" y="822521"/>
            <a:ext cx="11736371" cy="1477328"/>
          </a:xfrm>
          <a:prstGeom prst="rect">
            <a:avLst/>
          </a:prstGeom>
        </p:spPr>
        <p:txBody>
          <a:bodyPr wrap="square">
            <a:spAutoFit/>
          </a:bodyPr>
          <a:lstStyle/>
          <a:p>
            <a:pPr marL="285750" indent="-285750" algn="just">
              <a:buFont typeface="Arial" panose="020B0604020202020204" pitchFamily="34" charset="0"/>
              <a:buChar char="•"/>
            </a:pPr>
            <a:r>
              <a:rPr lang="en-US" dirty="0"/>
              <a:t>The goal of the Voronoi Diagram based </a:t>
            </a:r>
            <a:r>
              <a:rPr lang="en-US" dirty="0" err="1"/>
              <a:t>Geocasting</a:t>
            </a:r>
            <a:r>
              <a:rPr lang="en-US" dirty="0"/>
              <a:t> (VDG) protocol [Stojmenovicl999] is to enhance the success rate and decrease the hop count and flooding rate of LBM. </a:t>
            </a:r>
          </a:p>
          <a:p>
            <a:pPr marL="285750" indent="-285750" algn="just">
              <a:buFont typeface="Arial" panose="020B0604020202020204" pitchFamily="34" charset="0"/>
              <a:buChar char="•"/>
            </a:pPr>
            <a:r>
              <a:rPr lang="en-US" dirty="0"/>
              <a:t>It is observed that the forwarding zone defined in LMB may be a partitioned network between the source node and the </a:t>
            </a:r>
            <a:r>
              <a:rPr lang="en-US" dirty="0" err="1"/>
              <a:t>geocast</a:t>
            </a:r>
            <a:r>
              <a:rPr lang="en-US" dirty="0"/>
              <a:t> region, although there exists a path between the source and the destination. </a:t>
            </a:r>
          </a:p>
          <a:p>
            <a:pPr marL="285750" indent="-285750" algn="just">
              <a:buFont typeface="Arial" panose="020B0604020202020204" pitchFamily="34" charset="0"/>
              <a:buChar char="•"/>
            </a:pPr>
            <a:r>
              <a:rPr lang="en-US" dirty="0"/>
              <a:t>An example of this problem is illustrated in Figure 3.13.</a:t>
            </a:r>
            <a:endParaRPr lang="en-IN" dirty="0"/>
          </a:p>
        </p:txBody>
      </p:sp>
      <p:pic>
        <p:nvPicPr>
          <p:cNvPr id="4" name="Picture 3">
            <a:extLst>
              <a:ext uri="{FF2B5EF4-FFF2-40B4-BE49-F238E27FC236}">
                <a16:creationId xmlns:a16="http://schemas.microsoft.com/office/drawing/2014/main" id="{9F5CB00B-7F15-4572-AFAE-F4C618EC02A6}"/>
              </a:ext>
            </a:extLst>
          </p:cNvPr>
          <p:cNvPicPr>
            <a:picLocks noChangeAspect="1"/>
          </p:cNvPicPr>
          <p:nvPr/>
        </p:nvPicPr>
        <p:blipFill>
          <a:blip r:embed="rId2"/>
          <a:stretch>
            <a:fillRect/>
          </a:stretch>
        </p:blipFill>
        <p:spPr>
          <a:xfrm>
            <a:off x="1625600" y="2509520"/>
            <a:ext cx="7233920" cy="3901440"/>
          </a:xfrm>
          <a:prstGeom prst="rect">
            <a:avLst/>
          </a:prstGeom>
        </p:spPr>
      </p:pic>
    </p:spTree>
    <p:extLst>
      <p:ext uri="{BB962C8B-B14F-4D97-AF65-F5344CB8AC3E}">
        <p14:creationId xmlns:p14="http://schemas.microsoft.com/office/powerpoint/2010/main" val="27425793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E54DA-553D-4349-B23C-95EF78F050A6}"/>
              </a:ext>
            </a:extLst>
          </p:cNvPr>
          <p:cNvSpPr/>
          <p:nvPr/>
        </p:nvSpPr>
        <p:spPr>
          <a:xfrm>
            <a:off x="392784" y="1530867"/>
            <a:ext cx="11406432" cy="3416320"/>
          </a:xfrm>
          <a:prstGeom prst="rect">
            <a:avLst/>
          </a:prstGeom>
        </p:spPr>
        <p:txBody>
          <a:bodyPr wrap="square">
            <a:spAutoFit/>
          </a:bodyPr>
          <a:lstStyle/>
          <a:p>
            <a:pPr marL="285750" indent="-285750" algn="just">
              <a:buFont typeface="Arial" panose="020B0604020202020204" pitchFamily="34" charset="0"/>
              <a:buChar char="•"/>
            </a:pPr>
            <a:r>
              <a:rPr lang="en-US" dirty="0"/>
              <a:t>In VDG, the definition of the forwarding zone of LBM has been modified. The neighbors of node A that are located within the forwarding zone in VDG are exactly those neighbors that are closest in the direction of the destination. </a:t>
            </a:r>
          </a:p>
          <a:p>
            <a:pPr marL="285750" indent="-285750" algn="just">
              <a:buFont typeface="Arial" panose="020B0604020202020204" pitchFamily="34" charset="0"/>
              <a:buChar char="•"/>
            </a:pPr>
            <a:r>
              <a:rPr lang="en-US" dirty="0"/>
              <a:t>This definition of a forwarding zone not only resolves the problem of having no nodes inside the forwarding zone, but also precisely determines the expansion of the forwarding zone. </a:t>
            </a:r>
          </a:p>
          <a:p>
            <a:pPr marL="285750" indent="-285750" algn="just">
              <a:buFont typeface="Arial" panose="020B0604020202020204" pitchFamily="34" charset="0"/>
              <a:buChar char="•"/>
            </a:pPr>
            <a:r>
              <a:rPr lang="en-US" dirty="0"/>
              <a:t>This forwarding zone can be implemented with a Voronoi diagram for a set of nodes in a given node's neighborhood of a MANET. </a:t>
            </a:r>
          </a:p>
          <a:p>
            <a:pPr marL="285750" indent="-285750" algn="just">
              <a:buFont typeface="Arial" panose="020B0604020202020204" pitchFamily="34" charset="0"/>
              <a:buChar char="•"/>
            </a:pPr>
            <a:r>
              <a:rPr lang="en-US" dirty="0"/>
              <a:t>A Voronoi diagram of n distinct points (i.e., n neighbors) in a plane is a partition of the plane into n Voronoi regions, which, when associated with node A, consists of all the points in the plane that are the closest to A. </a:t>
            </a:r>
          </a:p>
          <a:p>
            <a:pPr marL="285750" indent="-285750" algn="just">
              <a:buFont typeface="Arial" panose="020B0604020202020204" pitchFamily="34" charset="0"/>
              <a:buChar char="•"/>
            </a:pPr>
            <a:r>
              <a:rPr lang="en-US" dirty="0"/>
              <a:t>In other words, the Voronoi diagram model is a model where every point is assigned to a Voronoi region. </a:t>
            </a:r>
          </a:p>
          <a:p>
            <a:pPr marL="285750" indent="-285750" algn="just">
              <a:buFont typeface="Arial" panose="020B0604020202020204" pitchFamily="34" charset="0"/>
              <a:buChar char="•"/>
            </a:pPr>
            <a:r>
              <a:rPr lang="en-US" dirty="0"/>
              <a:t>The subdivision induced by this model is called the Voronoi diagram of the set of nodes [Berg]. For example, in Figure 3.14 [Stojmenovicl999] five neighbors of source node S (A, B, C, E and F) In VDG, the definition of the forwarding zone of LBM has been modified. </a:t>
            </a:r>
          </a:p>
        </p:txBody>
      </p:sp>
    </p:spTree>
    <p:extLst>
      <p:ext uri="{BB962C8B-B14F-4D97-AF65-F5344CB8AC3E}">
        <p14:creationId xmlns:p14="http://schemas.microsoft.com/office/powerpoint/2010/main" val="79602156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F0D053-84F1-4786-836C-C1CDA97A3854}"/>
              </a:ext>
            </a:extLst>
          </p:cNvPr>
          <p:cNvSpPr/>
          <p:nvPr/>
        </p:nvSpPr>
        <p:spPr>
          <a:xfrm>
            <a:off x="452486" y="1859339"/>
            <a:ext cx="11114202" cy="3139321"/>
          </a:xfrm>
          <a:prstGeom prst="rect">
            <a:avLst/>
          </a:prstGeom>
        </p:spPr>
        <p:txBody>
          <a:bodyPr wrap="square">
            <a:spAutoFit/>
          </a:bodyPr>
          <a:lstStyle/>
          <a:p>
            <a:pPr marL="285750" indent="-285750" algn="just">
              <a:buFont typeface="Arial" panose="020B0604020202020204" pitchFamily="34" charset="0"/>
              <a:buChar char="•"/>
            </a:pPr>
            <a:r>
              <a:rPr lang="en-US" dirty="0"/>
              <a:t>The neighbors of node A that are located within the forwarding zone in VDG are exactly those neighbors that are closest in the direction of the destination. </a:t>
            </a:r>
          </a:p>
          <a:p>
            <a:pPr marL="285750" indent="-285750" algn="just">
              <a:buFont typeface="Arial" panose="020B0604020202020204" pitchFamily="34" charset="0"/>
              <a:buChar char="•"/>
            </a:pPr>
            <a:r>
              <a:rPr lang="en-US" dirty="0"/>
              <a:t>This definition of a forwarding zone not only resolves the problem of having no nodes inside the forwarding zone, but also precisely determines the expansion of the forwarding zone. </a:t>
            </a:r>
          </a:p>
          <a:p>
            <a:pPr marL="285750" indent="-285750" algn="just">
              <a:buFont typeface="Arial" panose="020B0604020202020204" pitchFamily="34" charset="0"/>
              <a:buChar char="•"/>
            </a:pPr>
            <a:r>
              <a:rPr lang="en-US" dirty="0"/>
              <a:t>This forwarding zone can be implemented with a Voronoi diagram for a set of nodes in a given node's neighborhood of a MANET. A Voronoi diagram of n distinct points (i.e., n neighbors) in a plane is a partition of the plane into n Voronoi regions, which, when associated with node A, consists of all the points in the plane that are the closest to A. </a:t>
            </a:r>
          </a:p>
          <a:p>
            <a:pPr marL="285750" indent="-285750" algn="just">
              <a:buFont typeface="Arial" panose="020B0604020202020204" pitchFamily="34" charset="0"/>
              <a:buChar char="•"/>
            </a:pPr>
            <a:r>
              <a:rPr lang="en-US" dirty="0"/>
              <a:t>In other words, the Voronoi diagram model is a model where every point is assigned to a Voronoi region. The subdivision induced by this model is called the Voronoi diagram of the set of nodes [Berg]. For example, in Figure 3.14 [Stojmenovicl999] five neighbors of source node S (A, B, C, E and F)</a:t>
            </a:r>
            <a:endParaRPr lang="en-IN" dirty="0"/>
          </a:p>
        </p:txBody>
      </p:sp>
    </p:spTree>
    <p:extLst>
      <p:ext uri="{BB962C8B-B14F-4D97-AF65-F5344CB8AC3E}">
        <p14:creationId xmlns:p14="http://schemas.microsoft.com/office/powerpoint/2010/main" val="39176115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C557AE-A9CF-4E34-B84B-6BE54D84D654}"/>
              </a:ext>
            </a:extLst>
          </p:cNvPr>
          <p:cNvPicPr>
            <a:picLocks noChangeAspect="1"/>
          </p:cNvPicPr>
          <p:nvPr/>
        </p:nvPicPr>
        <p:blipFill>
          <a:blip r:embed="rId2"/>
          <a:stretch>
            <a:fillRect/>
          </a:stretch>
        </p:blipFill>
        <p:spPr>
          <a:xfrm>
            <a:off x="1046374" y="490195"/>
            <a:ext cx="8936611" cy="5505252"/>
          </a:xfrm>
          <a:prstGeom prst="rect">
            <a:avLst/>
          </a:prstGeom>
        </p:spPr>
      </p:pic>
    </p:spTree>
    <p:extLst>
      <p:ext uri="{BB962C8B-B14F-4D97-AF65-F5344CB8AC3E}">
        <p14:creationId xmlns:p14="http://schemas.microsoft.com/office/powerpoint/2010/main" val="29675945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F6BFD2-8173-4CD4-A7BD-FC3C987333C2}"/>
              </a:ext>
            </a:extLst>
          </p:cNvPr>
          <p:cNvSpPr/>
          <p:nvPr/>
        </p:nvSpPr>
        <p:spPr>
          <a:xfrm>
            <a:off x="4219006" y="406866"/>
            <a:ext cx="2082621" cy="707886"/>
          </a:xfrm>
          <a:prstGeom prst="rect">
            <a:avLst/>
          </a:prstGeom>
        </p:spPr>
        <p:txBody>
          <a:bodyPr wrap="none">
            <a:spAutoFit/>
          </a:bodyPr>
          <a:lstStyle/>
          <a:p>
            <a:r>
              <a:rPr lang="en-IN" sz="4000" dirty="0" err="1"/>
              <a:t>GeoGRID</a:t>
            </a:r>
            <a:endParaRPr lang="en-IN" sz="4000" dirty="0"/>
          </a:p>
        </p:txBody>
      </p:sp>
      <p:sp>
        <p:nvSpPr>
          <p:cNvPr id="3" name="Rectangle 2">
            <a:extLst>
              <a:ext uri="{FF2B5EF4-FFF2-40B4-BE49-F238E27FC236}">
                <a16:creationId xmlns:a16="http://schemas.microsoft.com/office/drawing/2014/main" id="{E6423150-FF1E-4F15-B6F0-2537F22B025B}"/>
              </a:ext>
            </a:extLst>
          </p:cNvPr>
          <p:cNvSpPr/>
          <p:nvPr/>
        </p:nvSpPr>
        <p:spPr>
          <a:xfrm>
            <a:off x="461913" y="1730987"/>
            <a:ext cx="11268174" cy="3139321"/>
          </a:xfrm>
          <a:prstGeom prst="rect">
            <a:avLst/>
          </a:prstGeom>
        </p:spPr>
        <p:txBody>
          <a:bodyPr wrap="square">
            <a:spAutoFit/>
          </a:bodyPr>
          <a:lstStyle/>
          <a:p>
            <a:pPr marL="285750" indent="-285750" algn="just">
              <a:buFont typeface="Arial" panose="020B0604020202020204" pitchFamily="34" charset="0"/>
              <a:buChar char="•"/>
            </a:pPr>
            <a:r>
              <a:rPr lang="en-US" dirty="0"/>
              <a:t>Based on the unicast protocol GRID [Liao2001], the </a:t>
            </a:r>
            <a:r>
              <a:rPr lang="en-US" dirty="0" err="1"/>
              <a:t>GeoGRID</a:t>
            </a:r>
            <a:r>
              <a:rPr lang="en-US" dirty="0"/>
              <a:t> protocol [Liao2000] uses location information, which defines the forwarding zone and elects a special host (</a:t>
            </a:r>
            <a:r>
              <a:rPr lang="en-US" dirty="0" err="1"/>
              <a:t>i.e</a:t>
            </a:r>
            <a:r>
              <a:rPr lang="en-US" dirty="0"/>
              <a:t>, gateway) in each grid area responsible for forwarding the </a:t>
            </a:r>
            <a:r>
              <a:rPr lang="en-US" dirty="0" err="1"/>
              <a:t>geocast</a:t>
            </a:r>
            <a:r>
              <a:rPr lang="en-US" dirty="0"/>
              <a:t> packets. </a:t>
            </a:r>
          </a:p>
          <a:p>
            <a:pPr marL="285750" indent="-285750" algn="just">
              <a:buFont typeface="Arial" panose="020B0604020202020204" pitchFamily="34" charset="0"/>
              <a:buChar char="•"/>
            </a:pPr>
            <a:r>
              <a:rPr lang="en-US" dirty="0"/>
              <a:t>It is argued in [Liao2000] that the forwarding zone in LBM incurs unnecessary packet transmissions, and a tree-based solution is prohibitive in terms of control overhead. </a:t>
            </a:r>
          </a:p>
          <a:p>
            <a:pPr marL="285750" indent="-285750" algn="just">
              <a:buFont typeface="Arial" panose="020B0604020202020204" pitchFamily="34" charset="0"/>
              <a:buChar char="•"/>
            </a:pPr>
            <a:r>
              <a:rPr lang="en-US" dirty="0" err="1"/>
              <a:t>GeoGRID</a:t>
            </a:r>
            <a:r>
              <a:rPr lang="en-US" dirty="0"/>
              <a:t> partitions the geographic area of the MANET into two-dimensional (2D) logical grids. Each grid is a square of size d X d (there are trade-offs in choosing a good value of d, as discussed in [Liao2000].) In </a:t>
            </a:r>
            <a:r>
              <a:rPr lang="en-US" dirty="0" err="1"/>
              <a:t>GeoGRID</a:t>
            </a:r>
            <a:r>
              <a:rPr lang="en-US" dirty="0"/>
              <a:t>, a gateway node is elected within each grid. </a:t>
            </a:r>
          </a:p>
          <a:p>
            <a:pPr marL="285750" indent="-285750" algn="just">
              <a:buFont typeface="Arial" panose="020B0604020202020204" pitchFamily="34" charset="0"/>
              <a:buChar char="•"/>
            </a:pPr>
            <a:r>
              <a:rPr lang="en-US" dirty="0"/>
              <a:t>The forwarding zone is defined by the location of the source and the </a:t>
            </a:r>
            <a:r>
              <a:rPr lang="en-US" dirty="0" err="1"/>
              <a:t>geocast</a:t>
            </a:r>
            <a:r>
              <a:rPr lang="en-US" dirty="0"/>
              <a:t> region. The main difference between </a:t>
            </a:r>
            <a:r>
              <a:rPr lang="en-US" dirty="0" err="1"/>
              <a:t>GeoGRID</a:t>
            </a:r>
            <a:r>
              <a:rPr lang="en-US" dirty="0"/>
              <a:t>, LBM and VDG is the following: in </a:t>
            </a:r>
            <a:r>
              <a:rPr lang="en-US" dirty="0" err="1"/>
              <a:t>GeoGRID</a:t>
            </a:r>
            <a:r>
              <a:rPr lang="en-US" dirty="0"/>
              <a:t>, instead of every node in a forwarding zone transmitting data, only gateway nodes take this responsibility. </a:t>
            </a:r>
          </a:p>
        </p:txBody>
      </p:sp>
    </p:spTree>
    <p:extLst>
      <p:ext uri="{BB962C8B-B14F-4D97-AF65-F5344CB8AC3E}">
        <p14:creationId xmlns:p14="http://schemas.microsoft.com/office/powerpoint/2010/main" val="10927510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BADD0D-6FE1-4704-B7B4-0EA887167017}"/>
              </a:ext>
            </a:extLst>
          </p:cNvPr>
          <p:cNvSpPr/>
          <p:nvPr/>
        </p:nvSpPr>
        <p:spPr>
          <a:xfrm>
            <a:off x="395925" y="1791196"/>
            <a:ext cx="10935093" cy="3139321"/>
          </a:xfrm>
          <a:prstGeom prst="rect">
            <a:avLst/>
          </a:prstGeom>
        </p:spPr>
        <p:txBody>
          <a:bodyPr wrap="square">
            <a:spAutoFit/>
          </a:bodyPr>
          <a:lstStyle/>
          <a:p>
            <a:pPr marL="285750" indent="-285750" algn="just">
              <a:buFont typeface="Arial" panose="020B0604020202020204" pitchFamily="34" charset="0"/>
              <a:buChar char="•"/>
            </a:pPr>
            <a:r>
              <a:rPr lang="en-US" dirty="0"/>
              <a:t>There are two schemes on how to send </a:t>
            </a:r>
            <a:r>
              <a:rPr lang="en-US" dirty="0" err="1"/>
              <a:t>geocast</a:t>
            </a:r>
            <a:r>
              <a:rPr lang="en-US" dirty="0"/>
              <a:t> packets in </a:t>
            </a:r>
            <a:r>
              <a:rPr lang="en-US" dirty="0" err="1"/>
              <a:t>GeoGRID</a:t>
            </a:r>
            <a:r>
              <a:rPr lang="en-US" dirty="0"/>
              <a:t>: Flooding-Based </a:t>
            </a:r>
            <a:r>
              <a:rPr lang="en-US" dirty="0" err="1"/>
              <a:t>GeoGRID</a:t>
            </a:r>
            <a:r>
              <a:rPr lang="en-US" dirty="0"/>
              <a:t> and Ticket-Based </a:t>
            </a:r>
            <a:r>
              <a:rPr lang="en-US" dirty="0" err="1"/>
              <a:t>GeoGRID</a:t>
            </a:r>
            <a:r>
              <a:rPr lang="en-US" dirty="0"/>
              <a:t>. In Flooding-Based </a:t>
            </a:r>
            <a:r>
              <a:rPr lang="en-US" dirty="0" err="1"/>
              <a:t>GeoGRID</a:t>
            </a:r>
            <a:r>
              <a:rPr lang="en-US" dirty="0"/>
              <a:t>, only gateways in every grid within the forwarding zone rebroadcast the received </a:t>
            </a:r>
            <a:r>
              <a:rPr lang="en-US" dirty="0" err="1"/>
              <a:t>geocast</a:t>
            </a:r>
            <a:r>
              <a:rPr lang="en-US" dirty="0"/>
              <a:t> packets. Thus, gateway election becomes the key point of this protocol. </a:t>
            </a:r>
          </a:p>
          <a:p>
            <a:pPr marL="285750" indent="-285750" algn="just">
              <a:buFont typeface="Arial" panose="020B0604020202020204" pitchFamily="34" charset="0"/>
              <a:buChar char="•"/>
            </a:pPr>
            <a:r>
              <a:rPr lang="en-US" dirty="0"/>
              <a:t>In Ticket-Based </a:t>
            </a:r>
            <a:r>
              <a:rPr lang="en-US" dirty="0" err="1"/>
              <a:t>GeoGRID</a:t>
            </a:r>
            <a:r>
              <a:rPr lang="en-US" dirty="0"/>
              <a:t>, the </a:t>
            </a:r>
            <a:r>
              <a:rPr lang="en-US" dirty="0" err="1"/>
              <a:t>geocast</a:t>
            </a:r>
            <a:r>
              <a:rPr lang="en-US" dirty="0"/>
              <a:t> packets are still forwarded by gateway nodes, but not all the gateways in the forwarding zone forward every </a:t>
            </a:r>
            <a:r>
              <a:rPr lang="en-US" dirty="0" err="1"/>
              <a:t>geocast</a:t>
            </a:r>
            <a:r>
              <a:rPr lang="en-US" dirty="0"/>
              <a:t> packet. A total of m + n tickets are created by the source if the </a:t>
            </a:r>
            <a:r>
              <a:rPr lang="en-US" dirty="0" err="1"/>
              <a:t>geocast</a:t>
            </a:r>
            <a:r>
              <a:rPr lang="en-US" dirty="0"/>
              <a:t> region is a rectangle of m X n grids. The source evenly distributes the m + n tickets to the neighboring gateway nodes in the forwarding zone that are closer to the </a:t>
            </a:r>
            <a:r>
              <a:rPr lang="en-US" dirty="0" err="1"/>
              <a:t>geocast</a:t>
            </a:r>
            <a:r>
              <a:rPr lang="en-US" dirty="0"/>
              <a:t> region than the source. </a:t>
            </a:r>
          </a:p>
          <a:p>
            <a:pPr marL="285750" indent="-285750" algn="just">
              <a:buFont typeface="Arial" panose="020B0604020202020204" pitchFamily="34" charset="0"/>
              <a:buChar char="•"/>
            </a:pPr>
            <a:r>
              <a:rPr lang="en-US" dirty="0"/>
              <a:t>A gateway node that receives X tickets follows the same procedure as the one defined for the source. Consider the example in Figure 3.15 where node S begins with five (2+3) tickets. Node S may distribute two tickets to its neighboring nodes A and B, and one ticket to its neighbor node C, which are closer to the </a:t>
            </a:r>
            <a:r>
              <a:rPr lang="en-US" dirty="0" err="1"/>
              <a:t>geocast</a:t>
            </a:r>
            <a:r>
              <a:rPr lang="en-US" dirty="0"/>
              <a:t> region than node S</a:t>
            </a:r>
            <a:endParaRPr lang="en-IN" dirty="0"/>
          </a:p>
        </p:txBody>
      </p:sp>
    </p:spTree>
    <p:extLst>
      <p:ext uri="{BB962C8B-B14F-4D97-AF65-F5344CB8AC3E}">
        <p14:creationId xmlns:p14="http://schemas.microsoft.com/office/powerpoint/2010/main" val="23107055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9C25A7-3ED7-4A99-806E-D27B5728A9B0}"/>
              </a:ext>
            </a:extLst>
          </p:cNvPr>
          <p:cNvPicPr>
            <a:picLocks noChangeAspect="1"/>
          </p:cNvPicPr>
          <p:nvPr/>
        </p:nvPicPr>
        <p:blipFill>
          <a:blip r:embed="rId2"/>
          <a:stretch>
            <a:fillRect/>
          </a:stretch>
        </p:blipFill>
        <p:spPr>
          <a:xfrm>
            <a:off x="650449" y="565608"/>
            <a:ext cx="9087440" cy="5363852"/>
          </a:xfrm>
          <a:prstGeom prst="rect">
            <a:avLst/>
          </a:prstGeom>
        </p:spPr>
      </p:pic>
    </p:spTree>
    <p:extLst>
      <p:ext uri="{BB962C8B-B14F-4D97-AF65-F5344CB8AC3E}">
        <p14:creationId xmlns:p14="http://schemas.microsoft.com/office/powerpoint/2010/main" val="389043964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FCDA78-C543-4AC1-B376-AD5575DA4F26}"/>
              </a:ext>
            </a:extLst>
          </p:cNvPr>
          <p:cNvSpPr/>
          <p:nvPr/>
        </p:nvSpPr>
        <p:spPr>
          <a:xfrm>
            <a:off x="2766052" y="471340"/>
            <a:ext cx="5262082" cy="707886"/>
          </a:xfrm>
          <a:prstGeom prst="rect">
            <a:avLst/>
          </a:prstGeom>
        </p:spPr>
        <p:txBody>
          <a:bodyPr wrap="none">
            <a:spAutoFit/>
          </a:bodyPr>
          <a:lstStyle/>
          <a:p>
            <a:r>
              <a:rPr lang="en-IN" sz="4000" dirty="0"/>
              <a:t>Route Creation Oriented</a:t>
            </a:r>
          </a:p>
        </p:txBody>
      </p:sp>
      <p:sp>
        <p:nvSpPr>
          <p:cNvPr id="3" name="Rectangle 2">
            <a:extLst>
              <a:ext uri="{FF2B5EF4-FFF2-40B4-BE49-F238E27FC236}">
                <a16:creationId xmlns:a16="http://schemas.microsoft.com/office/drawing/2014/main" id="{6B0712AE-1768-46EB-9EED-ABF77142858D}"/>
              </a:ext>
            </a:extLst>
          </p:cNvPr>
          <p:cNvSpPr/>
          <p:nvPr/>
        </p:nvSpPr>
        <p:spPr>
          <a:xfrm>
            <a:off x="373930" y="2018212"/>
            <a:ext cx="11277600" cy="2031325"/>
          </a:xfrm>
          <a:prstGeom prst="rect">
            <a:avLst/>
          </a:prstGeom>
        </p:spPr>
        <p:txBody>
          <a:bodyPr wrap="square">
            <a:spAutoFit/>
          </a:bodyPr>
          <a:lstStyle/>
          <a:p>
            <a:pPr marL="285750" indent="-285750" algn="just">
              <a:buFont typeface="Arial" panose="020B0604020202020204" pitchFamily="34" charset="0"/>
              <a:buChar char="•"/>
            </a:pPr>
            <a:r>
              <a:rPr lang="en-US" dirty="0"/>
              <a:t>As discussed in the previous chapter, flooding of packets may cause a broadcast storming effect, generating serious redundancy, contention and collision problems. </a:t>
            </a:r>
          </a:p>
          <a:p>
            <a:pPr marL="285750" indent="-285750" algn="just">
              <a:buFont typeface="Arial" panose="020B0604020202020204" pitchFamily="34" charset="0"/>
              <a:buChar char="•"/>
            </a:pPr>
            <a:r>
              <a:rPr lang="en-US" dirty="0"/>
              <a:t>In this section we introduce routing-creation oriented protocols, which create routes to transmit data from the source to the </a:t>
            </a:r>
            <a:r>
              <a:rPr lang="en-US" dirty="0" err="1"/>
              <a:t>geocast</a:t>
            </a:r>
            <a:r>
              <a:rPr lang="en-US" dirty="0"/>
              <a:t> region. </a:t>
            </a:r>
          </a:p>
          <a:p>
            <a:pPr marL="285750" indent="-285750" algn="just">
              <a:buFont typeface="Arial" panose="020B0604020202020204" pitchFamily="34" charset="0"/>
              <a:buChar char="•"/>
            </a:pPr>
            <a:r>
              <a:rPr lang="en-US" dirty="0"/>
              <a:t>One advantage of this kind of protocol is the reduced overhead in the transmission of data packets, as compared to data-transmission oriented protocols. </a:t>
            </a:r>
          </a:p>
          <a:p>
            <a:pPr marL="285750" indent="-285750" algn="just">
              <a:buFont typeface="Arial" panose="020B0604020202020204" pitchFamily="34" charset="0"/>
              <a:buChar char="•"/>
            </a:pPr>
            <a:r>
              <a:rPr lang="en-US" dirty="0"/>
              <a:t>One disadvantage is that it requires higher latency and control overhead to establish the routes. </a:t>
            </a:r>
            <a:endParaRPr lang="en-IN" dirty="0"/>
          </a:p>
        </p:txBody>
      </p:sp>
    </p:spTree>
    <p:extLst>
      <p:ext uri="{BB962C8B-B14F-4D97-AF65-F5344CB8AC3E}">
        <p14:creationId xmlns:p14="http://schemas.microsoft.com/office/powerpoint/2010/main" val="20245677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9A4A00-091E-4FA2-8AE6-FB7B63951E7D}"/>
              </a:ext>
            </a:extLst>
          </p:cNvPr>
          <p:cNvSpPr/>
          <p:nvPr/>
        </p:nvSpPr>
        <p:spPr>
          <a:xfrm>
            <a:off x="4375737" y="461914"/>
            <a:ext cx="2185085" cy="707886"/>
          </a:xfrm>
          <a:prstGeom prst="rect">
            <a:avLst/>
          </a:prstGeom>
        </p:spPr>
        <p:txBody>
          <a:bodyPr wrap="none">
            <a:spAutoFit/>
          </a:bodyPr>
          <a:lstStyle/>
          <a:p>
            <a:r>
              <a:rPr lang="en-IN" sz="4000" dirty="0" err="1"/>
              <a:t>GeoTORA</a:t>
            </a:r>
            <a:endParaRPr lang="en-IN" sz="4000" dirty="0"/>
          </a:p>
        </p:txBody>
      </p:sp>
      <p:sp>
        <p:nvSpPr>
          <p:cNvPr id="3" name="Rectangle 2">
            <a:extLst>
              <a:ext uri="{FF2B5EF4-FFF2-40B4-BE49-F238E27FC236}">
                <a16:creationId xmlns:a16="http://schemas.microsoft.com/office/drawing/2014/main" id="{8D216803-66C3-47EB-976D-930E645B3366}"/>
              </a:ext>
            </a:extLst>
          </p:cNvPr>
          <p:cNvSpPr/>
          <p:nvPr/>
        </p:nvSpPr>
        <p:spPr>
          <a:xfrm>
            <a:off x="411637" y="1914517"/>
            <a:ext cx="11183333" cy="3693319"/>
          </a:xfrm>
          <a:prstGeom prst="rect">
            <a:avLst/>
          </a:prstGeom>
        </p:spPr>
        <p:txBody>
          <a:bodyPr wrap="square">
            <a:spAutoFit/>
          </a:bodyPr>
          <a:lstStyle/>
          <a:p>
            <a:pPr marL="285750" indent="-285750" algn="just">
              <a:buFont typeface="Arial" panose="020B0604020202020204" pitchFamily="34" charset="0"/>
              <a:buChar char="•"/>
            </a:pPr>
            <a:r>
              <a:rPr lang="en-US" dirty="0"/>
              <a:t>The goal of the </a:t>
            </a:r>
            <a:r>
              <a:rPr lang="en-US" dirty="0" err="1"/>
              <a:t>GeoTORA</a:t>
            </a:r>
            <a:r>
              <a:rPr lang="en-US" dirty="0"/>
              <a:t> protocol [Ko2000] is to reduce the overhead of transmitting </a:t>
            </a:r>
            <a:r>
              <a:rPr lang="en-US" dirty="0" err="1"/>
              <a:t>geocast</a:t>
            </a:r>
            <a:r>
              <a:rPr lang="en-US" dirty="0"/>
              <a:t> packets via flooding techniques, while maintaining high accuracy. .</a:t>
            </a:r>
          </a:p>
          <a:p>
            <a:pPr marL="285750" indent="-285750" algn="just">
              <a:buFont typeface="Arial" panose="020B0604020202020204" pitchFamily="34" charset="0"/>
              <a:buChar char="•"/>
            </a:pPr>
            <a:r>
              <a:rPr lang="en-US" dirty="0"/>
              <a:t>The unicast routing protocol TORA is used by </a:t>
            </a:r>
            <a:r>
              <a:rPr lang="en-US" dirty="0" err="1"/>
              <a:t>GeoTORA</a:t>
            </a:r>
            <a:r>
              <a:rPr lang="en-US" dirty="0"/>
              <a:t> to transmit </a:t>
            </a:r>
            <a:r>
              <a:rPr lang="en-US" dirty="0" err="1"/>
              <a:t>geocast</a:t>
            </a:r>
            <a:r>
              <a:rPr lang="en-US" dirty="0"/>
              <a:t> packets to a </a:t>
            </a:r>
            <a:r>
              <a:rPr lang="en-US" dirty="0" err="1"/>
              <a:t>geocast</a:t>
            </a:r>
            <a:r>
              <a:rPr lang="en-US" dirty="0"/>
              <a:t> region. As TORA is a distributed routing protocol based on a "link reversal" algorithm, it provides multiple routes to a destination. </a:t>
            </a:r>
          </a:p>
          <a:p>
            <a:pPr marL="285750" indent="-285750" algn="just">
              <a:buFont typeface="Arial" panose="020B0604020202020204" pitchFamily="34" charset="0"/>
              <a:buChar char="•"/>
            </a:pPr>
            <a:r>
              <a:rPr lang="en-US" dirty="0"/>
              <a:t>Despite dynamic link failures, TORA attempts to maintain a destination-oriented directed acyclic graph such that each node can reach the destination. </a:t>
            </a:r>
          </a:p>
          <a:p>
            <a:pPr marL="285750" indent="-285750" algn="just">
              <a:buFont typeface="Arial" panose="020B0604020202020204" pitchFamily="34" charset="0"/>
              <a:buChar char="•"/>
            </a:pPr>
            <a:r>
              <a:rPr lang="en-US" dirty="0"/>
              <a:t>In </a:t>
            </a:r>
            <a:r>
              <a:rPr lang="en-US" dirty="0" err="1"/>
              <a:t>GeoTORA</a:t>
            </a:r>
            <a:r>
              <a:rPr lang="en-US" dirty="0"/>
              <a:t>, a source node essentially performs an anycast to any </a:t>
            </a:r>
            <a:r>
              <a:rPr lang="en-US" dirty="0" err="1"/>
              <a:t>geocast</a:t>
            </a:r>
            <a:r>
              <a:rPr lang="en-US" dirty="0"/>
              <a:t> group member (</a:t>
            </a:r>
            <a:r>
              <a:rPr lang="en-US" dirty="0" err="1"/>
              <a:t>i.e</a:t>
            </a:r>
            <a:r>
              <a:rPr lang="en-US" dirty="0"/>
              <a:t>, any node in the </a:t>
            </a:r>
            <a:r>
              <a:rPr lang="en-US" dirty="0" err="1"/>
              <a:t>geocast</a:t>
            </a:r>
            <a:r>
              <a:rPr lang="en-US" dirty="0"/>
              <a:t> region) via TORA. </a:t>
            </a:r>
          </a:p>
          <a:p>
            <a:pPr marL="285750" indent="-285750" algn="just">
              <a:buFont typeface="Arial" panose="020B0604020202020204" pitchFamily="34" charset="0"/>
              <a:buChar char="•"/>
            </a:pPr>
            <a:r>
              <a:rPr lang="en-US" dirty="0"/>
              <a:t>When a node in the </a:t>
            </a:r>
            <a:r>
              <a:rPr lang="en-US" dirty="0" err="1"/>
              <a:t>geocast</a:t>
            </a:r>
            <a:r>
              <a:rPr lang="en-US" dirty="0"/>
              <a:t> region receives the </a:t>
            </a:r>
            <a:r>
              <a:rPr lang="en-US" dirty="0" err="1"/>
              <a:t>geocast</a:t>
            </a:r>
            <a:r>
              <a:rPr lang="en-US" dirty="0"/>
              <a:t> packet, it floods the packet such that the flooding is limited to the </a:t>
            </a:r>
            <a:r>
              <a:rPr lang="en-US" dirty="0" err="1"/>
              <a:t>geocast</a:t>
            </a:r>
            <a:r>
              <a:rPr lang="en-US" dirty="0"/>
              <a:t> region. </a:t>
            </a:r>
          </a:p>
          <a:p>
            <a:pPr marL="285750" indent="-285750" algn="just">
              <a:buFont typeface="Arial" panose="020B0604020202020204" pitchFamily="34" charset="0"/>
              <a:buChar char="•"/>
            </a:pPr>
            <a:r>
              <a:rPr lang="en-US" dirty="0"/>
              <a:t>The accuracy of </a:t>
            </a:r>
            <a:r>
              <a:rPr lang="en-US" dirty="0" err="1"/>
              <a:t>GeoTORA</a:t>
            </a:r>
            <a:r>
              <a:rPr lang="en-US" dirty="0"/>
              <a:t> is high, but not as high as pure flooding or LBM. </a:t>
            </a:r>
          </a:p>
          <a:p>
            <a:pPr marL="285750" indent="-285750" algn="just">
              <a:buFont typeface="Arial" panose="020B0604020202020204" pitchFamily="34" charset="0"/>
              <a:buChar char="•"/>
            </a:pPr>
            <a:r>
              <a:rPr lang="en-US" dirty="0"/>
              <a:t>One reason is only one node in the </a:t>
            </a:r>
            <a:r>
              <a:rPr lang="en-US" dirty="0" err="1"/>
              <a:t>geocast</a:t>
            </a:r>
            <a:r>
              <a:rPr lang="en-US" dirty="0"/>
              <a:t> region receives the </a:t>
            </a:r>
            <a:r>
              <a:rPr lang="en-US" dirty="0" err="1"/>
              <a:t>geocast</a:t>
            </a:r>
            <a:r>
              <a:rPr lang="en-US" dirty="0"/>
              <a:t> packet and if that node is partitioned from other nodes in the </a:t>
            </a:r>
            <a:r>
              <a:rPr lang="en-US" dirty="0" err="1"/>
              <a:t>geocast</a:t>
            </a:r>
            <a:r>
              <a:rPr lang="en-US" dirty="0"/>
              <a:t> region, the accuracy reduces.</a:t>
            </a:r>
            <a:endParaRPr lang="en-IN" dirty="0"/>
          </a:p>
        </p:txBody>
      </p:sp>
    </p:spTree>
    <p:extLst>
      <p:ext uri="{BB962C8B-B14F-4D97-AF65-F5344CB8AC3E}">
        <p14:creationId xmlns:p14="http://schemas.microsoft.com/office/powerpoint/2010/main" val="32566745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21E918-E7C3-47B0-AD96-36F9B51DC1F0}"/>
              </a:ext>
            </a:extLst>
          </p:cNvPr>
          <p:cNvSpPr/>
          <p:nvPr/>
        </p:nvSpPr>
        <p:spPr>
          <a:xfrm>
            <a:off x="2032804" y="565608"/>
            <a:ext cx="8126392" cy="707886"/>
          </a:xfrm>
          <a:prstGeom prst="rect">
            <a:avLst/>
          </a:prstGeom>
        </p:spPr>
        <p:txBody>
          <a:bodyPr wrap="none">
            <a:spAutoFit/>
          </a:bodyPr>
          <a:lstStyle/>
          <a:p>
            <a:r>
              <a:rPr lang="en-IN" sz="4000" dirty="0"/>
              <a:t>Mesh-Based </a:t>
            </a:r>
            <a:r>
              <a:rPr lang="en-IN" sz="4000" dirty="0" err="1"/>
              <a:t>Geocast</a:t>
            </a:r>
            <a:r>
              <a:rPr lang="en-IN" sz="4000" dirty="0"/>
              <a:t> Routing Protocol</a:t>
            </a:r>
          </a:p>
        </p:txBody>
      </p:sp>
      <p:sp>
        <p:nvSpPr>
          <p:cNvPr id="3" name="Rectangle 2">
            <a:extLst>
              <a:ext uri="{FF2B5EF4-FFF2-40B4-BE49-F238E27FC236}">
                <a16:creationId xmlns:a16="http://schemas.microsoft.com/office/drawing/2014/main" id="{34FAAB98-0AA7-4989-8B43-980C17B28203}"/>
              </a:ext>
            </a:extLst>
          </p:cNvPr>
          <p:cNvSpPr/>
          <p:nvPr/>
        </p:nvSpPr>
        <p:spPr>
          <a:xfrm>
            <a:off x="380214" y="2013071"/>
            <a:ext cx="11195902" cy="3416320"/>
          </a:xfrm>
          <a:prstGeom prst="rect">
            <a:avLst/>
          </a:prstGeom>
        </p:spPr>
        <p:txBody>
          <a:bodyPr wrap="square">
            <a:spAutoFit/>
          </a:bodyPr>
          <a:lstStyle/>
          <a:p>
            <a:pPr marL="285750" indent="-285750" algn="just">
              <a:buFont typeface="Arial" panose="020B0604020202020204" pitchFamily="34" charset="0"/>
              <a:buChar char="•"/>
            </a:pPr>
            <a:r>
              <a:rPr lang="en-US" dirty="0"/>
              <a:t>The Mesh-based </a:t>
            </a:r>
            <a:r>
              <a:rPr lang="en-US" dirty="0" err="1"/>
              <a:t>Geocast</a:t>
            </a:r>
            <a:r>
              <a:rPr lang="en-US" dirty="0"/>
              <a:t> Routing (MGR) protocol [Boleng2001] uses a mesh for </a:t>
            </a:r>
            <a:r>
              <a:rPr lang="en-US" dirty="0" err="1"/>
              <a:t>geocasting</a:t>
            </a:r>
            <a:r>
              <a:rPr lang="en-US" dirty="0"/>
              <a:t> in an ad hoc environment in order to provide redundant paths between the source and the group members. </a:t>
            </a:r>
          </a:p>
          <a:p>
            <a:pPr marL="285750" indent="-285750" algn="just">
              <a:buFont typeface="Arial" panose="020B0604020202020204" pitchFamily="34" charset="0"/>
              <a:buChar char="•"/>
            </a:pPr>
            <a:r>
              <a:rPr lang="en-US" dirty="0"/>
              <a:t>Since the group members in a </a:t>
            </a:r>
            <a:r>
              <a:rPr lang="en-US" dirty="0" err="1"/>
              <a:t>geocast</a:t>
            </a:r>
            <a:r>
              <a:rPr lang="en-US" dirty="0"/>
              <a:t> region are in close proximity to each other, it is less costly to provide redundant paths from a source to a </a:t>
            </a:r>
            <a:r>
              <a:rPr lang="en-US" dirty="0" err="1"/>
              <a:t>geocast</a:t>
            </a:r>
            <a:r>
              <a:rPr lang="en-US" dirty="0"/>
              <a:t> region than to provide the redundant paths from a source to a multicast group of nodes that may not be in close proximity of each other. </a:t>
            </a:r>
          </a:p>
          <a:p>
            <a:pPr marL="285750" indent="-285750" algn="just">
              <a:buFont typeface="Arial" panose="020B0604020202020204" pitchFamily="34" charset="0"/>
              <a:buChar char="•"/>
            </a:pPr>
            <a:r>
              <a:rPr lang="en-US" dirty="0"/>
              <a:t>Instead of flooding </a:t>
            </a:r>
            <a:r>
              <a:rPr lang="en-US" dirty="0" err="1"/>
              <a:t>geocast</a:t>
            </a:r>
            <a:r>
              <a:rPr lang="en-US" dirty="0"/>
              <a:t> packets, the MGR Protocol tries to create redundant routes via control packets. First, the protocol floods JOIN-DEMAND packets in a forwarding zone. </a:t>
            </a:r>
          </a:p>
          <a:p>
            <a:pPr marL="285750" indent="-285750" algn="just">
              <a:buFont typeface="Arial" panose="020B0604020202020204" pitchFamily="34" charset="0"/>
              <a:buChar char="•"/>
            </a:pPr>
            <a:r>
              <a:rPr lang="en-US" dirty="0"/>
              <a:t>A JOIN-DEMAND packet is forwarded in the network until it reaches a node in the </a:t>
            </a:r>
            <a:r>
              <a:rPr lang="en-US" dirty="0" err="1"/>
              <a:t>geocast</a:t>
            </a:r>
            <a:r>
              <a:rPr lang="en-US" dirty="0"/>
              <a:t> region. This node unicasts a JOIN-TABLE packet back to the source by following the reverse route of the JOIN-DEMAND packet. </a:t>
            </a:r>
          </a:p>
          <a:p>
            <a:pPr marL="285750" indent="-285750" algn="just">
              <a:buFont typeface="Arial" panose="020B0604020202020204" pitchFamily="34" charset="0"/>
              <a:buChar char="•"/>
            </a:pPr>
            <a:r>
              <a:rPr lang="en-US" dirty="0"/>
              <a:t>Thus, the nodes on the edge of the </a:t>
            </a:r>
            <a:r>
              <a:rPr lang="en-US" dirty="0" err="1"/>
              <a:t>geocast</a:t>
            </a:r>
            <a:r>
              <a:rPr lang="en-US" dirty="0"/>
              <a:t> region become a part of the mesh. </a:t>
            </a:r>
          </a:p>
          <a:p>
            <a:pPr marL="285750" indent="-285750" algn="just">
              <a:buFont typeface="Arial" panose="020B0604020202020204" pitchFamily="34" charset="0"/>
              <a:buChar char="•"/>
            </a:pPr>
            <a:r>
              <a:rPr lang="en-US" dirty="0"/>
              <a:t>Once the first JOIN TABLE packet is received by the source, data packets can be sent to the nodes in the </a:t>
            </a:r>
            <a:r>
              <a:rPr lang="en-US" dirty="0" err="1"/>
              <a:t>geocast</a:t>
            </a:r>
            <a:r>
              <a:rPr lang="en-US" dirty="0"/>
              <a:t> region. Figure 3.16 shows an example of </a:t>
            </a:r>
            <a:r>
              <a:rPr lang="en-US" dirty="0" err="1"/>
              <a:t>geocast</a:t>
            </a:r>
            <a:r>
              <a:rPr lang="en-US" dirty="0"/>
              <a:t> communication via a mesh. </a:t>
            </a:r>
            <a:endParaRPr lang="en-IN" dirty="0"/>
          </a:p>
        </p:txBody>
      </p:sp>
    </p:spTree>
    <p:extLst>
      <p:ext uri="{BB962C8B-B14F-4D97-AF65-F5344CB8AC3E}">
        <p14:creationId xmlns:p14="http://schemas.microsoft.com/office/powerpoint/2010/main" val="8148153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7A1D-EED9-42C2-AF03-D801FB8D13BA}"/>
              </a:ext>
            </a:extLst>
          </p:cNvPr>
          <p:cNvPicPr>
            <a:picLocks noChangeAspect="1"/>
          </p:cNvPicPr>
          <p:nvPr/>
        </p:nvPicPr>
        <p:blipFill>
          <a:blip r:embed="rId2"/>
          <a:stretch>
            <a:fillRect/>
          </a:stretch>
        </p:blipFill>
        <p:spPr>
          <a:xfrm>
            <a:off x="1008668" y="886120"/>
            <a:ext cx="8427563" cy="5316717"/>
          </a:xfrm>
          <a:prstGeom prst="rect">
            <a:avLst/>
          </a:prstGeom>
        </p:spPr>
      </p:pic>
    </p:spTree>
    <p:extLst>
      <p:ext uri="{BB962C8B-B14F-4D97-AF65-F5344CB8AC3E}">
        <p14:creationId xmlns:p14="http://schemas.microsoft.com/office/powerpoint/2010/main" val="106021706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7B57C6-F1EA-449D-8AF2-592882666436}"/>
              </a:ext>
            </a:extLst>
          </p:cNvPr>
          <p:cNvSpPr/>
          <p:nvPr/>
        </p:nvSpPr>
        <p:spPr>
          <a:xfrm>
            <a:off x="4336475" y="490194"/>
            <a:ext cx="2691763" cy="707886"/>
          </a:xfrm>
          <a:prstGeom prst="rect">
            <a:avLst/>
          </a:prstGeom>
        </p:spPr>
        <p:txBody>
          <a:bodyPr wrap="none">
            <a:spAutoFit/>
          </a:bodyPr>
          <a:lstStyle/>
          <a:p>
            <a:r>
              <a:rPr lang="en-IN" sz="4000" dirty="0"/>
              <a:t>Comparison</a:t>
            </a:r>
          </a:p>
        </p:txBody>
      </p:sp>
      <p:sp>
        <p:nvSpPr>
          <p:cNvPr id="3" name="Rectangle 2">
            <a:extLst>
              <a:ext uri="{FF2B5EF4-FFF2-40B4-BE49-F238E27FC236}">
                <a16:creationId xmlns:a16="http://schemas.microsoft.com/office/drawing/2014/main" id="{427C3CBE-6972-4611-A5D7-536A51485DBE}"/>
              </a:ext>
            </a:extLst>
          </p:cNvPr>
          <p:cNvSpPr/>
          <p:nvPr/>
        </p:nvSpPr>
        <p:spPr>
          <a:xfrm>
            <a:off x="596245" y="1709948"/>
            <a:ext cx="10999510" cy="3693319"/>
          </a:xfrm>
          <a:prstGeom prst="rect">
            <a:avLst/>
          </a:prstGeom>
        </p:spPr>
        <p:txBody>
          <a:bodyPr wrap="square">
            <a:spAutoFit/>
          </a:bodyPr>
          <a:lstStyle/>
          <a:p>
            <a:pPr marL="285750" indent="-285750" algn="just">
              <a:buFont typeface="Arial" panose="020B0604020202020204" pitchFamily="34" charset="0"/>
              <a:buChar char="•"/>
            </a:pPr>
            <a:r>
              <a:rPr lang="en-US" dirty="0"/>
              <a:t>In the data-transmission oriented category, </a:t>
            </a:r>
            <a:r>
              <a:rPr lang="en-US" dirty="0" err="1"/>
              <a:t>GeoGRID</a:t>
            </a:r>
            <a:r>
              <a:rPr lang="en-US" dirty="0"/>
              <a:t> appears to be an effective protocol. Both the Flooding-Based </a:t>
            </a:r>
            <a:r>
              <a:rPr lang="en-US" dirty="0" err="1"/>
              <a:t>GeoGRID</a:t>
            </a:r>
            <a:r>
              <a:rPr lang="en-US" dirty="0"/>
              <a:t> protocol and the Ticket-Based </a:t>
            </a:r>
            <a:r>
              <a:rPr lang="en-US" dirty="0" err="1"/>
              <a:t>GeoGRID</a:t>
            </a:r>
            <a:r>
              <a:rPr lang="en-US" dirty="0"/>
              <a:t> protocol may reduce the overhead of LBM and VDG, and especially in the dense network. </a:t>
            </a:r>
          </a:p>
          <a:p>
            <a:pPr marL="285750" indent="-285750" algn="just">
              <a:buFont typeface="Arial" panose="020B0604020202020204" pitchFamily="34" charset="0"/>
              <a:buChar char="•"/>
            </a:pPr>
            <a:r>
              <a:rPr lang="en-US" dirty="0"/>
              <a:t>As compared to data-transmission oriented protocols, the overhead of </a:t>
            </a:r>
            <a:r>
              <a:rPr lang="en-US" dirty="0" err="1"/>
              <a:t>GeoTORA</a:t>
            </a:r>
            <a:r>
              <a:rPr lang="en-US" dirty="0"/>
              <a:t> is small. However, the accuracy of </a:t>
            </a:r>
            <a:r>
              <a:rPr lang="en-US" dirty="0" err="1"/>
              <a:t>GeoTORA</a:t>
            </a:r>
            <a:r>
              <a:rPr lang="en-US" dirty="0"/>
              <a:t> tremendously affected. </a:t>
            </a:r>
          </a:p>
          <a:p>
            <a:pPr marL="285750" indent="-285750" algn="just">
              <a:buFont typeface="Arial" panose="020B0604020202020204" pitchFamily="34" charset="0"/>
              <a:buChar char="•"/>
            </a:pPr>
            <a:r>
              <a:rPr lang="en-US" dirty="0"/>
              <a:t>Another potential problem with </a:t>
            </a:r>
            <a:r>
              <a:rPr lang="en-US" dirty="0" err="1"/>
              <a:t>GeoTORA</a:t>
            </a:r>
            <a:r>
              <a:rPr lang="en-US" dirty="0"/>
              <a:t> is that only one node receives a </a:t>
            </a:r>
            <a:r>
              <a:rPr lang="en-US" dirty="0" err="1"/>
              <a:t>geocast</a:t>
            </a:r>
            <a:r>
              <a:rPr lang="en-US" dirty="0"/>
              <a:t> packet from TORA which is then responsible for flooding through the </a:t>
            </a:r>
            <a:r>
              <a:rPr lang="en-US" dirty="0" err="1"/>
              <a:t>geocast</a:t>
            </a:r>
            <a:r>
              <a:rPr lang="en-US" dirty="0"/>
              <a:t> region. </a:t>
            </a:r>
          </a:p>
          <a:p>
            <a:pPr marL="285750" indent="-285750" algn="just">
              <a:buFont typeface="Arial" panose="020B0604020202020204" pitchFamily="34" charset="0"/>
              <a:buChar char="•"/>
            </a:pPr>
            <a:r>
              <a:rPr lang="en-US" dirty="0"/>
              <a:t>In the MGR protocol, multiple nodes in the </a:t>
            </a:r>
            <a:r>
              <a:rPr lang="en-US" dirty="0" err="1"/>
              <a:t>geocast</a:t>
            </a:r>
            <a:r>
              <a:rPr lang="en-US" dirty="0"/>
              <a:t> region will receive a </a:t>
            </a:r>
            <a:r>
              <a:rPr lang="en-US" dirty="0" err="1"/>
              <a:t>geocast</a:t>
            </a:r>
            <a:r>
              <a:rPr lang="en-US" dirty="0"/>
              <a:t> packet due to the redundant paths that are created between the source and the </a:t>
            </a:r>
            <a:r>
              <a:rPr lang="en-US" dirty="0" err="1"/>
              <a:t>geocast</a:t>
            </a:r>
            <a:r>
              <a:rPr lang="en-US" dirty="0"/>
              <a:t> region. </a:t>
            </a:r>
          </a:p>
          <a:p>
            <a:pPr marL="285750" indent="-285750" algn="just">
              <a:buFont typeface="Arial" panose="020B0604020202020204" pitchFamily="34" charset="0"/>
              <a:buChar char="•"/>
            </a:pPr>
            <a:r>
              <a:rPr lang="en-US" dirty="0"/>
              <a:t>While redundant paths will increase the overhead compared to a single path, the accuracy of redundant paths should also increase. In conclusion, there appears to be a trade-off between overhead and reliability. </a:t>
            </a:r>
          </a:p>
          <a:p>
            <a:pPr marL="285750" indent="-285750" algn="just">
              <a:buFont typeface="Arial" panose="020B0604020202020204" pitchFamily="34" charset="0"/>
              <a:buChar char="•"/>
            </a:pPr>
            <a:r>
              <a:rPr lang="en-US" dirty="0"/>
              <a:t>In other words, higher protocol overhead appears to provide better levels of reliability, while lower protocol overhead appears to provide lower levels of reliability. </a:t>
            </a:r>
            <a:endParaRPr lang="en-IN" dirty="0"/>
          </a:p>
        </p:txBody>
      </p:sp>
    </p:spTree>
    <p:extLst>
      <p:ext uri="{BB962C8B-B14F-4D97-AF65-F5344CB8AC3E}">
        <p14:creationId xmlns:p14="http://schemas.microsoft.com/office/powerpoint/2010/main" val="2831691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3E6E50-D2A8-48DF-BC0F-A2517E990CC6}"/>
              </a:ext>
            </a:extLst>
          </p:cNvPr>
          <p:cNvSpPr/>
          <p:nvPr/>
        </p:nvSpPr>
        <p:spPr>
          <a:xfrm>
            <a:off x="2253961" y="187842"/>
            <a:ext cx="7269298" cy="707886"/>
          </a:xfrm>
          <a:prstGeom prst="rect">
            <a:avLst/>
          </a:prstGeom>
        </p:spPr>
        <p:txBody>
          <a:bodyPr wrap="none">
            <a:spAutoFit/>
          </a:bodyPr>
          <a:lstStyle/>
          <a:p>
            <a:r>
              <a:rPr lang="en-IN" sz="4000" dirty="0"/>
              <a:t>Conclusions and Future Directions</a:t>
            </a:r>
          </a:p>
        </p:txBody>
      </p:sp>
      <p:sp>
        <p:nvSpPr>
          <p:cNvPr id="3" name="Rectangle 2">
            <a:extLst>
              <a:ext uri="{FF2B5EF4-FFF2-40B4-BE49-F238E27FC236}">
                <a16:creationId xmlns:a16="http://schemas.microsoft.com/office/drawing/2014/main" id="{997E0D21-47E2-46D7-BDCF-43F6EF35DBC3}"/>
              </a:ext>
            </a:extLst>
          </p:cNvPr>
          <p:cNvSpPr/>
          <p:nvPr/>
        </p:nvSpPr>
        <p:spPr>
          <a:xfrm>
            <a:off x="337008" y="1072349"/>
            <a:ext cx="11745798" cy="1200329"/>
          </a:xfrm>
          <a:prstGeom prst="rect">
            <a:avLst/>
          </a:prstGeom>
        </p:spPr>
        <p:txBody>
          <a:bodyPr wrap="square">
            <a:spAutoFit/>
          </a:bodyPr>
          <a:lstStyle/>
          <a:p>
            <a:pPr marL="285750" indent="-285750" algn="just">
              <a:buFont typeface="Arial" panose="020B0604020202020204" pitchFamily="34" charset="0"/>
              <a:buChar char="•"/>
            </a:pPr>
            <a:r>
              <a:rPr lang="en-US" dirty="0"/>
              <a:t>As mentioned earlier, research in the area of broadcasting, multicasting and </a:t>
            </a:r>
            <a:r>
              <a:rPr lang="en-US" dirty="0" err="1"/>
              <a:t>geocasting</a:t>
            </a:r>
            <a:r>
              <a:rPr lang="en-US" dirty="0"/>
              <a:t> over MANETs is far from being exhaustive. </a:t>
            </a:r>
          </a:p>
          <a:p>
            <a:pPr marL="285750" indent="-285750" algn="just">
              <a:buFont typeface="Arial" panose="020B0604020202020204" pitchFamily="34" charset="0"/>
              <a:buChar char="•"/>
            </a:pPr>
            <a:r>
              <a:rPr lang="en-US" dirty="0"/>
              <a:t>Much of the effort so far has been on devising routing protocols to support effective and efficient communication between nodes. However, there are still many topics that deserve further investigation such as: </a:t>
            </a:r>
            <a:endParaRPr lang="en-IN" dirty="0"/>
          </a:p>
        </p:txBody>
      </p:sp>
      <p:sp>
        <p:nvSpPr>
          <p:cNvPr id="4" name="Rectangle 3">
            <a:extLst>
              <a:ext uri="{FF2B5EF4-FFF2-40B4-BE49-F238E27FC236}">
                <a16:creationId xmlns:a16="http://schemas.microsoft.com/office/drawing/2014/main" id="{187E1A5E-178B-426B-A868-8FBFE0AF35ED}"/>
              </a:ext>
            </a:extLst>
          </p:cNvPr>
          <p:cNvSpPr/>
          <p:nvPr/>
        </p:nvSpPr>
        <p:spPr>
          <a:xfrm>
            <a:off x="408495" y="2438195"/>
            <a:ext cx="11472420" cy="1477328"/>
          </a:xfrm>
          <a:prstGeom prst="rect">
            <a:avLst/>
          </a:prstGeom>
        </p:spPr>
        <p:txBody>
          <a:bodyPr wrap="square">
            <a:spAutoFit/>
          </a:bodyPr>
          <a:lstStyle/>
          <a:p>
            <a:pPr algn="just"/>
            <a:r>
              <a:rPr lang="en-US" dirty="0"/>
              <a:t>• </a:t>
            </a:r>
            <a:r>
              <a:rPr lang="en-US" b="1" dirty="0"/>
              <a:t>Scalability</a:t>
            </a:r>
            <a:r>
              <a:rPr lang="en-US" dirty="0"/>
              <a:t> - This issue is not only related to broadcasting, multicasting or </a:t>
            </a:r>
            <a:r>
              <a:rPr lang="en-US" dirty="0" err="1"/>
              <a:t>geocasting</a:t>
            </a:r>
            <a:r>
              <a:rPr lang="en-US" dirty="0"/>
              <a:t> in MANETs but also with the MANET itself. An obvious question comes to our mind is to what extent can an ad hoc network grow? Can we design a multicast routing protocol for MANET, which is scalable with respect to number of members in the group, their mobility and other constraints posed by the MANET environment itself? Similarly, can we come up with a scalable location service and forwarding scheme to provide efficient </a:t>
            </a:r>
            <a:r>
              <a:rPr lang="en-US" dirty="0" err="1"/>
              <a:t>geocasting</a:t>
            </a:r>
            <a:r>
              <a:rPr lang="en-US" dirty="0"/>
              <a:t> services?; </a:t>
            </a:r>
            <a:endParaRPr lang="en-IN" dirty="0"/>
          </a:p>
        </p:txBody>
      </p:sp>
      <p:sp>
        <p:nvSpPr>
          <p:cNvPr id="5" name="Rectangle 4">
            <a:extLst>
              <a:ext uri="{FF2B5EF4-FFF2-40B4-BE49-F238E27FC236}">
                <a16:creationId xmlns:a16="http://schemas.microsoft.com/office/drawing/2014/main" id="{90F19464-F2E5-4D75-BB8E-874A6E679A0B}"/>
              </a:ext>
            </a:extLst>
          </p:cNvPr>
          <p:cNvSpPr/>
          <p:nvPr/>
        </p:nvSpPr>
        <p:spPr>
          <a:xfrm>
            <a:off x="473697" y="3985157"/>
            <a:ext cx="11472420" cy="1200329"/>
          </a:xfrm>
          <a:prstGeom prst="rect">
            <a:avLst/>
          </a:prstGeom>
        </p:spPr>
        <p:txBody>
          <a:bodyPr wrap="square">
            <a:spAutoFit/>
          </a:bodyPr>
          <a:lstStyle/>
          <a:p>
            <a:pPr algn="just"/>
            <a:r>
              <a:rPr lang="en-US" dirty="0"/>
              <a:t>• </a:t>
            </a:r>
            <a:r>
              <a:rPr lang="en-US" b="1" dirty="0"/>
              <a:t>Applications for broadcast/multicast/</a:t>
            </a:r>
            <a:r>
              <a:rPr lang="en-US" b="1" dirty="0" err="1"/>
              <a:t>geocast</a:t>
            </a:r>
            <a:r>
              <a:rPr lang="en-US" b="1" dirty="0"/>
              <a:t> over MANETs : </a:t>
            </a:r>
            <a:r>
              <a:rPr lang="en-US" dirty="0"/>
              <a:t>Have we found a killer application? Does it exist or do we really need one? Although we talk about online gaming, military applications, environmental monitoring, and information dissemination in selected geographical areas, but what the potential commercial applications of MANETs are and if service providers can be convinced to support multicast and/or </a:t>
            </a:r>
            <a:r>
              <a:rPr lang="en-US" dirty="0" err="1"/>
              <a:t>geocast</a:t>
            </a:r>
            <a:r>
              <a:rPr lang="en-US" dirty="0"/>
              <a:t>, is still an open issue; </a:t>
            </a:r>
            <a:endParaRPr lang="en-IN" dirty="0"/>
          </a:p>
        </p:txBody>
      </p:sp>
      <p:sp>
        <p:nvSpPr>
          <p:cNvPr id="6" name="Rectangle 5">
            <a:extLst>
              <a:ext uri="{FF2B5EF4-FFF2-40B4-BE49-F238E27FC236}">
                <a16:creationId xmlns:a16="http://schemas.microsoft.com/office/drawing/2014/main" id="{80C0351E-D739-4F7D-86CB-B797C44E253A}"/>
              </a:ext>
            </a:extLst>
          </p:cNvPr>
          <p:cNvSpPr/>
          <p:nvPr/>
        </p:nvSpPr>
        <p:spPr>
          <a:xfrm>
            <a:off x="538899" y="5324754"/>
            <a:ext cx="11342016" cy="923330"/>
          </a:xfrm>
          <a:prstGeom prst="rect">
            <a:avLst/>
          </a:prstGeom>
        </p:spPr>
        <p:txBody>
          <a:bodyPr wrap="square">
            <a:spAutoFit/>
          </a:bodyPr>
          <a:lstStyle/>
          <a:p>
            <a:pPr algn="just"/>
            <a:r>
              <a:rPr lang="en-US" dirty="0"/>
              <a:t>• </a:t>
            </a:r>
            <a:r>
              <a:rPr lang="en-US" b="1" dirty="0"/>
              <a:t>QoS</a:t>
            </a:r>
            <a:r>
              <a:rPr lang="en-US" dirty="0"/>
              <a:t> - This applies to broadcast, multicast and </a:t>
            </a:r>
            <a:r>
              <a:rPr lang="en-US" dirty="0" err="1"/>
              <a:t>geocast</a:t>
            </a:r>
            <a:r>
              <a:rPr lang="en-US" dirty="0"/>
              <a:t>. Is it feasible for bandwidth/delay-constrained multicast applications to run well in a MANET? Since MANET itself does not have a well-defined framework for QoS support yet, it may be difficult to address this task for some time; </a:t>
            </a:r>
            <a:endParaRPr lang="en-IN" dirty="0"/>
          </a:p>
        </p:txBody>
      </p:sp>
    </p:spTree>
    <p:extLst>
      <p:ext uri="{BB962C8B-B14F-4D97-AF65-F5344CB8AC3E}">
        <p14:creationId xmlns:p14="http://schemas.microsoft.com/office/powerpoint/2010/main" val="8140207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9EC65-7154-48D3-8A91-17CAD48C705D}"/>
              </a:ext>
            </a:extLst>
          </p:cNvPr>
          <p:cNvSpPr/>
          <p:nvPr/>
        </p:nvSpPr>
        <p:spPr>
          <a:xfrm>
            <a:off x="260808" y="698181"/>
            <a:ext cx="11670384" cy="1200329"/>
          </a:xfrm>
          <a:prstGeom prst="rect">
            <a:avLst/>
          </a:prstGeom>
        </p:spPr>
        <p:txBody>
          <a:bodyPr wrap="square">
            <a:spAutoFit/>
          </a:bodyPr>
          <a:lstStyle/>
          <a:p>
            <a:pPr algn="just"/>
            <a:r>
              <a:rPr lang="en-US" b="1" dirty="0"/>
              <a:t>• Address configuration - </a:t>
            </a:r>
            <a:r>
              <a:rPr lang="en-US" dirty="0"/>
              <a:t>This has a lot to do with multicast services. Due to the </a:t>
            </a:r>
            <a:r>
              <a:rPr lang="en-US" dirty="0" err="1"/>
              <a:t>infrastructureless</a:t>
            </a:r>
            <a:r>
              <a:rPr lang="en-US" dirty="0"/>
              <a:t> nature of MANETs, a different addressing approach may be required. Special care needs to taken so that other groups should not reuse a multicast address used by a group at the same time. Node movement and network partitioning makes this task of synchronizing multicast addresses in a MANET really difficult; </a:t>
            </a:r>
            <a:endParaRPr lang="en-IN" dirty="0"/>
          </a:p>
        </p:txBody>
      </p:sp>
      <p:sp>
        <p:nvSpPr>
          <p:cNvPr id="3" name="Rectangle 2">
            <a:extLst>
              <a:ext uri="{FF2B5EF4-FFF2-40B4-BE49-F238E27FC236}">
                <a16:creationId xmlns:a16="http://schemas.microsoft.com/office/drawing/2014/main" id="{E6284AD4-9047-4722-802D-C6D54E84ED35}"/>
              </a:ext>
            </a:extLst>
          </p:cNvPr>
          <p:cNvSpPr/>
          <p:nvPr/>
        </p:nvSpPr>
        <p:spPr>
          <a:xfrm>
            <a:off x="336222" y="2312768"/>
            <a:ext cx="11670384" cy="1200329"/>
          </a:xfrm>
          <a:prstGeom prst="rect">
            <a:avLst/>
          </a:prstGeom>
        </p:spPr>
        <p:txBody>
          <a:bodyPr wrap="square">
            <a:spAutoFit/>
          </a:bodyPr>
          <a:lstStyle/>
          <a:p>
            <a:pPr algn="just"/>
            <a:r>
              <a:rPr lang="en-US" b="1" dirty="0"/>
              <a:t>• Security - </a:t>
            </a:r>
            <a:r>
              <a:rPr lang="en-US" dirty="0"/>
              <a:t>How can the network secure itself from malicious or compromised hosts? Due to broadcast nature of the wireless medium, security provisioning has become more difficult. In the specific case of multicasting, further research is needed to investigate how to stop an intruder from joining an ongoing multicast session or stop a node from reception of session packets; and </a:t>
            </a:r>
            <a:endParaRPr lang="en-IN" dirty="0"/>
          </a:p>
        </p:txBody>
      </p:sp>
      <p:sp>
        <p:nvSpPr>
          <p:cNvPr id="4" name="Rectangle 3">
            <a:extLst>
              <a:ext uri="{FF2B5EF4-FFF2-40B4-BE49-F238E27FC236}">
                <a16:creationId xmlns:a16="http://schemas.microsoft.com/office/drawing/2014/main" id="{C40AD496-3620-44AD-8112-ED00B3572B24}"/>
              </a:ext>
            </a:extLst>
          </p:cNvPr>
          <p:cNvSpPr/>
          <p:nvPr/>
        </p:nvSpPr>
        <p:spPr>
          <a:xfrm>
            <a:off x="260808" y="3805328"/>
            <a:ext cx="11579258" cy="1754326"/>
          </a:xfrm>
          <a:prstGeom prst="rect">
            <a:avLst/>
          </a:prstGeom>
        </p:spPr>
        <p:txBody>
          <a:bodyPr wrap="square">
            <a:spAutoFit/>
          </a:bodyPr>
          <a:lstStyle/>
          <a:p>
            <a:pPr algn="just"/>
            <a:r>
              <a:rPr lang="en-US" dirty="0"/>
              <a:t>• </a:t>
            </a:r>
            <a:r>
              <a:rPr lang="en-US" b="1" dirty="0"/>
              <a:t>Power control - </a:t>
            </a:r>
            <a:r>
              <a:rPr lang="en-US" dirty="0"/>
              <a:t>How can battery life be maximized? Both source and core-based multicast approaches concentrate traffic on a single node. For example, in a stateless multicast the group membership is controlled by the source, which limits lifetime of its battery. It still needed to investigate how to efficiently distribute traffic from a central node to other member nodes in a MANET. Similarly, efficient </a:t>
            </a:r>
            <a:r>
              <a:rPr lang="en-US" dirty="0" err="1"/>
              <a:t>geocasting</a:t>
            </a:r>
            <a:r>
              <a:rPr lang="en-US" dirty="0"/>
              <a:t> services can consume considerable amounts of energy and more research in the area of energy efficient schemes is deemed necessary. The research community is already looking into many of these questions; however, there is still a lot more work to be done.</a:t>
            </a:r>
            <a:endParaRPr lang="en-IN" dirty="0"/>
          </a:p>
        </p:txBody>
      </p:sp>
    </p:spTree>
    <p:extLst>
      <p:ext uri="{BB962C8B-B14F-4D97-AF65-F5344CB8AC3E}">
        <p14:creationId xmlns:p14="http://schemas.microsoft.com/office/powerpoint/2010/main" val="6853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7CA6950343A9E4AAB1B5B319BC575B5" ma:contentTypeVersion="10" ma:contentTypeDescription="Create a new document." ma:contentTypeScope="" ma:versionID="629ee2f8f124ac1033674e877fed99ea">
  <xsd:schema xmlns:xsd="http://www.w3.org/2001/XMLSchema" xmlns:xs="http://www.w3.org/2001/XMLSchema" xmlns:p="http://schemas.microsoft.com/office/2006/metadata/properties" xmlns:ns3="69c85308-883b-42b2-ace5-7106bde3297c" targetNamespace="http://schemas.microsoft.com/office/2006/metadata/properties" ma:root="true" ma:fieldsID="fa8d1d8ca2d609d52ab9b80150d72b3d" ns3:_="">
    <xsd:import namespace="69c85308-883b-42b2-ace5-7106bde3297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c85308-883b-42b2-ace5-7106bde3297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69c85308-883b-42b2-ace5-7106bde3297c" xsi:nil="true"/>
  </documentManagement>
</p:properties>
</file>

<file path=customXml/itemProps1.xml><?xml version="1.0" encoding="utf-8"?>
<ds:datastoreItem xmlns:ds="http://schemas.openxmlformats.org/officeDocument/2006/customXml" ds:itemID="{EC063747-D692-4C46-81B2-EA361A0F7C6C}">
  <ds:schemaRefs>
    <ds:schemaRef ds:uri="http://schemas.microsoft.com/sharepoint/v3/contenttype/forms"/>
  </ds:schemaRefs>
</ds:datastoreItem>
</file>

<file path=customXml/itemProps2.xml><?xml version="1.0" encoding="utf-8"?>
<ds:datastoreItem xmlns:ds="http://schemas.openxmlformats.org/officeDocument/2006/customXml" ds:itemID="{856F9BAE-C306-4B98-9A12-6962C52B98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c85308-883b-42b2-ace5-7106bde329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BA1716E-D168-495A-9D2F-E298E9E9030D}">
  <ds:schemaRefs>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 ds:uri="http://purl.org/dc/dcmitype/"/>
    <ds:schemaRef ds:uri="69c85308-883b-42b2-ace5-7106bde3297c"/>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1313</TotalTime>
  <Words>14411</Words>
  <Application>Microsoft Office PowerPoint</Application>
  <PresentationFormat>Widescreen</PresentationFormat>
  <Paragraphs>470</Paragraphs>
  <Slides>95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95</vt:i4>
      </vt:variant>
    </vt:vector>
  </HeadingPairs>
  <TitlesOfParts>
    <vt:vector size="99" baseType="lpstr">
      <vt:lpstr>Arial</vt:lpstr>
      <vt:lpstr>Calibri</vt:lpstr>
      <vt:lpstr>Calibri Light</vt:lpstr>
      <vt:lpstr>Office Theme</vt:lpstr>
      <vt:lpstr>Broadcasting, Multicasting and Geo-casting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Broadcasting, Multicasting and Geocasting</dc:title>
  <dc:creator>Revathi B.</dc:creator>
  <cp:lastModifiedBy>Revathi B.</cp:lastModifiedBy>
  <cp:revision>6</cp:revision>
  <dcterms:created xsi:type="dcterms:W3CDTF">2025-01-29T04:37:18Z</dcterms:created>
  <dcterms:modified xsi:type="dcterms:W3CDTF">2025-02-22T06:58:12Z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0x01010017CA6950343A9E4AAB1B5B319BC575B5</vt:lpwstr>
  </property>
</Properties>
</file>